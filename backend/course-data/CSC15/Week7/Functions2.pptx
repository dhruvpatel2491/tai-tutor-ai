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4"/>
  </p:notesMasterIdLst>
  <p:handoutMasterIdLst>
    <p:handoutMasterId r:id="rId15"/>
  </p:handoutMasterIdLst>
  <p:sldIdLst>
    <p:sldId id="292" r:id="rId2"/>
    <p:sldId id="293" r:id="rId3"/>
    <p:sldId id="283" r:id="rId4"/>
    <p:sldId id="281" r:id="rId5"/>
    <p:sldId id="285" r:id="rId6"/>
    <p:sldId id="286" r:id="rId7"/>
    <p:sldId id="294" r:id="rId8"/>
    <p:sldId id="284" r:id="rId9"/>
    <p:sldId id="287" r:id="rId10"/>
    <p:sldId id="289" r:id="rId11"/>
    <p:sldId id="288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60"/>
    <p:restoredTop sz="94382"/>
  </p:normalViewPr>
  <p:slideViewPr>
    <p:cSldViewPr>
      <p:cViewPr>
        <p:scale>
          <a:sx n="154" d="100"/>
          <a:sy n="154" d="100"/>
        </p:scale>
        <p:origin x="672" y="-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0BC-3337-4FCE-8027-D96ECC97C02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DA109-1DBB-40E5-BEDF-765EEB6EC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7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0C97E7-C10B-4817-B91A-A472979793D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66CE8-2358-412E-A9B0-307808761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6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6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88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3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439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8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63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7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2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6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7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1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2650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40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983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70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722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80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1AFB8E7-7531-4A7D-B046-8B1024D46A9A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758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global-local-variables-python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212DF1-6A7C-A246-9122-5576C04B8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533400"/>
            <a:ext cx="7315200" cy="3124201"/>
          </a:xfrm>
        </p:spPr>
        <p:txBody>
          <a:bodyPr/>
          <a:lstStyle/>
          <a:p>
            <a:r>
              <a:rPr lang="en-US" dirty="0"/>
              <a:t>Week 7 – </a:t>
            </a:r>
            <a:r>
              <a:rPr lang="en-US"/>
              <a:t>Functions </a:t>
            </a:r>
            <a:br>
              <a:rPr lang="en-US"/>
            </a:br>
            <a:r>
              <a:rPr lang="en-US"/>
              <a:t>					  Part 2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B3CD2B5-B724-685B-3E7D-31414765D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2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5FD8A1-48CE-FE05-8614-367A65290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6554867" cy="15240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9A0421-0F12-51FC-CBE7-2C5878CFD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89254"/>
            <a:ext cx="7911947" cy="3276600"/>
          </a:xfrm>
        </p:spPr>
        <p:txBody>
          <a:bodyPr/>
          <a:lstStyle/>
          <a:p>
            <a:r>
              <a:rPr lang="en-US" dirty="0"/>
              <a:t>What is the scope of a variable?</a:t>
            </a:r>
          </a:p>
          <a:p>
            <a:r>
              <a:rPr lang="en-US" dirty="0"/>
              <a:t>What are local variables?</a:t>
            </a:r>
          </a:p>
          <a:p>
            <a:r>
              <a:rPr lang="en-US" dirty="0"/>
              <a:t>What is a global variables? </a:t>
            </a:r>
          </a:p>
          <a:p>
            <a:r>
              <a:rPr lang="en-US" dirty="0"/>
              <a:t>When to use or not to use a global variable</a:t>
            </a:r>
          </a:p>
          <a:p>
            <a:r>
              <a:rPr lang="en-US" dirty="0"/>
              <a:t>Pass by value immutable parameters to a function. </a:t>
            </a:r>
          </a:p>
          <a:p>
            <a:r>
              <a:rPr lang="en-US" dirty="0"/>
              <a:t>Pass by reference mutable parameters to a function.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01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3500"/>
            <a:ext cx="8229600" cy="1295400"/>
          </a:xfrm>
        </p:spPr>
        <p:txBody>
          <a:bodyPr/>
          <a:lstStyle/>
          <a:p>
            <a:r>
              <a:rPr lang="en-US" b="1" dirty="0"/>
              <a:t>Local Variables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289050"/>
            <a:ext cx="4406900" cy="24003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2200" b="1" dirty="0">
                <a:solidFill>
                  <a:srgbClr val="FF0000"/>
                </a:solidFill>
              </a:rPr>
              <a:t>Variables inside a function</a:t>
            </a:r>
            <a:r>
              <a:rPr lang="en-US" sz="2200" dirty="0"/>
              <a:t>: </a:t>
            </a:r>
          </a:p>
          <a:p>
            <a:pPr lvl="1"/>
            <a:r>
              <a:rPr lang="en-US" sz="2200" dirty="0"/>
              <a:t>Input parameters. </a:t>
            </a:r>
          </a:p>
          <a:p>
            <a:pPr lvl="1"/>
            <a:r>
              <a:rPr lang="en-US" sz="2200" dirty="0"/>
              <a:t>Variables defined inside a function. </a:t>
            </a:r>
          </a:p>
          <a:p>
            <a:pPr lvl="1"/>
            <a:endParaRPr lang="en-US" dirty="0"/>
          </a:p>
        </p:txBody>
      </p:sp>
      <p:sp>
        <p:nvSpPr>
          <p:cNvPr id="15" name="Content Placeholder 3"/>
          <p:cNvSpPr txBox="1">
            <a:spLocks/>
          </p:cNvSpPr>
          <p:nvPr/>
        </p:nvSpPr>
        <p:spPr>
          <a:xfrm>
            <a:off x="374650" y="3522656"/>
            <a:ext cx="8318500" cy="1831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285750" lvl="1"/>
            <a:r>
              <a:rPr lang="en-US" sz="2200" b="1" dirty="0">
                <a:solidFill>
                  <a:srgbClr val="FF0000"/>
                </a:solidFill>
              </a:rPr>
              <a:t>Local variables:</a:t>
            </a:r>
          </a:p>
          <a:p>
            <a:pPr marL="742950" lvl="2"/>
            <a:r>
              <a:rPr lang="en-US" sz="2000" dirty="0"/>
              <a:t>Can be used only inside the function</a:t>
            </a:r>
          </a:p>
          <a:p>
            <a:pPr marL="742950" lvl="2"/>
            <a:r>
              <a:rPr lang="en-US" sz="2000" dirty="0"/>
              <a:t>Are only known inside the function. </a:t>
            </a:r>
          </a:p>
          <a:p>
            <a:pPr marL="285750" lvl="1"/>
            <a:endParaRPr lang="en-US" sz="2200" dirty="0"/>
          </a:p>
          <a:p>
            <a:pPr lvl="1"/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68350" y="2187574"/>
            <a:ext cx="2432050" cy="327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300" y="1752599"/>
            <a:ext cx="3784600" cy="1524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900" y="3390900"/>
            <a:ext cx="63500" cy="63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24600" y="1733549"/>
            <a:ext cx="1758950" cy="317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638800" y="2232025"/>
            <a:ext cx="342900" cy="25717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91531" y="2691074"/>
            <a:ext cx="3708400" cy="676275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054725" y="2489200"/>
            <a:ext cx="342900" cy="25717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8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25400"/>
            <a:ext cx="8229600" cy="1295400"/>
          </a:xfrm>
        </p:spPr>
        <p:txBody>
          <a:bodyPr/>
          <a:lstStyle/>
          <a:p>
            <a:r>
              <a:rPr lang="en-US" b="1" dirty="0"/>
              <a:t>Global Variables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219200"/>
            <a:ext cx="4876800" cy="3188070"/>
          </a:xfrm>
        </p:spPr>
      </p:pic>
      <p:sp>
        <p:nvSpPr>
          <p:cNvPr id="7" name="TextBox 6"/>
          <p:cNvSpPr txBox="1"/>
          <p:nvPr/>
        </p:nvSpPr>
        <p:spPr>
          <a:xfrm>
            <a:off x="4406900" y="1631950"/>
            <a:ext cx="1828800" cy="419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44450" y="803275"/>
            <a:ext cx="4406900" cy="4121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sz="2200" dirty="0"/>
              <a:t>Variables defined outside any function.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Global variables:</a:t>
            </a:r>
          </a:p>
          <a:p>
            <a:r>
              <a:rPr lang="en-US" dirty="0"/>
              <a:t>Are known everywhere: inside and outside any function. </a:t>
            </a:r>
          </a:p>
          <a:p>
            <a:r>
              <a:rPr lang="en-US" dirty="0"/>
              <a:t>Can be accessed anywhere.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724025"/>
            <a:ext cx="3657600" cy="7493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4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25400"/>
            <a:ext cx="8229600" cy="1295400"/>
          </a:xfrm>
        </p:spPr>
        <p:txBody>
          <a:bodyPr/>
          <a:lstStyle/>
          <a:p>
            <a:r>
              <a:rPr lang="en-US" b="1" dirty="0"/>
              <a:t>Global vs. Local Variables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46EA10-3A31-2515-7729-8E85AED22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738111"/>
            <a:ext cx="7924800" cy="1828800"/>
          </a:xfrm>
        </p:spPr>
        <p:txBody>
          <a:bodyPr/>
          <a:lstStyle/>
          <a:p>
            <a:r>
              <a:rPr lang="en-US" dirty="0"/>
              <a:t>More examples at </a:t>
            </a:r>
            <a:r>
              <a:rPr lang="en-US" dirty="0">
                <a:hlinkClick r:id="rId2"/>
              </a:rPr>
              <a:t>https://www.geeksforgeeks.org/global-local-variables-python/</a:t>
            </a:r>
            <a:r>
              <a:rPr lang="en-US" dirty="0"/>
              <a:t> </a:t>
            </a:r>
          </a:p>
          <a:p>
            <a:r>
              <a:rPr lang="en-US" dirty="0"/>
              <a:t>The word </a:t>
            </a:r>
            <a:r>
              <a:rPr lang="en-US" b="1" dirty="0">
                <a:solidFill>
                  <a:srgbClr val="FFC000"/>
                </a:solidFill>
              </a:rPr>
              <a:t>global inside a function </a:t>
            </a:r>
            <a:r>
              <a:rPr lang="en-US" dirty="0"/>
              <a:t>– use it only if you want to change the value of a global variable.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24A71-41EE-FFB6-E84C-39A1B0B2A882}"/>
              </a:ext>
            </a:extLst>
          </p:cNvPr>
          <p:cNvSpPr txBox="1"/>
          <p:nvPr/>
        </p:nvSpPr>
        <p:spPr>
          <a:xfrm>
            <a:off x="304800" y="2545140"/>
            <a:ext cx="37338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10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20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‘main’: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77B6E-FFC7-8F78-C9EE-03F291BD2A1D}"/>
              </a:ext>
            </a:extLst>
          </p:cNvPr>
          <p:cNvSpPr txBox="1"/>
          <p:nvPr/>
        </p:nvSpPr>
        <p:spPr>
          <a:xfrm>
            <a:off x="4561114" y="2566911"/>
            <a:ext cx="41148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10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‘main’: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4175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25400"/>
            <a:ext cx="8229600" cy="1295400"/>
          </a:xfrm>
        </p:spPr>
        <p:txBody>
          <a:bodyPr/>
          <a:lstStyle/>
          <a:p>
            <a:r>
              <a:rPr lang="en-US" dirty="0"/>
              <a:t>Global vs. Local Variables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46EA10-3A31-2515-7729-8E85AED22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682625"/>
            <a:ext cx="7924800" cy="1828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24A71-41EE-FFB6-E84C-39A1B0B2A882}"/>
              </a:ext>
            </a:extLst>
          </p:cNvPr>
          <p:cNvSpPr txBox="1"/>
          <p:nvPr/>
        </p:nvSpPr>
        <p:spPr>
          <a:xfrm>
            <a:off x="206829" y="2511425"/>
            <a:ext cx="37338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10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20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‘main’: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77B6E-FFC7-8F78-C9EE-03F291BD2A1D}"/>
              </a:ext>
            </a:extLst>
          </p:cNvPr>
          <p:cNvSpPr txBox="1"/>
          <p:nvPr/>
        </p:nvSpPr>
        <p:spPr>
          <a:xfrm>
            <a:off x="4561114" y="2566911"/>
            <a:ext cx="41148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10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20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‘main’: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0E363F-62D1-25E9-6ABC-3F6051E6BFC4}"/>
              </a:ext>
            </a:extLst>
          </p:cNvPr>
          <p:cNvSpPr txBox="1"/>
          <p:nvPr/>
        </p:nvSpPr>
        <p:spPr>
          <a:xfrm>
            <a:off x="1295400" y="5771546"/>
            <a:ext cx="609600" cy="92333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  <a:p>
            <a:r>
              <a:rPr lang="en-US" dirty="0"/>
              <a:t>20</a:t>
            </a:r>
          </a:p>
          <a:p>
            <a:r>
              <a:rPr lang="en-US" dirty="0"/>
              <a:t>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CFFDE0-82D2-6C0D-AF40-9593E0AC8591}"/>
              </a:ext>
            </a:extLst>
          </p:cNvPr>
          <p:cNvSpPr txBox="1"/>
          <p:nvPr/>
        </p:nvSpPr>
        <p:spPr>
          <a:xfrm>
            <a:off x="5867400" y="5830019"/>
            <a:ext cx="609600" cy="92333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  <a:p>
            <a:r>
              <a:rPr lang="en-US" dirty="0"/>
              <a:t>20</a:t>
            </a:r>
          </a:p>
          <a:p>
            <a:r>
              <a:rPr lang="en-US" dirty="0"/>
              <a:t>10</a:t>
            </a:r>
          </a:p>
        </p:txBody>
      </p:sp>
      <p:sp>
        <p:nvSpPr>
          <p:cNvPr id="6" name="Line Callout 1 5">
            <a:extLst>
              <a:ext uri="{FF2B5EF4-FFF2-40B4-BE49-F238E27FC236}">
                <a16:creationId xmlns:a16="http://schemas.microsoft.com/office/drawing/2014/main" id="{28D42663-D537-2AF1-1ED3-03BAFCBE3449}"/>
              </a:ext>
            </a:extLst>
          </p:cNvPr>
          <p:cNvSpPr/>
          <p:nvPr/>
        </p:nvSpPr>
        <p:spPr>
          <a:xfrm>
            <a:off x="3004457" y="5830019"/>
            <a:ext cx="2525486" cy="251429"/>
          </a:xfrm>
          <a:prstGeom prst="borderCallout1">
            <a:avLst>
              <a:gd name="adj1" fmla="val 18750"/>
              <a:gd name="adj2" fmla="val -8333"/>
              <a:gd name="adj3" fmla="val 53571"/>
              <a:gd name="adj4" fmla="val -430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Before function call</a:t>
            </a:r>
          </a:p>
        </p:txBody>
      </p:sp>
      <p:sp>
        <p:nvSpPr>
          <p:cNvPr id="7" name="Line Callout 1 6">
            <a:extLst>
              <a:ext uri="{FF2B5EF4-FFF2-40B4-BE49-F238E27FC236}">
                <a16:creationId xmlns:a16="http://schemas.microsoft.com/office/drawing/2014/main" id="{DED0177E-253E-70EB-94F9-C839AC650628}"/>
              </a:ext>
            </a:extLst>
          </p:cNvPr>
          <p:cNvSpPr/>
          <p:nvPr/>
        </p:nvSpPr>
        <p:spPr>
          <a:xfrm>
            <a:off x="3004457" y="6205235"/>
            <a:ext cx="2525486" cy="251429"/>
          </a:xfrm>
          <a:prstGeom prst="borderCallout1">
            <a:avLst>
              <a:gd name="adj1" fmla="val 18750"/>
              <a:gd name="adj2" fmla="val -8333"/>
              <a:gd name="adj3" fmla="val 23264"/>
              <a:gd name="adj4" fmla="val -422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Inside function</a:t>
            </a:r>
          </a:p>
        </p:txBody>
      </p:sp>
      <p:sp>
        <p:nvSpPr>
          <p:cNvPr id="8" name="Line Callout 1 7">
            <a:extLst>
              <a:ext uri="{FF2B5EF4-FFF2-40B4-BE49-F238E27FC236}">
                <a16:creationId xmlns:a16="http://schemas.microsoft.com/office/drawing/2014/main" id="{A1C15EB1-8A61-14A9-F0C4-958E44B15542}"/>
              </a:ext>
            </a:extLst>
          </p:cNvPr>
          <p:cNvSpPr/>
          <p:nvPr/>
        </p:nvSpPr>
        <p:spPr>
          <a:xfrm>
            <a:off x="3026228" y="6569161"/>
            <a:ext cx="2525486" cy="251429"/>
          </a:xfrm>
          <a:prstGeom prst="borderCallout1">
            <a:avLst>
              <a:gd name="adj1" fmla="val 18750"/>
              <a:gd name="adj2" fmla="val -8333"/>
              <a:gd name="adj3" fmla="val -11373"/>
              <a:gd name="adj4" fmla="val -439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function call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3D8C425D-A500-218F-2C0D-6D9BBBC8A432}"/>
              </a:ext>
            </a:extLst>
          </p:cNvPr>
          <p:cNvSpPr/>
          <p:nvPr/>
        </p:nvSpPr>
        <p:spPr>
          <a:xfrm>
            <a:off x="6074229" y="967012"/>
            <a:ext cx="3069771" cy="736970"/>
          </a:xfrm>
          <a:prstGeom prst="wedgeRoundRectCallout">
            <a:avLst>
              <a:gd name="adj1" fmla="val -40594"/>
              <a:gd name="adj2" fmla="val 299589"/>
              <a:gd name="adj3" fmla="val 16667"/>
            </a:avLst>
          </a:prstGeom>
          <a:solidFill>
            <a:schemeClr val="accent4">
              <a:lumMod val="60000"/>
              <a:lumOff val="40000"/>
              <a:alpha val="2901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rgbClr val="FFFF00"/>
                </a:solidFill>
              </a:rPr>
              <a:t>my_value</a:t>
            </a:r>
            <a:r>
              <a:rPr lang="en-US" b="1" dirty="0">
                <a:solidFill>
                  <a:srgbClr val="FFFF00"/>
                </a:solidFill>
              </a:rPr>
              <a:t> is a local variable with same name as global variable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B6E33CC0-0A53-F6B9-1CF4-6CFEE0E87644}"/>
              </a:ext>
            </a:extLst>
          </p:cNvPr>
          <p:cNvSpPr/>
          <p:nvPr/>
        </p:nvSpPr>
        <p:spPr>
          <a:xfrm>
            <a:off x="1828800" y="967012"/>
            <a:ext cx="3069771" cy="736970"/>
          </a:xfrm>
          <a:prstGeom prst="wedgeRoundRectCallout">
            <a:avLst>
              <a:gd name="adj1" fmla="val -47331"/>
              <a:gd name="adj2" fmla="val 304021"/>
              <a:gd name="adj3" fmla="val 16667"/>
            </a:avLst>
          </a:prstGeom>
          <a:solidFill>
            <a:schemeClr val="accent4">
              <a:lumMod val="60000"/>
              <a:lumOff val="40000"/>
              <a:alpha val="2901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rgbClr val="FFFF00"/>
                </a:solidFill>
              </a:rPr>
              <a:t>my_value</a:t>
            </a:r>
            <a:r>
              <a:rPr lang="en-US" b="1" dirty="0">
                <a:solidFill>
                  <a:srgbClr val="FFFF00"/>
                </a:solidFill>
              </a:rPr>
              <a:t> is the global variable</a:t>
            </a:r>
          </a:p>
        </p:txBody>
      </p:sp>
    </p:spTree>
    <p:extLst>
      <p:ext uri="{BB962C8B-B14F-4D97-AF65-F5344CB8AC3E}">
        <p14:creationId xmlns:p14="http://schemas.microsoft.com/office/powerpoint/2010/main" val="345339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528D-24D2-9F1A-0E0C-F0F688E21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76200"/>
            <a:ext cx="8382003" cy="1524000"/>
          </a:xfrm>
        </p:spPr>
        <p:txBody>
          <a:bodyPr/>
          <a:lstStyle/>
          <a:p>
            <a:r>
              <a:rPr lang="en-US" dirty="0"/>
              <a:t>When to use or not global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AA079-976D-21E8-0366-CBA5A2500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752600"/>
            <a:ext cx="7315200" cy="13716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Use global variables only for data that does not change during the program’s execution </a:t>
            </a:r>
          </a:p>
          <a:p>
            <a:endParaRPr lang="en-US" dirty="0"/>
          </a:p>
          <a:p>
            <a:r>
              <a:rPr lang="en-US" dirty="0"/>
              <a:t>Ex: </a:t>
            </a:r>
            <a:r>
              <a:rPr lang="en-US" dirty="0" err="1"/>
              <a:t>max_size_class</a:t>
            </a:r>
            <a:r>
              <a:rPr lang="en-US" dirty="0"/>
              <a:t>, pi, etc. </a:t>
            </a:r>
          </a:p>
        </p:txBody>
      </p:sp>
    </p:spTree>
    <p:extLst>
      <p:ext uri="{BB962C8B-B14F-4D97-AF65-F5344CB8AC3E}">
        <p14:creationId xmlns:p14="http://schemas.microsoft.com/office/powerpoint/2010/main" val="5945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3500"/>
            <a:ext cx="8229600" cy="1295400"/>
          </a:xfrm>
        </p:spPr>
        <p:txBody>
          <a:bodyPr/>
          <a:lstStyle/>
          <a:p>
            <a:r>
              <a:rPr lang="en-US" b="1" dirty="0"/>
              <a:t>Input </a:t>
            </a:r>
            <a:r>
              <a:rPr lang="en-US" b="1" dirty="0" err="1"/>
              <a:t>pARAMETERS</a:t>
            </a:r>
            <a:r>
              <a:rPr lang="en-US" b="1" dirty="0"/>
              <a:t> in </a:t>
            </a:r>
            <a:r>
              <a:rPr lang="en-US" b="1" dirty="0" err="1"/>
              <a:t>PYTHOn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93700" y="1358900"/>
            <a:ext cx="8356600" cy="4648200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Immutable object types</a:t>
            </a:r>
            <a:r>
              <a:rPr lang="en-US" sz="2200" b="1" dirty="0"/>
              <a:t>: </a:t>
            </a:r>
          </a:p>
          <a:p>
            <a:pPr lvl="1"/>
            <a:r>
              <a:rPr lang="en-US" sz="2000" b="1" dirty="0">
                <a:solidFill>
                  <a:srgbClr val="FFFF00"/>
                </a:solidFill>
              </a:rPr>
              <a:t>Int, float, bool, string, tuples</a:t>
            </a:r>
          </a:p>
          <a:p>
            <a:pPr lvl="1"/>
            <a:r>
              <a:rPr lang="en-US" sz="2000" dirty="0"/>
              <a:t>The function gets </a:t>
            </a:r>
            <a:r>
              <a:rPr lang="en-US" sz="2000" b="1" dirty="0"/>
              <a:t>a copy of their value (passing by value)</a:t>
            </a:r>
          </a:p>
          <a:p>
            <a:pPr lvl="1"/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Changes done inside a function remain local to the function</a:t>
            </a:r>
          </a:p>
          <a:p>
            <a:r>
              <a:rPr lang="en-US" sz="2200" b="1" dirty="0">
                <a:solidFill>
                  <a:srgbClr val="FF0000"/>
                </a:solidFill>
              </a:rPr>
              <a:t>Mutable object types:</a:t>
            </a:r>
          </a:p>
          <a:p>
            <a:pPr lvl="1"/>
            <a:r>
              <a:rPr lang="en-US" sz="2000" b="1" dirty="0">
                <a:solidFill>
                  <a:srgbClr val="FFFF00"/>
                </a:solidFill>
              </a:rPr>
              <a:t>List, dictionaries, sets</a:t>
            </a:r>
          </a:p>
          <a:p>
            <a:pPr lvl="1"/>
            <a:r>
              <a:rPr lang="en-US" sz="2000" dirty="0"/>
              <a:t>Pass to the function </a:t>
            </a:r>
            <a:r>
              <a:rPr lang="en-US" sz="2000" b="1" dirty="0"/>
              <a:t>a reference to the object (pass by reference)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Changes done inside a function change the ‘original’ objects. </a:t>
            </a:r>
          </a:p>
        </p:txBody>
      </p:sp>
    </p:spTree>
    <p:extLst>
      <p:ext uri="{BB962C8B-B14F-4D97-AF65-F5344CB8AC3E}">
        <p14:creationId xmlns:p14="http://schemas.microsoft.com/office/powerpoint/2010/main" val="2110038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25400"/>
            <a:ext cx="8229600" cy="1295400"/>
          </a:xfrm>
        </p:spPr>
        <p:txBody>
          <a:bodyPr/>
          <a:lstStyle/>
          <a:p>
            <a:r>
              <a:rPr lang="en-US" b="1" dirty="0" err="1"/>
              <a:t>ImMutable</a:t>
            </a:r>
            <a:r>
              <a:rPr lang="en-US" b="1" dirty="0"/>
              <a:t> Parameters: Pass by 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24A71-41EE-FFB6-E84C-39A1B0B2A882}"/>
              </a:ext>
            </a:extLst>
          </p:cNvPr>
          <p:cNvSpPr txBox="1"/>
          <p:nvPr/>
        </p:nvSpPr>
        <p:spPr>
          <a:xfrm>
            <a:off x="1420585" y="1483762"/>
            <a:ext cx="6302830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i_local,j_local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temp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i_local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j_local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temp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'__main__':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3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print('Before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call',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i_main,j_main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print('After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call',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</a:p>
        </p:txBody>
      </p:sp>
    </p:spTree>
    <p:extLst>
      <p:ext uri="{BB962C8B-B14F-4D97-AF65-F5344CB8AC3E}">
        <p14:creationId xmlns:p14="http://schemas.microsoft.com/office/powerpoint/2010/main" val="3177826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25400"/>
            <a:ext cx="8991600" cy="1295400"/>
          </a:xfrm>
        </p:spPr>
        <p:txBody>
          <a:bodyPr/>
          <a:lstStyle/>
          <a:p>
            <a:r>
              <a:rPr lang="en-US" b="1" dirty="0" err="1"/>
              <a:t>IMMutable</a:t>
            </a:r>
            <a:r>
              <a:rPr lang="en-US" b="1" dirty="0"/>
              <a:t> Parameters: Pass by 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24A71-41EE-FFB6-E84C-39A1B0B2A882}"/>
              </a:ext>
            </a:extLst>
          </p:cNvPr>
          <p:cNvSpPr txBox="1"/>
          <p:nvPr/>
        </p:nvSpPr>
        <p:spPr>
          <a:xfrm>
            <a:off x="1524000" y="1143000"/>
            <a:ext cx="6302830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i_local,j_local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temp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i_local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j_local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temp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print(“Inside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’,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i_local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j_local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'__main__':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3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print('Before </a:t>
            </a:r>
            <a:r>
              <a:rPr lang="en-US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call', </a:t>
            </a:r>
            <a:r>
              <a:rPr lang="en-US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i_main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j_main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i_main,j_main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print('After </a:t>
            </a:r>
            <a:r>
              <a:rPr lang="en-US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call', </a:t>
            </a:r>
            <a:r>
              <a:rPr lang="en-US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i_main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j_main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D2497-F5CE-E70D-7DC5-B56D0487F1FB}"/>
              </a:ext>
            </a:extLst>
          </p:cNvPr>
          <p:cNvSpPr txBox="1"/>
          <p:nvPr/>
        </p:nvSpPr>
        <p:spPr>
          <a:xfrm>
            <a:off x="1524000" y="5196559"/>
            <a:ext cx="2895600" cy="92333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Before </a:t>
            </a:r>
            <a:r>
              <a:rPr lang="en-US" b="1" dirty="0" err="1">
                <a:solidFill>
                  <a:srgbClr val="FFC000"/>
                </a:solidFill>
              </a:rPr>
              <a:t>fct</a:t>
            </a:r>
            <a:r>
              <a:rPr lang="en-US" b="1" dirty="0">
                <a:solidFill>
                  <a:srgbClr val="FFC000"/>
                </a:solidFill>
              </a:rPr>
              <a:t> call 5, 3</a:t>
            </a:r>
          </a:p>
          <a:p>
            <a:r>
              <a:rPr lang="en-US" b="1" dirty="0">
                <a:solidFill>
                  <a:srgbClr val="FF0000"/>
                </a:solidFill>
              </a:rPr>
              <a:t>Inside </a:t>
            </a:r>
            <a:r>
              <a:rPr lang="en-US" b="1" dirty="0" err="1">
                <a:solidFill>
                  <a:srgbClr val="FF0000"/>
                </a:solidFill>
              </a:rPr>
              <a:t>fct</a:t>
            </a:r>
            <a:r>
              <a:rPr lang="en-US" b="1" dirty="0">
                <a:solidFill>
                  <a:srgbClr val="FF0000"/>
                </a:solidFill>
              </a:rPr>
              <a:t> 3,5</a:t>
            </a:r>
          </a:p>
          <a:p>
            <a:r>
              <a:rPr lang="en-US" b="1" dirty="0">
                <a:solidFill>
                  <a:srgbClr val="FFFF00"/>
                </a:solidFill>
              </a:rPr>
              <a:t>After </a:t>
            </a:r>
            <a:r>
              <a:rPr lang="en-US" b="1" dirty="0" err="1">
                <a:solidFill>
                  <a:srgbClr val="FFFF00"/>
                </a:solidFill>
              </a:rPr>
              <a:t>fct</a:t>
            </a:r>
            <a:r>
              <a:rPr lang="en-US" b="1" dirty="0">
                <a:solidFill>
                  <a:srgbClr val="FFFF00"/>
                </a:solidFill>
              </a:rPr>
              <a:t> call 5, 3</a:t>
            </a:r>
          </a:p>
        </p:txBody>
      </p:sp>
    </p:spTree>
    <p:extLst>
      <p:ext uri="{BB962C8B-B14F-4D97-AF65-F5344CB8AC3E}">
        <p14:creationId xmlns:p14="http://schemas.microsoft.com/office/powerpoint/2010/main" val="1593828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25400"/>
            <a:ext cx="8839200" cy="1295400"/>
          </a:xfrm>
        </p:spPr>
        <p:txBody>
          <a:bodyPr/>
          <a:lstStyle/>
          <a:p>
            <a:r>
              <a:rPr lang="en-US" b="1" dirty="0"/>
              <a:t>Mutable Parameters: pass by 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24A71-41EE-FFB6-E84C-39A1B0B2A882}"/>
              </a:ext>
            </a:extLst>
          </p:cNvPr>
          <p:cNvSpPr txBox="1"/>
          <p:nvPr/>
        </p:nvSpPr>
        <p:spPr>
          <a:xfrm>
            <a:off x="457200" y="1652511"/>
            <a:ext cx="8534400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print("\t Inside f(): id(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= ", id(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[0] = 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tInside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:',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lst_local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'__main__':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[1,2,3]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print('Before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call',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# function call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print('After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call',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lst_main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24107-B93F-1FDB-15E5-9658F9134221}"/>
              </a:ext>
            </a:extLst>
          </p:cNvPr>
          <p:cNvSpPr txBox="1"/>
          <p:nvPr/>
        </p:nvSpPr>
        <p:spPr>
          <a:xfrm>
            <a:off x="3124200" y="5029200"/>
            <a:ext cx="2895600" cy="92333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Before </a:t>
            </a:r>
            <a:r>
              <a:rPr lang="en-US" b="1" dirty="0" err="1">
                <a:solidFill>
                  <a:srgbClr val="FFC000"/>
                </a:solidFill>
              </a:rPr>
              <a:t>fct</a:t>
            </a:r>
            <a:r>
              <a:rPr lang="en-US" b="1" dirty="0">
                <a:solidFill>
                  <a:srgbClr val="FFC000"/>
                </a:solidFill>
              </a:rPr>
              <a:t> call [1,2,3]</a:t>
            </a:r>
          </a:p>
          <a:p>
            <a:r>
              <a:rPr lang="en-US" b="1" dirty="0">
                <a:solidFill>
                  <a:srgbClr val="FF0000"/>
                </a:solidFill>
              </a:rPr>
              <a:t>Inside </a:t>
            </a:r>
            <a:r>
              <a:rPr lang="en-US" b="1" dirty="0" err="1">
                <a:solidFill>
                  <a:srgbClr val="FF0000"/>
                </a:solidFill>
              </a:rPr>
              <a:t>fct</a:t>
            </a:r>
            <a:r>
              <a:rPr lang="en-US" b="1" dirty="0">
                <a:solidFill>
                  <a:srgbClr val="FF0000"/>
                </a:solidFill>
              </a:rPr>
              <a:t> [2,2,3</a:t>
            </a:r>
          </a:p>
          <a:p>
            <a:r>
              <a:rPr lang="en-US" b="1" dirty="0">
                <a:solidFill>
                  <a:srgbClr val="FFFF00"/>
                </a:solidFill>
              </a:rPr>
              <a:t>After </a:t>
            </a:r>
            <a:r>
              <a:rPr lang="en-US" b="1" dirty="0" err="1">
                <a:solidFill>
                  <a:srgbClr val="FFFF00"/>
                </a:solidFill>
              </a:rPr>
              <a:t>fct</a:t>
            </a:r>
            <a:r>
              <a:rPr lang="en-US" b="1" dirty="0">
                <a:solidFill>
                  <a:srgbClr val="FFFF00"/>
                </a:solidFill>
              </a:rPr>
              <a:t> call [2,2,3]</a:t>
            </a:r>
          </a:p>
        </p:txBody>
      </p:sp>
    </p:spTree>
    <p:extLst>
      <p:ext uri="{BB962C8B-B14F-4D97-AF65-F5344CB8AC3E}">
        <p14:creationId xmlns:p14="http://schemas.microsoft.com/office/powerpoint/2010/main" val="3537893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3500"/>
            <a:ext cx="8229600" cy="1295400"/>
          </a:xfrm>
        </p:spPr>
        <p:txBody>
          <a:bodyPr/>
          <a:lstStyle/>
          <a:p>
            <a:r>
              <a:rPr lang="en-US" b="1" dirty="0"/>
              <a:t>Good functions to Know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15686" y="1752600"/>
            <a:ext cx="8356600" cy="2057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l</a:t>
            </a:r>
            <a:r>
              <a:rPr lang="en-US" sz="2000" b="1" dirty="0">
                <a:solidFill>
                  <a:srgbClr val="FFFF00"/>
                </a:solidFill>
              </a:rPr>
              <a:t>ocals()</a:t>
            </a:r>
            <a:r>
              <a:rPr lang="en-US" sz="2000" dirty="0"/>
              <a:t> – shows all local variables in a block of code</a:t>
            </a:r>
          </a:p>
          <a:p>
            <a:r>
              <a:rPr lang="en-US" b="1" dirty="0" err="1">
                <a:solidFill>
                  <a:srgbClr val="FFFF00"/>
                </a:solidFill>
              </a:rPr>
              <a:t>globals</a:t>
            </a:r>
            <a:r>
              <a:rPr lang="en-US" b="1" dirty="0">
                <a:solidFill>
                  <a:srgbClr val="FFFF00"/>
                </a:solidFill>
              </a:rPr>
              <a:t>() </a:t>
            </a:r>
            <a:r>
              <a:rPr lang="en-US" dirty="0"/>
              <a:t>– shows all global variables in a block of code</a:t>
            </a:r>
          </a:p>
          <a:p>
            <a:r>
              <a:rPr lang="en-US" sz="2000" b="1" dirty="0">
                <a:solidFill>
                  <a:srgbClr val="FFFF00"/>
                </a:solidFill>
              </a:rPr>
              <a:t>id(</a:t>
            </a:r>
            <a:r>
              <a:rPr lang="en-US" sz="2000" b="1" dirty="0" err="1">
                <a:solidFill>
                  <a:srgbClr val="FFFF00"/>
                </a:solidFill>
              </a:rPr>
              <a:t>var_name</a:t>
            </a:r>
            <a:r>
              <a:rPr lang="en-US" sz="2000" b="1" dirty="0">
                <a:solidFill>
                  <a:srgbClr val="FFFF00"/>
                </a:solidFill>
              </a:rPr>
              <a:t>) </a:t>
            </a:r>
            <a:r>
              <a:rPr lang="en-US" sz="2000" dirty="0"/>
              <a:t>= the id of an object with </a:t>
            </a:r>
            <a:r>
              <a:rPr lang="en-US" sz="2000" dirty="0" err="1"/>
              <a:t>var_name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9117865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74131</TotalTime>
  <Words>903</Words>
  <Application>Microsoft Macintosh PowerPoint</Application>
  <PresentationFormat>On-screen Show (4:3)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Century Gothic</vt:lpstr>
      <vt:lpstr>Courier New</vt:lpstr>
      <vt:lpstr>Wingdings 3</vt:lpstr>
      <vt:lpstr>Slice</vt:lpstr>
      <vt:lpstr>Week 7 – Functions         Part 2</vt:lpstr>
      <vt:lpstr>Outline</vt:lpstr>
      <vt:lpstr>Local Variables  </vt:lpstr>
      <vt:lpstr>Global Variables </vt:lpstr>
      <vt:lpstr>Global vs. Local Variables </vt:lpstr>
      <vt:lpstr>Global vs. Local Variables </vt:lpstr>
      <vt:lpstr>When to use or not global variables</vt:lpstr>
      <vt:lpstr>Input pARAMETERS in PYTHOn</vt:lpstr>
      <vt:lpstr>ImMutable Parameters: Pass by value</vt:lpstr>
      <vt:lpstr>IMMutable Parameters: Pass by value</vt:lpstr>
      <vt:lpstr>Mutable Parameters: pass by reference</vt:lpstr>
      <vt:lpstr>Good functions to Know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dc:creator>simona</dc:creator>
  <cp:lastModifiedBy>Simona Doboli</cp:lastModifiedBy>
  <cp:revision>87</cp:revision>
  <cp:lastPrinted>2025-10-13T18:27:48Z</cp:lastPrinted>
  <dcterms:created xsi:type="dcterms:W3CDTF">2014-09-11T16:46:45Z</dcterms:created>
  <dcterms:modified xsi:type="dcterms:W3CDTF">2025-10-15T17:16:57Z</dcterms:modified>
</cp:coreProperties>
</file>