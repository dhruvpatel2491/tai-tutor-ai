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1"/>
  </p:notesMasterIdLst>
  <p:handoutMasterIdLst>
    <p:handoutMasterId r:id="rId22"/>
  </p:handoutMasterIdLst>
  <p:sldIdLst>
    <p:sldId id="292" r:id="rId2"/>
    <p:sldId id="293" r:id="rId3"/>
    <p:sldId id="256" r:id="rId4"/>
    <p:sldId id="298" r:id="rId5"/>
    <p:sldId id="299" r:id="rId6"/>
    <p:sldId id="261" r:id="rId7"/>
    <p:sldId id="295" r:id="rId8"/>
    <p:sldId id="296" r:id="rId9"/>
    <p:sldId id="300" r:id="rId10"/>
    <p:sldId id="302" r:id="rId11"/>
    <p:sldId id="303" r:id="rId12"/>
    <p:sldId id="269" r:id="rId13"/>
    <p:sldId id="304" r:id="rId14"/>
    <p:sldId id="305" r:id="rId15"/>
    <p:sldId id="266" r:id="rId16"/>
    <p:sldId id="276" r:id="rId17"/>
    <p:sldId id="279" r:id="rId18"/>
    <p:sldId id="277" r:id="rId19"/>
    <p:sldId id="27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07"/>
    <p:restoredTop sz="94312"/>
  </p:normalViewPr>
  <p:slideViewPr>
    <p:cSldViewPr>
      <p:cViewPr varScale="1">
        <p:scale>
          <a:sx n="116" d="100"/>
          <a:sy n="116" d="100"/>
        </p:scale>
        <p:origin x="191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0BC-3337-4FCE-8027-D96ECC97C02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DA109-1DBB-40E5-BEDF-765EEB6EC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7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C97E7-C10B-4817-B91A-A472979793D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66CE8-2358-412E-A9B0-307808761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6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6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8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3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3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8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6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7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2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7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2650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40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983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70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72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8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1AFB8E7-7531-4A7D-B046-8B1024D46A9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A74999D-89B3-45C0-B3BA-532324197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758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212DF1-6A7C-A246-9122-5576C04B8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7 – Functions</a:t>
            </a:r>
            <a:br>
              <a:rPr lang="en-US" dirty="0"/>
            </a:br>
            <a:r>
              <a:rPr lang="en-US" dirty="0"/>
              <a:t>					  Part 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B3CD2B5-B724-685B-3E7D-31414765D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2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5FD8A1-48CE-FE05-8614-367A6529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6554867" cy="15240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9A0421-0F12-51FC-CBE7-2C5878CFD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89254"/>
            <a:ext cx="7911947" cy="3276600"/>
          </a:xfrm>
        </p:spPr>
        <p:txBody>
          <a:bodyPr/>
          <a:lstStyle/>
          <a:p>
            <a:r>
              <a:rPr lang="en-US" dirty="0"/>
              <a:t>What are function?</a:t>
            </a:r>
          </a:p>
          <a:p>
            <a:r>
              <a:rPr lang="en-US" dirty="0"/>
              <a:t>What is a function definition?</a:t>
            </a:r>
          </a:p>
          <a:p>
            <a:r>
              <a:rPr lang="en-US" dirty="0"/>
              <a:t>What is a function call?</a:t>
            </a:r>
          </a:p>
          <a:p>
            <a:r>
              <a:rPr lang="en-US" dirty="0"/>
              <a:t>What is the main function?</a:t>
            </a:r>
          </a:p>
          <a:p>
            <a:r>
              <a:rPr lang="en-US" dirty="0"/>
              <a:t>Functions without input parameters</a:t>
            </a:r>
          </a:p>
          <a:p>
            <a:r>
              <a:rPr lang="en-US" dirty="0"/>
              <a:t>Functions without return </a:t>
            </a:r>
          </a:p>
        </p:txBody>
      </p:sp>
    </p:spTree>
    <p:extLst>
      <p:ext uri="{BB962C8B-B14F-4D97-AF65-F5344CB8AC3E}">
        <p14:creationId xmlns:p14="http://schemas.microsoft.com/office/powerpoint/2010/main" val="4050801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823"/>
            <a:ext cx="6554867" cy="1524000"/>
          </a:xfrm>
        </p:spPr>
        <p:txBody>
          <a:bodyPr/>
          <a:lstStyle/>
          <a:p>
            <a:r>
              <a:rPr lang="en-US" dirty="0"/>
              <a:t>What are Functions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51328" y="1604681"/>
            <a:ext cx="8364071" cy="4558553"/>
          </a:xfrm>
        </p:spPr>
        <p:txBody>
          <a:bodyPr anchor="t" anchorCtr="0">
            <a:no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What is a function: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A </a:t>
            </a:r>
            <a:r>
              <a:rPr lang="en-US" sz="2200" dirty="0">
                <a:solidFill>
                  <a:srgbClr val="FF0000"/>
                </a:solidFill>
              </a:rPr>
              <a:t>block of code </a:t>
            </a:r>
            <a:r>
              <a:rPr lang="en-US" sz="2200" dirty="0"/>
              <a:t>with a </a:t>
            </a:r>
            <a:r>
              <a:rPr lang="en-US" sz="2200" dirty="0">
                <a:solidFill>
                  <a:srgbClr val="FF0000"/>
                </a:solidFill>
              </a:rPr>
              <a:t>name</a:t>
            </a:r>
            <a:r>
              <a:rPr lang="en-US" sz="2200" dirty="0"/>
              <a:t> + </a:t>
            </a:r>
            <a:r>
              <a:rPr lang="en-US" sz="2200" dirty="0">
                <a:solidFill>
                  <a:srgbClr val="FF0000"/>
                </a:solidFill>
              </a:rPr>
              <a:t>input parameters </a:t>
            </a:r>
            <a:r>
              <a:rPr lang="en-US" sz="2200" dirty="0"/>
              <a:t>+ </a:t>
            </a:r>
            <a:r>
              <a:rPr lang="en-US" sz="2200" dirty="0">
                <a:solidFill>
                  <a:srgbClr val="FF0000"/>
                </a:solidFill>
              </a:rPr>
              <a:t>return</a:t>
            </a:r>
            <a:r>
              <a:rPr lang="en-US" sz="2200" dirty="0"/>
              <a:t> value</a:t>
            </a:r>
          </a:p>
          <a:p>
            <a:pPr lvl="1"/>
            <a:r>
              <a:rPr lang="en-US" sz="2200" dirty="0"/>
              <a:t>Implements a clear task. </a:t>
            </a:r>
          </a:p>
          <a:p>
            <a:pPr lvl="1"/>
            <a:r>
              <a:rPr lang="en-US" sz="2200" dirty="0"/>
              <a:t>Called frequently with different inputs.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5824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688" y="142064"/>
            <a:ext cx="7086600" cy="1098177"/>
          </a:xfrm>
        </p:spPr>
        <p:txBody>
          <a:bodyPr/>
          <a:lstStyle/>
          <a:p>
            <a:r>
              <a:rPr lang="en-US" dirty="0"/>
              <a:t>What is a Function definition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337193" y="1587324"/>
            <a:ext cx="5105399" cy="1274359"/>
          </a:xfrm>
        </p:spPr>
        <p:txBody>
          <a:bodyPr anchor="t" anchorCtr="0">
            <a:noAutofit/>
          </a:bodyPr>
          <a:lstStyle/>
          <a:p>
            <a:r>
              <a:rPr lang="en-US" sz="2200" dirty="0"/>
              <a:t>The code that implements the task of the function.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84E8A8-ED9E-534B-8A12-1F5BC5D01845}"/>
              </a:ext>
            </a:extLst>
          </p:cNvPr>
          <p:cNvGrpSpPr/>
          <p:nvPr/>
        </p:nvGrpSpPr>
        <p:grpSpPr>
          <a:xfrm>
            <a:off x="914400" y="2057400"/>
            <a:ext cx="1841655" cy="2533092"/>
            <a:chOff x="1974771" y="823120"/>
            <a:chExt cx="1841655" cy="25330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9D6911-77D7-0B34-99EA-767E1E840C98}"/>
                </a:ext>
              </a:extLst>
            </p:cNvPr>
            <p:cNvSpPr txBox="1"/>
            <p:nvPr/>
          </p:nvSpPr>
          <p:spPr>
            <a:xfrm>
              <a:off x="1974772" y="823120"/>
              <a:ext cx="1835227" cy="64633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parameters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8585C2C-6AE8-6AAC-A4C1-4CCAE49680D0}"/>
                </a:ext>
              </a:extLst>
            </p:cNvPr>
            <p:cNvSpPr txBox="1"/>
            <p:nvPr/>
          </p:nvSpPr>
          <p:spPr>
            <a:xfrm>
              <a:off x="1974771" y="1906191"/>
              <a:ext cx="1835227" cy="64633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 + Function code 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7E398A-8CE4-BE30-7C40-39D132B6E38E}"/>
                </a:ext>
              </a:extLst>
            </p:cNvPr>
            <p:cNvSpPr txBox="1"/>
            <p:nvPr/>
          </p:nvSpPr>
          <p:spPr>
            <a:xfrm>
              <a:off x="1981199" y="2986880"/>
              <a:ext cx="1835227" cy="369332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Return value</a:t>
              </a:r>
            </a:p>
          </p:txBody>
        </p:sp>
        <p:sp>
          <p:nvSpPr>
            <p:cNvPr id="8" name="Down Arrow 7">
              <a:extLst>
                <a:ext uri="{FF2B5EF4-FFF2-40B4-BE49-F238E27FC236}">
                  <a16:creationId xmlns:a16="http://schemas.microsoft.com/office/drawing/2014/main" id="{03E162CE-2AEA-DFF5-8006-4F83219BE811}"/>
                </a:ext>
              </a:extLst>
            </p:cNvPr>
            <p:cNvSpPr/>
            <p:nvPr/>
          </p:nvSpPr>
          <p:spPr>
            <a:xfrm>
              <a:off x="2746412" y="1474739"/>
              <a:ext cx="152400" cy="435550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EEAEB1A6-298E-429B-58E4-B76FB83D4B34}"/>
                </a:ext>
              </a:extLst>
            </p:cNvPr>
            <p:cNvSpPr/>
            <p:nvPr/>
          </p:nvSpPr>
          <p:spPr>
            <a:xfrm>
              <a:off x="2746412" y="2548423"/>
              <a:ext cx="152400" cy="435550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36A1F96-9196-BFF6-F1B1-BB6B2460F093}"/>
              </a:ext>
            </a:extLst>
          </p:cNvPr>
          <p:cNvSpPr txBox="1"/>
          <p:nvPr/>
        </p:nvSpPr>
        <p:spPr>
          <a:xfrm>
            <a:off x="717781" y="1396306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1D351-E11E-ECC5-1014-F7458C1FB1BA}"/>
              </a:ext>
            </a:extLst>
          </p:cNvPr>
          <p:cNvSpPr txBox="1"/>
          <p:nvPr/>
        </p:nvSpPr>
        <p:spPr>
          <a:xfrm>
            <a:off x="568594" y="1284091"/>
            <a:ext cx="2406419" cy="3712759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57057-9ED6-8FDB-EA88-8EF0B594756A}"/>
              </a:ext>
            </a:extLst>
          </p:cNvPr>
          <p:cNvSpPr txBox="1"/>
          <p:nvPr/>
        </p:nvSpPr>
        <p:spPr>
          <a:xfrm>
            <a:off x="3178629" y="2951974"/>
            <a:ext cx="5943600" cy="1107996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FF00"/>
                </a:solidFill>
              </a:rPr>
              <a:t>def </a:t>
            </a:r>
            <a:r>
              <a:rPr lang="en-US" sz="2200" b="1" dirty="0" err="1">
                <a:solidFill>
                  <a:srgbClr val="FFFF00"/>
                </a:solidFill>
              </a:rPr>
              <a:t>function_name</a:t>
            </a:r>
            <a:r>
              <a:rPr lang="en-US" sz="2200" b="1" dirty="0">
                <a:solidFill>
                  <a:srgbClr val="FFFF00"/>
                </a:solidFill>
              </a:rPr>
              <a:t>(param1, param2, …):</a:t>
            </a:r>
          </a:p>
          <a:p>
            <a:r>
              <a:rPr lang="en-US" sz="2200" b="1" dirty="0">
                <a:solidFill>
                  <a:srgbClr val="FFFF00"/>
                </a:solidFill>
              </a:rPr>
              <a:t>       # code of the function</a:t>
            </a:r>
          </a:p>
          <a:p>
            <a:r>
              <a:rPr lang="en-US" sz="2200" b="1" dirty="0">
                <a:solidFill>
                  <a:srgbClr val="FFFF00"/>
                </a:solidFill>
              </a:rPr>
              <a:t>        return var1, var2, …</a:t>
            </a:r>
          </a:p>
        </p:txBody>
      </p:sp>
    </p:spTree>
    <p:extLst>
      <p:ext uri="{BB962C8B-B14F-4D97-AF65-F5344CB8AC3E}">
        <p14:creationId xmlns:p14="http://schemas.microsoft.com/office/powerpoint/2010/main" val="171322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6FFF78-0D38-1BA2-CEA2-8D2AECC54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7378700" cy="2819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5942391-80FF-5DCD-4C88-F1A0D322FA4C}"/>
              </a:ext>
            </a:extLst>
          </p:cNvPr>
          <p:cNvSpPr txBox="1">
            <a:spLocks/>
          </p:cNvSpPr>
          <p:nvPr/>
        </p:nvSpPr>
        <p:spPr>
          <a:xfrm>
            <a:off x="339688" y="142064"/>
            <a:ext cx="7086600" cy="109817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Example function definition</a:t>
            </a:r>
          </a:p>
        </p:txBody>
      </p:sp>
    </p:spTree>
    <p:extLst>
      <p:ext uri="{BB962C8B-B14F-4D97-AF65-F5344CB8AC3E}">
        <p14:creationId xmlns:p14="http://schemas.microsoft.com/office/powerpoint/2010/main" val="408419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1" y="78373"/>
            <a:ext cx="5284470" cy="759827"/>
          </a:xfrm>
        </p:spPr>
        <p:txBody>
          <a:bodyPr>
            <a:normAutofit/>
          </a:bodyPr>
          <a:lstStyle/>
          <a:p>
            <a:r>
              <a:rPr lang="en-US" dirty="0" err="1"/>
              <a:t>FUNCtion</a:t>
            </a:r>
            <a:r>
              <a:rPr lang="en-US" dirty="0"/>
              <a:t> DEFINITION: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1" y="3163741"/>
            <a:ext cx="5943600" cy="32590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200" b="1" dirty="0" err="1"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sz="22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200" b="1" dirty="0" err="1">
                <a:solidFill>
                  <a:srgbClr val="FFC000"/>
                </a:solidFill>
                <a:latin typeface="Courier" charset="0"/>
                <a:ea typeface="Courier" charset="0"/>
                <a:cs typeface="Courier" charset="0"/>
              </a:rPr>
              <a:t>my_min</a:t>
            </a:r>
            <a:r>
              <a:rPr lang="en-US" sz="2200" b="1" dirty="0">
                <a:latin typeface="Courier" charset="0"/>
                <a:ea typeface="Courier" charset="0"/>
                <a:cs typeface="Courier" charset="0"/>
              </a:rPr>
              <a:t>( </a:t>
            </a:r>
            <a:r>
              <a:rPr lang="en-US" sz="22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x, y</a:t>
            </a:r>
            <a:r>
              <a:rPr lang="en-US" sz="2200" b="1" dirty="0">
                <a:latin typeface="Courier" charset="0"/>
                <a:ea typeface="Courier" charset="0"/>
                <a:cs typeface="Courier" charset="0"/>
              </a:rPr>
              <a:t>):</a:t>
            </a:r>
            <a:endParaRPr lang="en-US" sz="2200" b="1" dirty="0">
              <a:solidFill>
                <a:schemeClr val="tx1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en-US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FUNCTION BODY</a:t>
            </a:r>
          </a:p>
          <a:p>
            <a:pPr marL="457200" lvl="1" indent="0">
              <a:buNone/>
            </a:pPr>
            <a:r>
              <a:rPr lang="en-US" b="1" i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if (x &lt; y)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92D050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     return x;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	  else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     return y; // return statement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0" y="2515770"/>
            <a:ext cx="2038350" cy="551701"/>
          </a:xfrm>
          <a:prstGeom prst="wedgeRoundRectCallout">
            <a:avLst>
              <a:gd name="adj1" fmla="val 29846"/>
              <a:gd name="adj2" fmla="val 160769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Function name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2802256" y="2286378"/>
            <a:ext cx="2607945" cy="513001"/>
          </a:xfrm>
          <a:prstGeom prst="wedgeRoundRectCallout">
            <a:avLst>
              <a:gd name="adj1" fmla="val -41124"/>
              <a:gd name="adj2" fmla="val 209795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x,y</a:t>
            </a:r>
            <a:r>
              <a:rPr lang="en-US" b="1" dirty="0">
                <a:solidFill>
                  <a:schemeClr val="bg1"/>
                </a:solidFill>
              </a:rPr>
              <a:t> = input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parameters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4419600" y="4038600"/>
            <a:ext cx="2295525" cy="609600"/>
          </a:xfrm>
          <a:prstGeom prst="wedgeRoundRectCallout">
            <a:avLst>
              <a:gd name="adj1" fmla="val -114619"/>
              <a:gd name="adj2" fmla="val 113271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Return value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if x &lt; y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4562475" y="4925874"/>
            <a:ext cx="2295525" cy="609600"/>
          </a:xfrm>
          <a:prstGeom prst="wedgeRoundRectCallout">
            <a:avLst>
              <a:gd name="adj1" fmla="val -120097"/>
              <a:gd name="adj2" fmla="val 87021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Return value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if x &gt;=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15289" y="240883"/>
            <a:ext cx="37998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Specifies:</a:t>
            </a:r>
          </a:p>
          <a:p>
            <a:endParaRPr lang="en-US" sz="2200" b="1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chemeClr val="bg1"/>
                </a:solidFill>
              </a:rPr>
              <a:t>Function name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chemeClr val="bg1"/>
                </a:solidFill>
              </a:rPr>
              <a:t>Input parameters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chemeClr val="bg1"/>
                </a:solidFill>
              </a:rPr>
              <a:t>Function body (code)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chemeClr val="bg1"/>
                </a:solidFill>
              </a:rPr>
              <a:t>Return value </a:t>
            </a:r>
          </a:p>
          <a:p>
            <a:pPr marL="457200" indent="-457200">
              <a:buFont typeface="+mj-lt"/>
              <a:buAutoNum type="arabicPeriod"/>
            </a:pPr>
            <a:endParaRPr lang="en-US" sz="2200" b="1" i="1" dirty="0">
              <a:solidFill>
                <a:schemeClr val="bg1"/>
              </a:solidFill>
            </a:endParaRPr>
          </a:p>
          <a:p>
            <a:r>
              <a:rPr lang="en-US" sz="2200" b="1" i="1" dirty="0">
                <a:solidFill>
                  <a:schemeClr val="bg1"/>
                </a:solidFill>
              </a:rPr>
              <a:t>   </a:t>
            </a:r>
            <a:r>
              <a:rPr lang="en-US" sz="2200" b="1" i="1" dirty="0">
                <a:solidFill>
                  <a:srgbClr val="FF0000"/>
                </a:solidFill>
              </a:rPr>
              <a:t>NO CODE IS EXECUTED</a:t>
            </a:r>
          </a:p>
          <a:p>
            <a:r>
              <a:rPr lang="en-US" sz="2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893720"/>
            <a:ext cx="6398321" cy="20643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96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4F50D32-AD2C-B829-64FA-D2D76C8F76EE}"/>
              </a:ext>
            </a:extLst>
          </p:cNvPr>
          <p:cNvGrpSpPr/>
          <p:nvPr/>
        </p:nvGrpSpPr>
        <p:grpSpPr>
          <a:xfrm>
            <a:off x="6858330" y="1645439"/>
            <a:ext cx="1841655" cy="2533092"/>
            <a:chOff x="1974771" y="823120"/>
            <a:chExt cx="1841655" cy="253309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2890D8-72F0-A71E-84E5-743C513786E5}"/>
                </a:ext>
              </a:extLst>
            </p:cNvPr>
            <p:cNvSpPr txBox="1"/>
            <p:nvPr/>
          </p:nvSpPr>
          <p:spPr>
            <a:xfrm>
              <a:off x="1974772" y="823120"/>
              <a:ext cx="1835227" cy="64633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parameters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AF0272-8A47-BFF5-5FAE-CC25DC512895}"/>
                </a:ext>
              </a:extLst>
            </p:cNvPr>
            <p:cNvSpPr txBox="1"/>
            <p:nvPr/>
          </p:nvSpPr>
          <p:spPr>
            <a:xfrm>
              <a:off x="1974771" y="1906191"/>
              <a:ext cx="1835227" cy="64633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 + Function code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B25B27-7965-7098-3DEE-22B633F0DED0}"/>
                </a:ext>
              </a:extLst>
            </p:cNvPr>
            <p:cNvSpPr txBox="1"/>
            <p:nvPr/>
          </p:nvSpPr>
          <p:spPr>
            <a:xfrm>
              <a:off x="1981199" y="2986880"/>
              <a:ext cx="1835227" cy="369332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Return value</a:t>
              </a:r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F16C7939-5CCF-1DA6-3F31-A5A75064A0B9}"/>
                </a:ext>
              </a:extLst>
            </p:cNvPr>
            <p:cNvSpPr/>
            <p:nvPr/>
          </p:nvSpPr>
          <p:spPr>
            <a:xfrm>
              <a:off x="2746412" y="1474739"/>
              <a:ext cx="152400" cy="435550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Down Arrow 7">
              <a:extLst>
                <a:ext uri="{FF2B5EF4-FFF2-40B4-BE49-F238E27FC236}">
                  <a16:creationId xmlns:a16="http://schemas.microsoft.com/office/drawing/2014/main" id="{DAB77CAA-44F2-E0AF-815D-C8E279FA5342}"/>
                </a:ext>
              </a:extLst>
            </p:cNvPr>
            <p:cNvSpPr/>
            <p:nvPr/>
          </p:nvSpPr>
          <p:spPr>
            <a:xfrm>
              <a:off x="2746412" y="2548423"/>
              <a:ext cx="152400" cy="435550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0F2C77B-9A8D-9207-8765-1746F72B7B69}"/>
              </a:ext>
            </a:extLst>
          </p:cNvPr>
          <p:cNvSpPr txBox="1"/>
          <p:nvPr/>
        </p:nvSpPr>
        <p:spPr>
          <a:xfrm>
            <a:off x="381000" y="1066800"/>
            <a:ext cx="565165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00"/>
                </a:solidFill>
              </a:rPr>
              <a:t>Find the max value in a list.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00"/>
                </a:solidFill>
              </a:rPr>
              <a:t>Find the number of vowels in a string of characters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960-1B91-C148-9D84-5E4E5D1941D3}"/>
              </a:ext>
            </a:extLst>
          </p:cNvPr>
          <p:cNvSpPr txBox="1">
            <a:spLocks/>
          </p:cNvSpPr>
          <p:nvPr/>
        </p:nvSpPr>
        <p:spPr>
          <a:xfrm>
            <a:off x="228600" y="228600"/>
            <a:ext cx="8382000" cy="1524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Examples of Function definitions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4C7D1-7A68-4702-18BE-CD5ACDEE9B6D}"/>
              </a:ext>
            </a:extLst>
          </p:cNvPr>
          <p:cNvSpPr txBox="1"/>
          <p:nvPr/>
        </p:nvSpPr>
        <p:spPr>
          <a:xfrm>
            <a:off x="724064" y="1712847"/>
            <a:ext cx="57214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): # input param = a list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range(1,len(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	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F0BE1-8E21-A848-777B-4D8FEA85172A}"/>
              </a:ext>
            </a:extLst>
          </p:cNvPr>
          <p:cNvSpPr txBox="1"/>
          <p:nvPr/>
        </p:nvSpPr>
        <p:spPr>
          <a:xfrm>
            <a:off x="228600" y="4481379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num_vowels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count_vowels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c in str: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is_vowel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(c):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count_vowels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count_vowels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B77476-31A6-8968-80DB-A86C8DB16643}"/>
              </a:ext>
            </a:extLst>
          </p:cNvPr>
          <p:cNvSpPr txBox="1"/>
          <p:nvPr/>
        </p:nvSpPr>
        <p:spPr>
          <a:xfrm>
            <a:off x="4572000" y="4481379"/>
            <a:ext cx="4419600" cy="2031325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is_vowel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</a:p>
          <a:p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input param = character </a:t>
            </a:r>
          </a:p>
          <a:p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vowel ‘a’,’e’,‘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’,’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o’,’u’,’y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 </a:t>
            </a:r>
          </a:p>
          <a:p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result = False      </a:t>
            </a:r>
          </a:p>
          <a:p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ch.lower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in “</a:t>
            </a:r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aeiouy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”:</a:t>
            </a:r>
          </a:p>
          <a:p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result = True</a:t>
            </a:r>
          </a:p>
          <a:p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result</a:t>
            </a:r>
          </a:p>
        </p:txBody>
      </p:sp>
    </p:spTree>
    <p:extLst>
      <p:ext uri="{BB962C8B-B14F-4D97-AF65-F5344CB8AC3E}">
        <p14:creationId xmlns:p14="http://schemas.microsoft.com/office/powerpoint/2010/main" val="495237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4F50D32-AD2C-B829-64FA-D2D76C8F76EE}"/>
              </a:ext>
            </a:extLst>
          </p:cNvPr>
          <p:cNvGrpSpPr/>
          <p:nvPr/>
        </p:nvGrpSpPr>
        <p:grpSpPr>
          <a:xfrm>
            <a:off x="6477000" y="1246641"/>
            <a:ext cx="1841655" cy="2533092"/>
            <a:chOff x="1974771" y="823120"/>
            <a:chExt cx="1841655" cy="253309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2890D8-72F0-A71E-84E5-743C513786E5}"/>
                </a:ext>
              </a:extLst>
            </p:cNvPr>
            <p:cNvSpPr txBox="1"/>
            <p:nvPr/>
          </p:nvSpPr>
          <p:spPr>
            <a:xfrm>
              <a:off x="1974772" y="823120"/>
              <a:ext cx="1835227" cy="64633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parameters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AF0272-8A47-BFF5-5FAE-CC25DC512895}"/>
                </a:ext>
              </a:extLst>
            </p:cNvPr>
            <p:cNvSpPr txBox="1"/>
            <p:nvPr/>
          </p:nvSpPr>
          <p:spPr>
            <a:xfrm>
              <a:off x="1974771" y="1906191"/>
              <a:ext cx="1835227" cy="64633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 + Function code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B25B27-7965-7098-3DEE-22B633F0DED0}"/>
                </a:ext>
              </a:extLst>
            </p:cNvPr>
            <p:cNvSpPr txBox="1"/>
            <p:nvPr/>
          </p:nvSpPr>
          <p:spPr>
            <a:xfrm>
              <a:off x="1981199" y="2986880"/>
              <a:ext cx="1835227" cy="369332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Return value</a:t>
              </a:r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F16C7939-5CCF-1DA6-3F31-A5A75064A0B9}"/>
                </a:ext>
              </a:extLst>
            </p:cNvPr>
            <p:cNvSpPr/>
            <p:nvPr/>
          </p:nvSpPr>
          <p:spPr>
            <a:xfrm>
              <a:off x="2746412" y="1474739"/>
              <a:ext cx="152400" cy="435550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Down Arrow 7">
              <a:extLst>
                <a:ext uri="{FF2B5EF4-FFF2-40B4-BE49-F238E27FC236}">
                  <a16:creationId xmlns:a16="http://schemas.microsoft.com/office/drawing/2014/main" id="{DAB77CAA-44F2-E0AF-815D-C8E279FA5342}"/>
                </a:ext>
              </a:extLst>
            </p:cNvPr>
            <p:cNvSpPr/>
            <p:nvPr/>
          </p:nvSpPr>
          <p:spPr>
            <a:xfrm>
              <a:off x="2746412" y="2548423"/>
              <a:ext cx="152400" cy="435550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0F2C77B-9A8D-9207-8765-1746F72B7B69}"/>
              </a:ext>
            </a:extLst>
          </p:cNvPr>
          <p:cNvSpPr txBox="1"/>
          <p:nvPr/>
        </p:nvSpPr>
        <p:spPr>
          <a:xfrm>
            <a:off x="305948" y="1071222"/>
            <a:ext cx="565165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00"/>
                </a:solidFill>
              </a:rPr>
              <a:t>Is an integer number even?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00"/>
                </a:solidFill>
              </a:rPr>
              <a:t>Display a rectangle of a certain size and character filling.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lvl="1"/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960-1B91-C148-9D84-5E4E5D1941D3}"/>
              </a:ext>
            </a:extLst>
          </p:cNvPr>
          <p:cNvSpPr txBox="1">
            <a:spLocks/>
          </p:cNvSpPr>
          <p:nvPr/>
        </p:nvSpPr>
        <p:spPr>
          <a:xfrm>
            <a:off x="228600" y="228600"/>
            <a:ext cx="8305800" cy="1524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Examples of function Definitions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60270-04F5-0BE2-F7D5-E5D5714E2A26}"/>
              </a:ext>
            </a:extLst>
          </p:cNvPr>
          <p:cNvSpPr txBox="1"/>
          <p:nvPr/>
        </p:nvSpPr>
        <p:spPr>
          <a:xfrm>
            <a:off x="686948" y="1671386"/>
            <a:ext cx="5270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(num):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num % 2 == 0: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True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4A7C7-AE2A-0DDB-69FE-DDF0E2F06266}"/>
              </a:ext>
            </a:extLst>
          </p:cNvPr>
          <p:cNvSpPr txBox="1"/>
          <p:nvPr/>
        </p:nvSpPr>
        <p:spPr>
          <a:xfrm>
            <a:off x="686948" y="4237128"/>
            <a:ext cx="6172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draw_rectangle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(size, char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’*’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for row in range(size):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col in range(size):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print(char, end = ‘’)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# no return needed for this function  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69162DC-50D5-B5AD-B701-62AA1D58FBCC}"/>
              </a:ext>
            </a:extLst>
          </p:cNvPr>
          <p:cNvSpPr/>
          <p:nvPr/>
        </p:nvSpPr>
        <p:spPr>
          <a:xfrm>
            <a:off x="6018426" y="4431904"/>
            <a:ext cx="2555914" cy="917681"/>
          </a:xfrm>
          <a:prstGeom prst="wedgeRoundRectCallout">
            <a:avLst>
              <a:gd name="adj1" fmla="val -70421"/>
              <a:gd name="adj2" fmla="val -38705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 (use this value if none given </a:t>
            </a:r>
          </a:p>
        </p:txBody>
      </p:sp>
    </p:spTree>
    <p:extLst>
      <p:ext uri="{BB962C8B-B14F-4D97-AF65-F5344CB8AC3E}">
        <p14:creationId xmlns:p14="http://schemas.microsoft.com/office/powerpoint/2010/main" val="353781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B533-0C05-8114-FC7A-91C52BA3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8" y="20198"/>
            <a:ext cx="9117836" cy="1524000"/>
          </a:xfrm>
        </p:spPr>
        <p:txBody>
          <a:bodyPr/>
          <a:lstStyle/>
          <a:p>
            <a:r>
              <a:rPr lang="en-US" dirty="0"/>
              <a:t>Examples of python functions you used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E8F58-6273-2313-A774-8F656D39A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7936736" cy="3429000"/>
          </a:xfrm>
        </p:spPr>
        <p:txBody>
          <a:bodyPr/>
          <a:lstStyle/>
          <a:p>
            <a:r>
              <a:rPr lang="en-US" dirty="0" err="1"/>
              <a:t>len</a:t>
            </a:r>
            <a:r>
              <a:rPr lang="en-US" dirty="0"/>
              <a:t>(str) or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lst</a:t>
            </a:r>
            <a:r>
              <a:rPr lang="en-US" dirty="0"/>
              <a:t>)</a:t>
            </a:r>
          </a:p>
          <a:p>
            <a:r>
              <a:rPr lang="en-US" dirty="0"/>
              <a:t>print() </a:t>
            </a:r>
          </a:p>
          <a:p>
            <a:r>
              <a:rPr lang="en-US" dirty="0"/>
              <a:t>range()</a:t>
            </a:r>
          </a:p>
          <a:p>
            <a:r>
              <a:rPr lang="en-US" dirty="0" err="1"/>
              <a:t>random.randomint</a:t>
            </a:r>
            <a:r>
              <a:rPr lang="en-US" dirty="0"/>
              <a:t>()</a:t>
            </a:r>
          </a:p>
          <a:p>
            <a:r>
              <a:rPr lang="en-US" dirty="0" err="1"/>
              <a:t>math.sqrt</a:t>
            </a:r>
            <a:r>
              <a:rPr lang="en-US" dirty="0"/>
              <a:t>()</a:t>
            </a:r>
          </a:p>
          <a:p>
            <a:r>
              <a:rPr lang="en-US" dirty="0"/>
              <a:t>int(3.45)</a:t>
            </a:r>
          </a:p>
          <a:p>
            <a:r>
              <a:rPr lang="en-US" dirty="0"/>
              <a:t>input()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BDFC0-C055-74A1-6E78-3D95B81D8244}"/>
              </a:ext>
            </a:extLst>
          </p:cNvPr>
          <p:cNvSpPr txBox="1"/>
          <p:nvPr/>
        </p:nvSpPr>
        <p:spPr>
          <a:xfrm>
            <a:off x="103469" y="4495800"/>
            <a:ext cx="89370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Did you write the function definition for these functions?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did you do?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You </a:t>
            </a:r>
            <a:r>
              <a:rPr lang="en-US" sz="2400" b="1" dirty="0">
                <a:solidFill>
                  <a:srgbClr val="FF0000"/>
                </a:solidFill>
              </a:rPr>
              <a:t>called functions </a:t>
            </a:r>
            <a:r>
              <a:rPr lang="en-US" sz="2400" dirty="0">
                <a:solidFill>
                  <a:srgbClr val="FF0000"/>
                </a:solidFill>
              </a:rPr>
              <a:t>already defined in Python library</a:t>
            </a:r>
          </a:p>
        </p:txBody>
      </p:sp>
    </p:spTree>
    <p:extLst>
      <p:ext uri="{BB962C8B-B14F-4D97-AF65-F5344CB8AC3E}">
        <p14:creationId xmlns:p14="http://schemas.microsoft.com/office/powerpoint/2010/main" val="381125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B533-0C05-8114-FC7A-91C52BA3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9378"/>
            <a:ext cx="8101071" cy="1524000"/>
          </a:xfrm>
        </p:spPr>
        <p:txBody>
          <a:bodyPr/>
          <a:lstStyle/>
          <a:p>
            <a:r>
              <a:rPr lang="en-US" dirty="0"/>
              <a:t>What is a function call?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E8F58-6273-2313-A774-8F656D39A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9200"/>
            <a:ext cx="7772400" cy="5334000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A line of code:</a:t>
            </a:r>
          </a:p>
          <a:p>
            <a:pPr marL="457200" lvl="1" indent="0">
              <a:buNone/>
            </a:pPr>
            <a:r>
              <a:rPr lang="en-US" sz="2200" b="1" dirty="0" err="1">
                <a:solidFill>
                  <a:srgbClr val="FF0000"/>
                </a:solidFill>
              </a:rPr>
              <a:t>var_return</a:t>
            </a:r>
            <a:r>
              <a:rPr lang="en-US" sz="2200" b="1" dirty="0">
                <a:solidFill>
                  <a:srgbClr val="FF0000"/>
                </a:solidFill>
              </a:rPr>
              <a:t> = </a:t>
            </a:r>
            <a:r>
              <a:rPr lang="en-US" sz="2200" b="1" dirty="0" err="1">
                <a:solidFill>
                  <a:srgbClr val="FF0000"/>
                </a:solidFill>
              </a:rPr>
              <a:t>function_name</a:t>
            </a:r>
            <a:r>
              <a:rPr lang="en-US" sz="2200" b="1" dirty="0">
                <a:solidFill>
                  <a:srgbClr val="FF0000"/>
                </a:solidFill>
              </a:rPr>
              <a:t>(value1, value2, …)</a:t>
            </a:r>
          </a:p>
          <a:p>
            <a:pPr marL="457200" lvl="1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OR</a:t>
            </a:r>
          </a:p>
          <a:p>
            <a:pPr marL="457200" lvl="1" indent="0">
              <a:buNone/>
            </a:pPr>
            <a:r>
              <a:rPr lang="en-US" sz="2200" b="1" dirty="0" err="1">
                <a:solidFill>
                  <a:srgbClr val="FF0000"/>
                </a:solidFill>
              </a:rPr>
              <a:t>function_name</a:t>
            </a:r>
            <a:r>
              <a:rPr lang="en-US" sz="2200" b="1" dirty="0">
                <a:solidFill>
                  <a:srgbClr val="FF0000"/>
                </a:solidFill>
              </a:rPr>
              <a:t>(value1, value2, …)</a:t>
            </a:r>
          </a:p>
          <a:p>
            <a:pPr marL="0" indent="0">
              <a:buNone/>
            </a:pP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	str = “ABCDE”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	</a:t>
            </a:r>
            <a:r>
              <a:rPr lang="en-US" sz="2200" b="1" dirty="0" err="1">
                <a:solidFill>
                  <a:srgbClr val="FF0000"/>
                </a:solidFill>
              </a:rPr>
              <a:t>len_str</a:t>
            </a:r>
            <a:r>
              <a:rPr lang="en-US" sz="2200" b="1" dirty="0">
                <a:solidFill>
                  <a:srgbClr val="FF0000"/>
                </a:solidFill>
              </a:rPr>
              <a:t> = </a:t>
            </a:r>
            <a:r>
              <a:rPr lang="en-US" sz="2200" b="1" dirty="0" err="1">
                <a:solidFill>
                  <a:srgbClr val="FF0000"/>
                </a:solidFill>
              </a:rPr>
              <a:t>len</a:t>
            </a:r>
            <a:r>
              <a:rPr lang="en-US" sz="2200" b="1" dirty="0">
                <a:solidFill>
                  <a:srgbClr val="FF0000"/>
                </a:solidFill>
              </a:rPr>
              <a:t>(str)</a:t>
            </a: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	</a:t>
            </a:r>
            <a:r>
              <a:rPr lang="en-US" sz="2200" b="1" dirty="0">
                <a:solidFill>
                  <a:srgbClr val="FF0000"/>
                </a:solidFill>
              </a:rPr>
              <a:t>print(“the length is”, </a:t>
            </a:r>
            <a:r>
              <a:rPr lang="en-US" sz="2200" b="1" dirty="0" err="1">
                <a:solidFill>
                  <a:srgbClr val="FF0000"/>
                </a:solidFill>
              </a:rPr>
              <a:t>len_str</a:t>
            </a:r>
            <a:r>
              <a:rPr lang="en-US" sz="2200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569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6FFF78-0D38-1BA2-CEA2-8D2AECC54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8" y="1066800"/>
            <a:ext cx="8011007" cy="2819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5942391-80FF-5DCD-4C88-F1A0D322FA4C}"/>
              </a:ext>
            </a:extLst>
          </p:cNvPr>
          <p:cNvSpPr txBox="1">
            <a:spLocks/>
          </p:cNvSpPr>
          <p:nvPr/>
        </p:nvSpPr>
        <p:spPr>
          <a:xfrm>
            <a:off x="339688" y="142064"/>
            <a:ext cx="7086600" cy="109817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Example function call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5E4FB8-F338-286D-3960-0043CC4874D0}"/>
              </a:ext>
            </a:extLst>
          </p:cNvPr>
          <p:cNvSpPr txBox="1"/>
          <p:nvPr/>
        </p:nvSpPr>
        <p:spPr>
          <a:xfrm>
            <a:off x="339688" y="3886200"/>
            <a:ext cx="8000908" cy="27392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grade1 = float(input(”Enter the first grade”)</a:t>
            </a:r>
          </a:p>
          <a:p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grade2 = float(input(“Enter the second grade</a:t>
            </a: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”)</a:t>
            </a:r>
          </a:p>
          <a:p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call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min_grade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my_min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(grade1,grade2)</a:t>
            </a:r>
          </a:p>
          <a:p>
            <a:endParaRPr lang="en-US" sz="2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print(“the smallest grade is”, </a:t>
            </a:r>
            <a:r>
              <a:rPr lang="en-US" sz="2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min_grade</a:t>
            </a: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237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853" y="215577"/>
            <a:ext cx="8876547" cy="678366"/>
          </a:xfrm>
        </p:spPr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dirty="0" err="1"/>
              <a:t>FUNCtion</a:t>
            </a:r>
            <a:r>
              <a:rPr lang="en-US" dirty="0"/>
              <a:t> Call?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02350" y="4455133"/>
            <a:ext cx="5771378" cy="648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	smaller = </a:t>
            </a:r>
            <a:r>
              <a:rPr lang="en-US" b="1" dirty="0" err="1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my_min</a:t>
            </a:r>
            <a:r>
              <a:rPr lang="en-US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grade1,grade2</a:t>
            </a:r>
            <a:r>
              <a:rPr lang="en-US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); 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85545" y="2882346"/>
            <a:ext cx="2054482" cy="885044"/>
          </a:xfrm>
          <a:prstGeom prst="wedgeRoundRectCallout">
            <a:avLst>
              <a:gd name="adj1" fmla="val -12173"/>
              <a:gd name="adj2" fmla="val 147010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Return value is stored in smaller var 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2819399" y="2896708"/>
            <a:ext cx="1752600" cy="323712"/>
          </a:xfrm>
          <a:prstGeom prst="wedgeRoundRectCallout">
            <a:avLst>
              <a:gd name="adj1" fmla="val -2337"/>
              <a:gd name="adj2" fmla="val 439842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arguments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726" y="1041920"/>
            <a:ext cx="8446547" cy="1107996"/>
          </a:xfrm>
          <a:prstGeom prst="rect">
            <a:avLst/>
          </a:prstGeom>
          <a:noFill/>
          <a:ln w="15875">
            <a:solidFill>
              <a:schemeClr val="bg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Name of the 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rgbClr val="FF0000"/>
                </a:solidFill>
              </a:rPr>
              <a:t>Arguments =&gt;  values for each input parameter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Store the return value in a variable. </a:t>
            </a:r>
          </a:p>
        </p:txBody>
      </p:sp>
      <p:cxnSp>
        <p:nvCxnSpPr>
          <p:cNvPr id="8" name="Curved Connector 7"/>
          <p:cNvCxnSpPr>
            <a:cxnSpLocks/>
          </p:cNvCxnSpPr>
          <p:nvPr/>
        </p:nvCxnSpPr>
        <p:spPr>
          <a:xfrm flipV="1">
            <a:off x="4953000" y="4122174"/>
            <a:ext cx="814635" cy="288785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 txBox="1">
            <a:spLocks/>
          </p:cNvSpPr>
          <p:nvPr/>
        </p:nvSpPr>
        <p:spPr>
          <a:xfrm>
            <a:off x="5767635" y="3463573"/>
            <a:ext cx="3297247" cy="3324552"/>
          </a:xfrm>
          <a:prstGeom prst="rect">
            <a:avLst/>
          </a:prstGeom>
          <a:ln w="22225">
            <a:solidFill>
              <a:srgbClr val="FFFF00"/>
            </a:solidFill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 </a:t>
            </a:r>
            <a:r>
              <a:rPr lang="en-US" sz="2600" b="1" dirty="0">
                <a:latin typeface="Courier" charset="0"/>
                <a:ea typeface="Courier" charset="0"/>
                <a:cs typeface="Courier" charset="0"/>
              </a:rPr>
              <a:t>#function definition</a:t>
            </a:r>
          </a:p>
          <a:p>
            <a:pPr marL="0" indent="0">
              <a:buNone/>
            </a:pPr>
            <a:r>
              <a:rPr lang="en-US" sz="2600" b="1" dirty="0" err="1"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sz="26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600" b="1" dirty="0" err="1">
                <a:solidFill>
                  <a:srgbClr val="FFC000"/>
                </a:solidFill>
                <a:latin typeface="Courier" charset="0"/>
                <a:ea typeface="Courier" charset="0"/>
                <a:cs typeface="Courier" charset="0"/>
              </a:rPr>
              <a:t>my_min</a:t>
            </a:r>
            <a:r>
              <a:rPr lang="en-US" sz="2600" b="1" dirty="0">
                <a:latin typeface="Courier" charset="0"/>
                <a:ea typeface="Courier" charset="0"/>
                <a:cs typeface="Courier" charset="0"/>
              </a:rPr>
              <a:t>( </a:t>
            </a:r>
            <a:r>
              <a:rPr lang="en-US" sz="26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x, y</a:t>
            </a:r>
            <a:r>
              <a:rPr lang="en-US" sz="2600" b="1" dirty="0">
                <a:latin typeface="Courier" charset="0"/>
                <a:ea typeface="Courier" charset="0"/>
                <a:cs typeface="Courier" charset="0"/>
              </a:rPr>
              <a:t>):</a:t>
            </a:r>
            <a:endParaRPr lang="en-US" sz="2600" b="1" dirty="0">
              <a:solidFill>
                <a:schemeClr val="tx1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en-US" sz="26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FUNCTION BODY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sz="2600" b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if (x &lt; y)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92D050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sz="2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     return x;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	  else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	</a:t>
            </a:r>
            <a:r>
              <a:rPr lang="en-US" sz="2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     return y</a:t>
            </a:r>
          </a:p>
        </p:txBody>
      </p:sp>
      <p:cxnSp>
        <p:nvCxnSpPr>
          <p:cNvPr id="25" name="Curved Connector 24"/>
          <p:cNvCxnSpPr>
            <a:cxnSpLocks/>
          </p:cNvCxnSpPr>
          <p:nvPr/>
        </p:nvCxnSpPr>
        <p:spPr>
          <a:xfrm rot="10800000">
            <a:off x="2583341" y="5125849"/>
            <a:ext cx="3184295" cy="1153468"/>
          </a:xfrm>
          <a:prstGeom prst="curved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ular Callout 30"/>
          <p:cNvSpPr/>
          <p:nvPr/>
        </p:nvSpPr>
        <p:spPr>
          <a:xfrm>
            <a:off x="6609894" y="2295139"/>
            <a:ext cx="2054481" cy="761999"/>
          </a:xfrm>
          <a:prstGeom prst="wedgeRoundRectCallout">
            <a:avLst>
              <a:gd name="adj1" fmla="val -178405"/>
              <a:gd name="adj2" fmla="val 230004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x = grade1 </a:t>
            </a:r>
            <a:r>
              <a:rPr lang="en-US" b="1" dirty="0" err="1">
                <a:solidFill>
                  <a:schemeClr val="bg1"/>
                </a:solidFill>
              </a:rPr>
              <a:t>val</a:t>
            </a:r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y = grade2 </a:t>
            </a:r>
            <a:r>
              <a:rPr lang="en-US" b="1" dirty="0" err="1">
                <a:solidFill>
                  <a:schemeClr val="bg1"/>
                </a:solidFill>
              </a:rPr>
              <a:t>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2" name="Rounded Rectangular Callout 31"/>
          <p:cNvSpPr/>
          <p:nvPr/>
        </p:nvSpPr>
        <p:spPr>
          <a:xfrm>
            <a:off x="891701" y="5931799"/>
            <a:ext cx="3297247" cy="648629"/>
          </a:xfrm>
          <a:prstGeom prst="wedgeRoundRectCallout">
            <a:avLst>
              <a:gd name="adj1" fmla="val 50609"/>
              <a:gd name="adj2" fmla="val -90577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Return value is returned to the </a:t>
            </a:r>
            <a:r>
              <a:rPr lang="en-US" b="1" dirty="0" err="1">
                <a:solidFill>
                  <a:schemeClr val="bg1"/>
                </a:solidFill>
              </a:rPr>
              <a:t>funct</a:t>
            </a:r>
            <a:r>
              <a:rPr lang="en-US" b="1" dirty="0">
                <a:solidFill>
                  <a:schemeClr val="bg1"/>
                </a:solidFill>
              </a:rPr>
              <a:t> ion call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33ACA1-EBA2-20FA-0175-D13AE0C2E792}"/>
              </a:ext>
            </a:extLst>
          </p:cNvPr>
          <p:cNvSpPr/>
          <p:nvPr/>
        </p:nvSpPr>
        <p:spPr>
          <a:xfrm>
            <a:off x="21116" y="4433046"/>
            <a:ext cx="5262622" cy="6286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45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F2C77B-9A8D-9207-8765-1746F72B7B69}"/>
              </a:ext>
            </a:extLst>
          </p:cNvPr>
          <p:cNvSpPr txBox="1"/>
          <p:nvPr/>
        </p:nvSpPr>
        <p:spPr>
          <a:xfrm>
            <a:off x="381000" y="1066800"/>
            <a:ext cx="47618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00"/>
                </a:solidFill>
              </a:rPr>
              <a:t>Find the max value in a list.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00"/>
                </a:solidFill>
              </a:rPr>
              <a:t>Find the number of vowels in a string of characters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960-1B91-C148-9D84-5E4E5D1941D3}"/>
              </a:ext>
            </a:extLst>
          </p:cNvPr>
          <p:cNvSpPr txBox="1">
            <a:spLocks/>
          </p:cNvSpPr>
          <p:nvPr/>
        </p:nvSpPr>
        <p:spPr>
          <a:xfrm>
            <a:off x="228600" y="228600"/>
            <a:ext cx="8382000" cy="1524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Examples of Function definitions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4C7D1-7A68-4702-18BE-CD5ACDEE9B6D}"/>
              </a:ext>
            </a:extLst>
          </p:cNvPr>
          <p:cNvSpPr txBox="1"/>
          <p:nvPr/>
        </p:nvSpPr>
        <p:spPr>
          <a:xfrm>
            <a:off x="533400" y="1541548"/>
            <a:ext cx="52706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F0BE1-8E21-A848-777B-4D8FEA85172A}"/>
              </a:ext>
            </a:extLst>
          </p:cNvPr>
          <p:cNvSpPr txBox="1"/>
          <p:nvPr/>
        </p:nvSpPr>
        <p:spPr>
          <a:xfrm>
            <a:off x="609600" y="4598075"/>
            <a:ext cx="52706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num_vowels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count_vowels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count_vowels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2EF3B7-3D9C-98A3-E0EA-161A70A8C8D2}"/>
              </a:ext>
            </a:extLst>
          </p:cNvPr>
          <p:cNvSpPr txBox="1"/>
          <p:nvPr/>
        </p:nvSpPr>
        <p:spPr>
          <a:xfrm>
            <a:off x="4953000" y="1175298"/>
            <a:ext cx="4321830" cy="2585323"/>
          </a:xfrm>
          <a:prstGeom prst="rect">
            <a:avLst/>
          </a:prstGeom>
          <a:noFill/>
          <a:ln w="2222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call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[1,5,8,3,2]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max_value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print(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max_value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114566-CC7F-D59A-C857-CA0ECDF80BBB}"/>
              </a:ext>
            </a:extLst>
          </p:cNvPr>
          <p:cNvSpPr txBox="1"/>
          <p:nvPr/>
        </p:nvSpPr>
        <p:spPr>
          <a:xfrm>
            <a:off x="5126970" y="4179721"/>
            <a:ext cx="3756982" cy="2585323"/>
          </a:xfrm>
          <a:prstGeom prst="rect">
            <a:avLst/>
          </a:prstGeom>
          <a:noFill/>
          <a:ln w="2222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num_vowels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call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 = input()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nr_vow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num_vowels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nr_vow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“Monday”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922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F2C77B-9A8D-9207-8765-1746F72B7B69}"/>
              </a:ext>
            </a:extLst>
          </p:cNvPr>
          <p:cNvSpPr txBox="1"/>
          <p:nvPr/>
        </p:nvSpPr>
        <p:spPr>
          <a:xfrm>
            <a:off x="305948" y="1071222"/>
            <a:ext cx="5256652" cy="4203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00"/>
                </a:solidFill>
              </a:rPr>
              <a:t>Is an integer number even?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00"/>
                </a:solidFill>
              </a:rPr>
              <a:t>Display a rectangle of a certain size and character filling.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lvl="1"/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F8960-1B91-C148-9D84-5E4E5D1941D3}"/>
              </a:ext>
            </a:extLst>
          </p:cNvPr>
          <p:cNvSpPr txBox="1">
            <a:spLocks/>
          </p:cNvSpPr>
          <p:nvPr/>
        </p:nvSpPr>
        <p:spPr>
          <a:xfrm>
            <a:off x="228600" y="228600"/>
            <a:ext cx="8305800" cy="1524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Examples of function Calls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60270-04F5-0BE2-F7D5-E5D5714E2A26}"/>
              </a:ext>
            </a:extLst>
          </p:cNvPr>
          <p:cNvSpPr txBox="1"/>
          <p:nvPr/>
        </p:nvSpPr>
        <p:spPr>
          <a:xfrm>
            <a:off x="639896" y="1533325"/>
            <a:ext cx="342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(num):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4A7C7-AE2A-0DDB-69FE-DDF0E2F06266}"/>
              </a:ext>
            </a:extLst>
          </p:cNvPr>
          <p:cNvSpPr txBox="1"/>
          <p:nvPr/>
        </p:nvSpPr>
        <p:spPr>
          <a:xfrm>
            <a:off x="39475" y="4549676"/>
            <a:ext cx="6172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draw_rectangle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(size, char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’*’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# no return needed for this function  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69162DC-50D5-B5AD-B701-62AA1D58FBCC}"/>
              </a:ext>
            </a:extLst>
          </p:cNvPr>
          <p:cNvSpPr/>
          <p:nvPr/>
        </p:nvSpPr>
        <p:spPr>
          <a:xfrm>
            <a:off x="5715000" y="6352580"/>
            <a:ext cx="2555914" cy="367785"/>
          </a:xfrm>
          <a:prstGeom prst="wedgeRoundRectCallout">
            <a:avLst>
              <a:gd name="adj1" fmla="val -95422"/>
              <a:gd name="adj2" fmla="val -479040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10AF0-0588-49F7-7EC4-AD1B6C402796}"/>
              </a:ext>
            </a:extLst>
          </p:cNvPr>
          <p:cNvSpPr txBox="1"/>
          <p:nvPr/>
        </p:nvSpPr>
        <p:spPr>
          <a:xfrm>
            <a:off x="5236065" y="657800"/>
            <a:ext cx="3756982" cy="2862322"/>
          </a:xfrm>
          <a:prstGeom prst="rect">
            <a:avLst/>
          </a:prstGeom>
          <a:noFill/>
          <a:ln w="2222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call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num  = int(input())   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(num):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print(‘Even’)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print(‘Odd)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Even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5AB39B-DEAD-B046-5A70-8016C8D8574F}"/>
              </a:ext>
            </a:extLst>
          </p:cNvPr>
          <p:cNvSpPr txBox="1"/>
          <p:nvPr/>
        </p:nvSpPr>
        <p:spPr>
          <a:xfrm>
            <a:off x="5275540" y="3949322"/>
            <a:ext cx="3717507" cy="2031325"/>
          </a:xfrm>
          <a:prstGeom prst="rect">
            <a:avLst/>
          </a:prstGeom>
          <a:noFill/>
          <a:ln w="2222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draw_rectangle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function call</a:t>
            </a:r>
          </a:p>
          <a:p>
            <a:r>
              <a:rPr lang="en-US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draw_rectangle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(3)     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***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***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***</a:t>
            </a:r>
          </a:p>
        </p:txBody>
      </p:sp>
    </p:spTree>
    <p:extLst>
      <p:ext uri="{BB962C8B-B14F-4D97-AF65-F5344CB8AC3E}">
        <p14:creationId xmlns:p14="http://schemas.microsoft.com/office/powerpoint/2010/main" val="3303109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6554867" cy="1295400"/>
          </a:xfrm>
        </p:spPr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45347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What is the purpose of a function definition?</a:t>
            </a:r>
          </a:p>
          <a:p>
            <a:r>
              <a:rPr lang="en-US" dirty="0"/>
              <a:t>What is the the purpose of a function call?</a:t>
            </a:r>
          </a:p>
          <a:p>
            <a:r>
              <a:rPr lang="en-US" dirty="0"/>
              <a:t>What is the relationship between a function call and a function definition?</a:t>
            </a:r>
          </a:p>
          <a:p>
            <a:r>
              <a:rPr lang="en-US" dirty="0"/>
              <a:t>What are input parameters?</a:t>
            </a:r>
          </a:p>
          <a:p>
            <a:r>
              <a:rPr lang="en-US" dirty="0"/>
              <a:t>What are arguments?</a:t>
            </a:r>
          </a:p>
          <a:p>
            <a:r>
              <a:rPr lang="en-US" dirty="0"/>
              <a:t>What is the difference between them?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02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6554867" cy="1295400"/>
          </a:xfrm>
        </p:spPr>
        <p:txBody>
          <a:bodyPr/>
          <a:lstStyle/>
          <a:p>
            <a:r>
              <a:rPr lang="en-US" b="1" dirty="0"/>
              <a:t>Main = Special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45347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In other programming languages </a:t>
            </a:r>
            <a:r>
              <a:rPr lang="en-US" b="1" dirty="0"/>
              <a:t>main</a:t>
            </a:r>
            <a:r>
              <a:rPr lang="en-US" dirty="0"/>
              <a:t> function contains the executable code</a:t>
            </a:r>
          </a:p>
          <a:p>
            <a:endParaRPr lang="en-US" dirty="0"/>
          </a:p>
          <a:p>
            <a:r>
              <a:rPr lang="en-US" dirty="0"/>
              <a:t>In Python, the interpreter executes any line of code </a:t>
            </a:r>
            <a:r>
              <a:rPr lang="mr-IN" dirty="0"/>
              <a:t>–</a:t>
            </a:r>
            <a:r>
              <a:rPr lang="en-US" dirty="0"/>
              <a:t> outside a function.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894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686" y="0"/>
            <a:ext cx="8752714" cy="1371600"/>
          </a:xfrm>
        </p:spPr>
        <p:txBody>
          <a:bodyPr/>
          <a:lstStyle/>
          <a:p>
            <a:r>
              <a:rPr lang="en-US" dirty="0"/>
              <a:t>Example using Main </a:t>
            </a:r>
            <a:r>
              <a:rPr lang="mr-IN" dirty="0"/>
              <a:t>–</a:t>
            </a:r>
            <a:r>
              <a:rPr lang="en-US" dirty="0"/>
              <a:t> the code inside main is executed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1524001"/>
            <a:ext cx="7442200" cy="397031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# function definition</a:t>
            </a:r>
          </a:p>
          <a:p>
            <a:r>
              <a:rPr lang="en-US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rectangle(rows, cols, char):</a:t>
            </a:r>
          </a:p>
          <a:p>
            <a:endParaRPr lang="en-US" dirty="0">
              <a:solidFill>
                <a:schemeClr val="bg1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	for r in range(cols):</a:t>
            </a:r>
          </a:p>
          <a:p>
            <a:r>
              <a:rPr lang="en-US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		for c in range(rows):</a:t>
            </a:r>
          </a:p>
          <a:p>
            <a:r>
              <a:rPr lang="en-US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			print(char, end = ‘’)</a:t>
            </a:r>
          </a:p>
          <a:p>
            <a:r>
              <a:rPr lang="en-US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      		print()</a:t>
            </a:r>
          </a:p>
          <a:p>
            <a:endParaRPr lang="en-US" dirty="0">
              <a:solidFill>
                <a:srgbClr val="00B05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if __name__ == ‘__main__’:</a:t>
            </a:r>
          </a:p>
          <a:p>
            <a:r>
              <a:rPr lang="en-US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	print(’this is the part that is executed’)</a:t>
            </a:r>
          </a:p>
          <a:p>
            <a:r>
              <a:rPr lang="en-US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	rectangle(5,3)</a:t>
            </a:r>
          </a:p>
          <a:p>
            <a:endParaRPr lang="en-US" dirty="0">
              <a:solidFill>
                <a:schemeClr val="bg1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en-US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316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1295400"/>
          </a:xfrm>
        </p:spPr>
        <p:txBody>
          <a:bodyPr/>
          <a:lstStyle/>
          <a:p>
            <a:r>
              <a:rPr lang="en-US" b="1" dirty="0"/>
              <a:t>Functions without input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453470"/>
          </a:xfrm>
        </p:spPr>
        <p:txBody>
          <a:bodyPr anchor="t" anchorCtr="0">
            <a:normAutofit/>
          </a:bodyPr>
          <a:lstStyle/>
          <a:p>
            <a:endParaRPr lang="en-US" dirty="0"/>
          </a:p>
          <a:p>
            <a:r>
              <a:rPr lang="en-US" dirty="0"/>
              <a:t>A function that displays a message: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def</a:t>
            </a:r>
            <a:r>
              <a:rPr lang="en-US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welcome_message</a:t>
            </a:r>
            <a:r>
              <a:rPr lang="en-US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			print(“Welcome to my game”)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175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1295400"/>
          </a:xfrm>
        </p:spPr>
        <p:txBody>
          <a:bodyPr/>
          <a:lstStyle/>
          <a:p>
            <a:r>
              <a:rPr lang="en-US" b="1" dirty="0"/>
              <a:t>Functions without return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453470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Called void functions</a:t>
            </a:r>
          </a:p>
          <a:p>
            <a:endParaRPr lang="en-US" dirty="0"/>
          </a:p>
          <a:p>
            <a:pPr lvl="1"/>
            <a:r>
              <a:rPr lang="en-US" dirty="0" err="1"/>
              <a:t>draw_rectangle</a:t>
            </a:r>
            <a:r>
              <a:rPr lang="en-US" dirty="0"/>
              <a:t> function is a void function</a:t>
            </a:r>
          </a:p>
          <a:p>
            <a:pPr lvl="1"/>
            <a:r>
              <a:rPr lang="en-US" dirty="0" err="1"/>
              <a:t>welcome_message</a:t>
            </a:r>
            <a:r>
              <a:rPr lang="en-US" dirty="0"/>
              <a:t> function is a void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0474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72749</TotalTime>
  <Words>1208</Words>
  <Application>Microsoft Macintosh PowerPoint</Application>
  <PresentationFormat>On-screen Show (4:3)</PresentationFormat>
  <Paragraphs>271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 Gothic</vt:lpstr>
      <vt:lpstr>Courier</vt:lpstr>
      <vt:lpstr>Courier New</vt:lpstr>
      <vt:lpstr>Wingdings 3</vt:lpstr>
      <vt:lpstr>Slice</vt:lpstr>
      <vt:lpstr>Week 7 – Functions        Part 1</vt:lpstr>
      <vt:lpstr>Outline</vt:lpstr>
      <vt:lpstr>What are Functions ?</vt:lpstr>
      <vt:lpstr>What is a Function definition ?</vt:lpstr>
      <vt:lpstr>PowerPoint Presentation</vt:lpstr>
      <vt:lpstr>FUNCtion DEFINITION: </vt:lpstr>
      <vt:lpstr>PowerPoint Presentation</vt:lpstr>
      <vt:lpstr>PowerPoint Presentation</vt:lpstr>
      <vt:lpstr>Examples of python functions you used  </vt:lpstr>
      <vt:lpstr>What is a function call?</vt:lpstr>
      <vt:lpstr>PowerPoint Presentation</vt:lpstr>
      <vt:lpstr>WHAT is a FUNCtion Call?</vt:lpstr>
      <vt:lpstr>PowerPoint Presentation</vt:lpstr>
      <vt:lpstr>PowerPoint Presentation</vt:lpstr>
      <vt:lpstr>Review Questions</vt:lpstr>
      <vt:lpstr>Main = Special function </vt:lpstr>
      <vt:lpstr>Example using Main – the code inside main is executed </vt:lpstr>
      <vt:lpstr>Functions without input parameters</vt:lpstr>
      <vt:lpstr>Functions without return values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>simona</dc:creator>
  <cp:lastModifiedBy>Simona Doboli</cp:lastModifiedBy>
  <cp:revision>86</cp:revision>
  <cp:lastPrinted>2025-10-13T18:27:48Z</cp:lastPrinted>
  <dcterms:created xsi:type="dcterms:W3CDTF">2014-09-11T16:46:45Z</dcterms:created>
  <dcterms:modified xsi:type="dcterms:W3CDTF">2025-10-13T21:17:14Z</dcterms:modified>
</cp:coreProperties>
</file>