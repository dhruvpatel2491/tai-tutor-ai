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16e68af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16e68af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16e68af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16e68af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16e68af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16e68af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16e68af9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16e68af9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16e68af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16e68af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16e68af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16e68af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16e68af9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16e68af9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16e68af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16e68af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16e68af9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16e68af9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03a7038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203a703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britannica.com" TargetMode="External"/><Relationship Id="rId4" Type="http://schemas.openxmlformats.org/officeDocument/2006/relationships/hyperlink" Target="http://nist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Cryptography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 Aiden Magali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Cryptography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art or </a:t>
            </a:r>
            <a:r>
              <a:rPr lang="en" sz="1600">
                <a:solidFill>
                  <a:schemeClr val="dk1"/>
                </a:solidFill>
              </a:rPr>
              <a:t>practice</a:t>
            </a:r>
            <a:r>
              <a:rPr lang="en" sz="1600">
                <a:solidFill>
                  <a:schemeClr val="dk1"/>
                </a:solidFill>
              </a:rPr>
              <a:t> of writing or solving codes.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Earliest uses of Cryptography date back to the </a:t>
            </a:r>
            <a:r>
              <a:rPr lang="en" sz="1600">
                <a:solidFill>
                  <a:schemeClr val="dk1"/>
                </a:solidFill>
              </a:rPr>
              <a:t>Ancient</a:t>
            </a:r>
            <a:r>
              <a:rPr lang="en" sz="1600">
                <a:solidFill>
                  <a:schemeClr val="dk1"/>
                </a:solidFill>
              </a:rPr>
              <a:t> Rome and Greece.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Has evolved from simple letter shifts to complex </a:t>
            </a:r>
            <a:r>
              <a:rPr lang="en" sz="1600">
                <a:solidFill>
                  <a:schemeClr val="dk1"/>
                </a:solidFill>
              </a:rPr>
              <a:t>mathematical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algorithms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Involves</a:t>
            </a:r>
            <a:r>
              <a:rPr lang="en" sz="1600">
                <a:solidFill>
                  <a:schemeClr val="dk1"/>
                </a:solidFill>
              </a:rPr>
              <a:t> techniques such as encryption, decryption, hashing, and </a:t>
            </a:r>
            <a:r>
              <a:rPr lang="en" sz="1600">
                <a:solidFill>
                  <a:schemeClr val="dk1"/>
                </a:solidFill>
              </a:rPr>
              <a:t>digital</a:t>
            </a:r>
            <a:r>
              <a:rPr lang="en" sz="1600">
                <a:solidFill>
                  <a:schemeClr val="dk1"/>
                </a:solidFill>
              </a:rPr>
              <a:t> signatures.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Plays a critical role in national security, personal privacy, and global commerce.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450" y="3041120"/>
            <a:ext cx="3630551" cy="18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Beginnings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Caesar</a:t>
            </a:r>
            <a:r>
              <a:rPr lang="en" sz="1600">
                <a:solidFill>
                  <a:schemeClr val="dk1"/>
                </a:solidFill>
              </a:rPr>
              <a:t> Cipher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Made for military messages </a:t>
            </a:r>
            <a:r>
              <a:rPr lang="en" sz="1600">
                <a:solidFill>
                  <a:schemeClr val="dk1"/>
                </a:solidFill>
              </a:rPr>
              <a:t>across</a:t>
            </a:r>
            <a:r>
              <a:rPr lang="en" sz="1600">
                <a:solidFill>
                  <a:schemeClr val="dk1"/>
                </a:solidFill>
              </a:rPr>
              <a:t> the increasingly large Roman Empire.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Shifted letters by a fixed amount.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Hebrew Atbash Cipher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Protected military, </a:t>
            </a:r>
            <a:r>
              <a:rPr lang="en" sz="1600">
                <a:solidFill>
                  <a:schemeClr val="dk1"/>
                </a:solidFill>
              </a:rPr>
              <a:t>religious</a:t>
            </a:r>
            <a:r>
              <a:rPr lang="en" sz="1600">
                <a:solidFill>
                  <a:schemeClr val="dk1"/>
                </a:solidFill>
              </a:rPr>
              <a:t>, and trade secrets.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Utilized</a:t>
            </a:r>
            <a:r>
              <a:rPr lang="en" sz="1600">
                <a:solidFill>
                  <a:schemeClr val="dk1"/>
                </a:solidFill>
              </a:rPr>
              <a:t> a reverse alphabet </a:t>
            </a:r>
            <a:r>
              <a:rPr lang="en" sz="1600">
                <a:solidFill>
                  <a:schemeClr val="dk1"/>
                </a:solidFill>
              </a:rPr>
              <a:t>Substitution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Greek Scytale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Worked by </a:t>
            </a:r>
            <a:r>
              <a:rPr lang="en" sz="1600">
                <a:solidFill>
                  <a:schemeClr val="dk1"/>
                </a:solidFill>
              </a:rPr>
              <a:t>rearranging</a:t>
            </a:r>
            <a:r>
              <a:rPr lang="en" sz="1600">
                <a:solidFill>
                  <a:schemeClr val="dk1"/>
                </a:solidFill>
              </a:rPr>
              <a:t> letters rather than substituting them.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Message would be written around a tube and then </a:t>
            </a:r>
            <a:r>
              <a:rPr lang="en" sz="1600">
                <a:solidFill>
                  <a:schemeClr val="dk1"/>
                </a:solidFill>
              </a:rPr>
              <a:t>unwrapped</a:t>
            </a:r>
            <a:r>
              <a:rPr lang="en" sz="1600">
                <a:solidFill>
                  <a:schemeClr val="dk1"/>
                </a:solidFill>
              </a:rPr>
              <a:t> to be sent.  Message would need to be warped around an identical tube to be read.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825" y="41997"/>
            <a:ext cx="3459875" cy="146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400" y="3820575"/>
            <a:ext cx="1772426" cy="9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301" y="1841714"/>
            <a:ext cx="1460074" cy="146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Islamic Golden Age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Al Kindi (9th century) invented a </a:t>
            </a:r>
            <a:r>
              <a:rPr lang="en">
                <a:solidFill>
                  <a:schemeClr val="dk1"/>
                </a:solidFill>
              </a:rPr>
              <a:t>frequency</a:t>
            </a:r>
            <a:r>
              <a:rPr lang="en">
                <a:solidFill>
                  <a:schemeClr val="dk1"/>
                </a:solidFill>
              </a:rPr>
              <a:t> analysis to break substitution </a:t>
            </a:r>
            <a:r>
              <a:rPr lang="en">
                <a:solidFill>
                  <a:schemeClr val="dk1"/>
                </a:solidFill>
              </a:rPr>
              <a:t>ciphers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This was the first scientific </a:t>
            </a:r>
            <a:r>
              <a:rPr lang="en">
                <a:solidFill>
                  <a:schemeClr val="dk1"/>
                </a:solidFill>
              </a:rPr>
              <a:t>approach</a:t>
            </a:r>
            <a:r>
              <a:rPr lang="en">
                <a:solidFill>
                  <a:schemeClr val="dk1"/>
                </a:solidFill>
              </a:rPr>
              <a:t> to codebreaking.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This shifted cryptography form being a form of art to a type of science.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Also t</a:t>
            </a:r>
            <a:r>
              <a:rPr lang="en">
                <a:solidFill>
                  <a:schemeClr val="dk1"/>
                </a:solidFill>
              </a:rPr>
              <a:t>he</a:t>
            </a:r>
            <a:r>
              <a:rPr lang="en">
                <a:solidFill>
                  <a:schemeClr val="dk1"/>
                </a:solidFill>
              </a:rPr>
              <a:t> age where Steganography </a:t>
            </a:r>
            <a:r>
              <a:rPr lang="en">
                <a:solidFill>
                  <a:schemeClr val="dk1"/>
                </a:solidFill>
              </a:rPr>
              <a:t>emerged</a:t>
            </a:r>
            <a:r>
              <a:rPr lang="en">
                <a:solidFill>
                  <a:schemeClr val="dk1"/>
                </a:solidFill>
              </a:rPr>
              <a:t>, which is the act of hiding messages in plain sight.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718" y="3256643"/>
            <a:ext cx="2884050" cy="14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Renaissance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Vigenere Cipher utilized a </a:t>
            </a:r>
            <a:r>
              <a:rPr lang="en" sz="1500">
                <a:solidFill>
                  <a:schemeClr val="dk1"/>
                </a:solidFill>
              </a:rPr>
              <a:t>key</a:t>
            </a:r>
            <a:r>
              <a:rPr lang="en" sz="1500">
                <a:solidFill>
                  <a:schemeClr val="dk1"/>
                </a:solidFill>
              </a:rPr>
              <a:t> to vary letter shifts. (</a:t>
            </a:r>
            <a:r>
              <a:rPr lang="en" sz="1500">
                <a:solidFill>
                  <a:schemeClr val="dk1"/>
                </a:solidFill>
              </a:rPr>
              <a:t>Instead</a:t>
            </a:r>
            <a:r>
              <a:rPr lang="en" sz="1500">
                <a:solidFill>
                  <a:schemeClr val="dk1"/>
                </a:solidFill>
              </a:rPr>
              <a:t> of using fixed shifts like </a:t>
            </a:r>
            <a:r>
              <a:rPr lang="en" sz="1500">
                <a:solidFill>
                  <a:schemeClr val="dk1"/>
                </a:solidFill>
              </a:rPr>
              <a:t>earlier</a:t>
            </a:r>
            <a:r>
              <a:rPr lang="en" sz="1500">
                <a:solidFill>
                  <a:schemeClr val="dk1"/>
                </a:solidFill>
              </a:rPr>
              <a:t> ciphers.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This newer version of a shifting cipher was </a:t>
            </a:r>
            <a:r>
              <a:rPr lang="en" sz="1500">
                <a:solidFill>
                  <a:schemeClr val="dk1"/>
                </a:solidFill>
              </a:rPr>
              <a:t>considered</a:t>
            </a:r>
            <a:r>
              <a:rPr lang="en" sz="1500">
                <a:solidFill>
                  <a:schemeClr val="dk1"/>
                </a:solidFill>
              </a:rPr>
              <a:t> unbreakable at the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In this period Cryptography went over </a:t>
            </a:r>
            <a:r>
              <a:rPr lang="en" sz="1500">
                <a:solidFill>
                  <a:schemeClr val="dk1"/>
                </a:solidFill>
              </a:rPr>
              <a:t>mathematical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formalization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Cryptography became political and diplomatic and was utilized in royal courts and espionage.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149" y="2948000"/>
            <a:ext cx="2357175" cy="19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Mechanization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Jefferson Disk invented by Thomas Jefferson in the 1790s was a machine that utilized rotating disks to </a:t>
            </a:r>
            <a:r>
              <a:rPr lang="en" sz="1600">
                <a:solidFill>
                  <a:schemeClr val="dk1"/>
                </a:solidFill>
              </a:rPr>
              <a:t>encipher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chemeClr val="dk1"/>
                </a:solidFill>
              </a:rPr>
              <a:t>decipher</a:t>
            </a:r>
            <a:r>
              <a:rPr lang="en" sz="1600">
                <a:solidFill>
                  <a:schemeClr val="dk1"/>
                </a:solidFill>
              </a:rPr>
              <a:t> messages.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Rotor Machines were invented utilizing electrical rotors to automate substitution ciphers.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Enigma Machine invented by Arthur Scherbius was utilized by the German military and was more complex for better </a:t>
            </a:r>
            <a:r>
              <a:rPr lang="en" sz="1600">
                <a:solidFill>
                  <a:schemeClr val="dk1"/>
                </a:solidFill>
              </a:rPr>
              <a:t>encryptions</a:t>
            </a:r>
            <a:r>
              <a:rPr lang="en" sz="1600">
                <a:solidFill>
                  <a:schemeClr val="dk1"/>
                </a:solidFill>
              </a:rPr>
              <a:t>.  Was later cracked by Allied </a:t>
            </a:r>
            <a:r>
              <a:rPr lang="en" sz="1600">
                <a:solidFill>
                  <a:schemeClr val="dk1"/>
                </a:solidFill>
              </a:rPr>
              <a:t>efforts</a:t>
            </a:r>
            <a:r>
              <a:rPr lang="en" sz="1600">
                <a:solidFill>
                  <a:schemeClr val="dk1"/>
                </a:solidFill>
              </a:rPr>
              <a:t> and was the centerpiece of WWII </a:t>
            </a:r>
            <a:r>
              <a:rPr lang="en" sz="1600">
                <a:solidFill>
                  <a:schemeClr val="dk1"/>
                </a:solidFill>
              </a:rPr>
              <a:t>cryptography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275" y="3378500"/>
            <a:ext cx="2773899" cy="166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75" y="3690900"/>
            <a:ext cx="2404371" cy="13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 in World War II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Both sides of the war had utilized different </a:t>
            </a:r>
            <a:r>
              <a:rPr lang="en" sz="1500">
                <a:solidFill>
                  <a:schemeClr val="dk1"/>
                </a:solidFill>
              </a:rPr>
              <a:t>encryption</a:t>
            </a:r>
            <a:r>
              <a:rPr lang="en" sz="1500">
                <a:solidFill>
                  <a:schemeClr val="dk1"/>
                </a:solidFill>
              </a:rPr>
              <a:t> methods in order to encrypt messages from enemies.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Lorenz Cipher was an early case of digital codebreaking utilized by the Germans.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The SIGABA and Typex were American and British encryption machines and they weren’t broken by the Axis powers.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These machines were utilized throughout the majority of the war.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371" y="3271826"/>
            <a:ext cx="2479050" cy="18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825" y="211700"/>
            <a:ext cx="3839825" cy="9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2080" y="3339788"/>
            <a:ext cx="2604624" cy="173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Revolution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The Data Encryption Standard (DES), </a:t>
            </a:r>
            <a:r>
              <a:rPr lang="en" sz="1500">
                <a:solidFill>
                  <a:schemeClr val="dk1"/>
                </a:solidFill>
              </a:rPr>
              <a:t>developed</a:t>
            </a:r>
            <a:r>
              <a:rPr lang="en" sz="1500">
                <a:solidFill>
                  <a:schemeClr val="dk1"/>
                </a:solidFill>
              </a:rPr>
              <a:t> by IBM and adopted by the U.S. National </a:t>
            </a:r>
            <a:r>
              <a:rPr lang="en" sz="1500">
                <a:solidFill>
                  <a:schemeClr val="dk1"/>
                </a:solidFill>
              </a:rPr>
              <a:t>Bureau</a:t>
            </a:r>
            <a:r>
              <a:rPr lang="en" sz="1500">
                <a:solidFill>
                  <a:schemeClr val="dk1"/>
                </a:solidFill>
              </a:rPr>
              <a:t> of Standards, utilized a 56-bit key for symmetric </a:t>
            </a:r>
            <a:r>
              <a:rPr lang="en" sz="1500">
                <a:solidFill>
                  <a:schemeClr val="dk1"/>
                </a:solidFill>
              </a:rPr>
              <a:t>encryption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This became the first federal encryption standard but was eventually </a:t>
            </a:r>
            <a:r>
              <a:rPr lang="en" sz="1500">
                <a:solidFill>
                  <a:schemeClr val="dk1"/>
                </a:solidFill>
              </a:rPr>
              <a:t>deemed</a:t>
            </a:r>
            <a:r>
              <a:rPr lang="en" sz="1500">
                <a:solidFill>
                  <a:schemeClr val="dk1"/>
                </a:solidFill>
              </a:rPr>
              <a:t> to insecure.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Public Key cryptography, introduced by </a:t>
            </a:r>
            <a:r>
              <a:rPr lang="en" sz="1500">
                <a:solidFill>
                  <a:schemeClr val="dk1"/>
                </a:solidFill>
              </a:rPr>
              <a:t>Whitfield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Diffie</a:t>
            </a:r>
            <a:r>
              <a:rPr lang="en" sz="1500">
                <a:solidFill>
                  <a:schemeClr val="dk1"/>
                </a:solidFill>
              </a:rPr>
              <a:t> and Martin Hellman solved the problem of secure key exchange over insecure </a:t>
            </a:r>
            <a:r>
              <a:rPr lang="en" sz="1500">
                <a:solidFill>
                  <a:schemeClr val="dk1"/>
                </a:solidFill>
              </a:rPr>
              <a:t>channels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It utilized a public key for encryption and a private key for </a:t>
            </a:r>
            <a:r>
              <a:rPr lang="en" sz="1500">
                <a:solidFill>
                  <a:schemeClr val="dk1"/>
                </a:solidFill>
              </a:rPr>
              <a:t>decryption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25" y="3245375"/>
            <a:ext cx="2806000" cy="15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Day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Advanced Encryption Standard (AES) replaced the DES .  It uses 256-bit keys for </a:t>
            </a:r>
            <a:r>
              <a:rPr lang="en" sz="1500">
                <a:solidFill>
                  <a:schemeClr val="dk1"/>
                </a:solidFill>
              </a:rPr>
              <a:t>symmetric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encryption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While AES and DES are more advanced </a:t>
            </a:r>
            <a:r>
              <a:rPr lang="en" sz="1500">
                <a:solidFill>
                  <a:schemeClr val="dk1"/>
                </a:solidFill>
              </a:rPr>
              <a:t>than</a:t>
            </a:r>
            <a:r>
              <a:rPr lang="en" sz="1500">
                <a:solidFill>
                  <a:schemeClr val="dk1"/>
                </a:solidFill>
              </a:rPr>
              <a:t> earlier </a:t>
            </a:r>
            <a:r>
              <a:rPr lang="en" sz="1500">
                <a:solidFill>
                  <a:schemeClr val="dk1"/>
                </a:solidFill>
              </a:rPr>
              <a:t>encryption</a:t>
            </a:r>
            <a:r>
              <a:rPr lang="en" sz="1500">
                <a:solidFill>
                  <a:schemeClr val="dk1"/>
                </a:solidFill>
              </a:rPr>
              <a:t> methods, they </a:t>
            </a:r>
            <a:r>
              <a:rPr lang="en" sz="1500">
                <a:solidFill>
                  <a:schemeClr val="dk1"/>
                </a:solidFill>
              </a:rPr>
              <a:t>still use the same key for both encryption and decryption. (Just like earlier methods such as the Caesar cipher)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Its now the global standard for encrypting data at rest and in transit. And its used in everything </a:t>
            </a:r>
            <a:r>
              <a:rPr lang="en" sz="1500">
                <a:solidFill>
                  <a:schemeClr val="dk1"/>
                </a:solidFill>
              </a:rPr>
              <a:t>from</a:t>
            </a:r>
            <a:r>
              <a:rPr lang="en" sz="1500">
                <a:solidFill>
                  <a:schemeClr val="dk1"/>
                </a:solidFill>
              </a:rPr>
              <a:t> Wifi to </a:t>
            </a:r>
            <a:r>
              <a:rPr lang="en" sz="1500">
                <a:solidFill>
                  <a:schemeClr val="dk1"/>
                </a:solidFill>
              </a:rPr>
              <a:t>cloud storage</a:t>
            </a:r>
            <a:r>
              <a:rPr lang="en" sz="1500">
                <a:solidFill>
                  <a:schemeClr val="dk1"/>
                </a:solidFill>
              </a:rPr>
              <a:t> and VPNs.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425" y="3213400"/>
            <a:ext cx="3091776" cy="173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it’s so Important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Cryptography helps keep personal data secure from </a:t>
            </a:r>
            <a:r>
              <a:rPr lang="en">
                <a:solidFill>
                  <a:schemeClr val="dk1"/>
                </a:solidFill>
              </a:rPr>
              <a:t>Government</a:t>
            </a:r>
            <a:r>
              <a:rPr lang="en">
                <a:solidFill>
                  <a:schemeClr val="dk1"/>
                </a:solidFill>
              </a:rPr>
              <a:t> secrets to wifi passwords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It allows for safe digital communication without the worry of sensitive information getting out.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It is still improving and evolving to get better every single day.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100" y="2814500"/>
            <a:ext cx="3263675" cy="19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Cited Sources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Gustavus J. Simmons,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History of Cryptography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</a:t>
            </a: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Britannica.com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 2025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Josh Schneider,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History of Cryptography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IBM Think, 2023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National Institute of Standards and Technology (NIST),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Cryptography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</a:t>
            </a: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nist.gov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2024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Lily Chen and Matthew Scholl,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The Cornerstone of Cybersecurity-Cryptographic Standards and a 50 year evolution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NIST Cybersecurity Insights, 2022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Crypto Museum,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History of the Enigma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, Crypto Museum, 2021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Sir John Dermot Turing,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Alan Turing and the Hidden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Heroes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 of Bletchley Park, 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The National WWII Museum, 2020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5103E"/>
              </a:buClr>
              <a:buSzPts val="1500"/>
              <a:buAutoNum type="arabicPeriod"/>
            </a:pP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Chrissy Gregg, </a:t>
            </a:r>
            <a:r>
              <a:rPr i="1" lang="en" sz="1500">
                <a:solidFill>
                  <a:srgbClr val="05103E"/>
                </a:solidFill>
                <a:highlight>
                  <a:srgbClr val="FFFFFF"/>
                </a:highlight>
              </a:rPr>
              <a:t>Code Girls: The Untold Story of the AMerican Women Code Breakers of World War II, </a:t>
            </a:r>
            <a:r>
              <a:rPr lang="en" sz="1500">
                <a:solidFill>
                  <a:srgbClr val="05103E"/>
                </a:solidFill>
                <a:highlight>
                  <a:srgbClr val="FFFFFF"/>
                </a:highlight>
              </a:rPr>
              <a:t>The National WWII Museum, 2020</a:t>
            </a:r>
            <a:endParaRPr sz="1500">
              <a:solidFill>
                <a:srgbClr val="05103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5103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