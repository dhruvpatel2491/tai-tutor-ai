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6" r:id="rId1"/>
  </p:sldMasterIdLst>
  <p:notesMasterIdLst>
    <p:notesMasterId r:id="rId16"/>
  </p:notesMasterIdLst>
  <p:sldIdLst>
    <p:sldId id="256" r:id="rId2"/>
    <p:sldId id="257" r:id="rId3"/>
    <p:sldId id="332" r:id="rId4"/>
    <p:sldId id="267" r:id="rId5"/>
    <p:sldId id="336" r:id="rId6"/>
    <p:sldId id="337" r:id="rId7"/>
    <p:sldId id="338" r:id="rId8"/>
    <p:sldId id="339" r:id="rId9"/>
    <p:sldId id="345" r:id="rId10"/>
    <p:sldId id="340" r:id="rId11"/>
    <p:sldId id="341" r:id="rId12"/>
    <p:sldId id="342" r:id="rId13"/>
    <p:sldId id="343" r:id="rId14"/>
    <p:sldId id="34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1745"/>
  </p:normalViewPr>
  <p:slideViewPr>
    <p:cSldViewPr snapToGrid="0">
      <p:cViewPr>
        <p:scale>
          <a:sx n="133" d="100"/>
          <a:sy n="133" d="100"/>
        </p:scale>
        <p:origin x="192" y="-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A2604-3FBA-4942-B07D-A7C026FBD4E3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9B95F-E93E-074F-975E-6D2830002B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79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AB886-2B46-434E-9DBD-469A9D80FB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2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9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63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6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2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333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9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22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84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4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1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170220C-0367-1D41-B24A-800761401E7B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E9878E4-BA77-AE4E-BCF4-3CD9FB35DB9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6164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81458-1B02-AA4B-FDA2-661BEDA2F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1143" y="1005839"/>
            <a:ext cx="6939304" cy="4805025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Week 2: Operators </a:t>
            </a:r>
            <a:r>
              <a:rPr lang="en-US" sz="6000" dirty="0" err="1">
                <a:solidFill>
                  <a:schemeClr val="tx2"/>
                </a:solidFill>
              </a:rPr>
              <a:t>anD</a:t>
            </a:r>
            <a:r>
              <a:rPr lang="en-US" sz="6000" dirty="0">
                <a:solidFill>
                  <a:schemeClr val="tx2"/>
                </a:solidFill>
              </a:rPr>
              <a:t> Expressions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C871D-6B0E-51EC-D0D3-79B6975CE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267" y="1009397"/>
            <a:ext cx="3078342" cy="4801468"/>
          </a:xfrm>
        </p:spPr>
        <p:txBody>
          <a:bodyPr anchor="ctr">
            <a:normAutofit/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Operators and expressions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85567"/>
            <a:ext cx="10143668" cy="4485503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is an operator?</a:t>
            </a:r>
          </a:p>
          <a:p>
            <a:pPr eaLnBrk="1" hangingPunct="1"/>
            <a:r>
              <a:rPr lang="en-US" altLang="en-US" sz="2600" dirty="0"/>
              <a:t>What are integer operators?</a:t>
            </a:r>
            <a:endParaRPr lang="en-US" altLang="en-US" sz="2400" dirty="0"/>
          </a:p>
          <a:p>
            <a:pPr eaLnBrk="1" hangingPunct="1"/>
            <a:r>
              <a:rPr lang="en-US" altLang="en-US" sz="2600" dirty="0"/>
              <a:t>What are floating point operators?</a:t>
            </a:r>
          </a:p>
          <a:p>
            <a:pPr eaLnBrk="1" hangingPunct="1"/>
            <a:r>
              <a:rPr lang="en-US" altLang="en-US" sz="2600" dirty="0"/>
              <a:t>What are string operators?</a:t>
            </a:r>
          </a:p>
          <a:p>
            <a:pPr eaLnBrk="1" hangingPunct="1"/>
            <a:r>
              <a:rPr lang="en-US" altLang="en-US" sz="2600" dirty="0"/>
              <a:t>What are Boolean operators?</a:t>
            </a:r>
          </a:p>
          <a:p>
            <a:pPr eaLnBrk="1" hangingPunct="1"/>
            <a:r>
              <a:rPr lang="en-US" altLang="en-US" sz="2600" dirty="0"/>
              <a:t>What are comparison operators?</a:t>
            </a:r>
          </a:p>
          <a:p>
            <a:pPr eaLnBrk="1" hangingPunct="1"/>
            <a:r>
              <a:rPr lang="en-US" altLang="en-US" sz="2600" dirty="0"/>
              <a:t>What is operator precedence?</a:t>
            </a:r>
          </a:p>
          <a:p>
            <a:pPr eaLnBrk="1" hangingPunct="1"/>
            <a:r>
              <a:rPr lang="en-US" altLang="en-US" sz="2600" dirty="0"/>
              <a:t>What are mixed-type expressions and how ar</a:t>
            </a:r>
            <a:r>
              <a:rPr lang="en-US" altLang="en-US" sz="2400" dirty="0"/>
              <a:t>e they evaluated?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BF9F-DE49-C59F-F9BA-EC8BB1C4E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dirty="0"/>
              <a:t>What is an operator?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C71A-57EA-C48C-9ED3-AF69D5286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06" y="1818289"/>
            <a:ext cx="10143668" cy="4918841"/>
          </a:xfrm>
        </p:spPr>
        <p:txBody>
          <a:bodyPr anchor="ctr">
            <a:noAutofit/>
          </a:bodyPr>
          <a:lstStyle/>
          <a:p>
            <a:r>
              <a:rPr lang="en-US" sz="2400" dirty="0"/>
              <a:t>An </a:t>
            </a:r>
            <a:r>
              <a:rPr lang="en-US" sz="2400" dirty="0">
                <a:solidFill>
                  <a:srgbClr val="FF0000"/>
                </a:solidFill>
              </a:rPr>
              <a:t>operator</a:t>
            </a:r>
            <a:r>
              <a:rPr lang="en-US" sz="2400" dirty="0"/>
              <a:t> is an instruction that changes the value of a data: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Unary operator (NOT):  </a:t>
            </a:r>
            <a:r>
              <a:rPr lang="en-US" sz="2400" dirty="0"/>
              <a:t>uses one data value: NOT (True) = False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Binary operator (+, -, *, /):   </a:t>
            </a:r>
            <a:r>
              <a:rPr lang="en-US" sz="2400" dirty="0"/>
              <a:t>uses two data values: a + b</a:t>
            </a:r>
          </a:p>
          <a:p>
            <a:r>
              <a:rPr lang="en-US" sz="2400" dirty="0"/>
              <a:t>An </a:t>
            </a:r>
            <a:r>
              <a:rPr lang="en-US" sz="2400" dirty="0">
                <a:solidFill>
                  <a:srgbClr val="FF0000"/>
                </a:solidFill>
              </a:rPr>
              <a:t>expression</a:t>
            </a:r>
            <a:r>
              <a:rPr lang="en-US" sz="2400" dirty="0"/>
              <a:t> contains operators and operands (data values or variables or other expressions)</a:t>
            </a:r>
          </a:p>
          <a:p>
            <a:pPr lvl="1"/>
            <a:r>
              <a:rPr lang="en-US" sz="2400" dirty="0"/>
              <a:t>Example expression:  a + b * c –d / 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Order in which operators are evaluated matters</a:t>
            </a:r>
            <a:r>
              <a:rPr lang="en-US" sz="2400" dirty="0"/>
              <a:t>.</a:t>
            </a:r>
          </a:p>
          <a:p>
            <a:pPr lvl="1"/>
            <a:r>
              <a:rPr lang="en-US" sz="2200" dirty="0"/>
              <a:t>Parentheses change the order of operators</a:t>
            </a:r>
          </a:p>
        </p:txBody>
      </p:sp>
    </p:spTree>
    <p:extLst>
      <p:ext uri="{BB962C8B-B14F-4D97-AF65-F5344CB8AC3E}">
        <p14:creationId xmlns:p14="http://schemas.microsoft.com/office/powerpoint/2010/main" val="1120958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8" y="394531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400" dirty="0"/>
              <a:t>What are integer operators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26904" y="1734207"/>
            <a:ext cx="10329454" cy="521838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Addition (+):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3 + 5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Subtraction (-):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 3 - 5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Multiplication (*):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3  *  5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Division // (integer division)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3 // 5  result = 0 result is an integer – the decimal part is not computed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Modulo (%):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3 % 5  result =  3 result is the remainder between the division of 3 to 5.</a:t>
            </a:r>
            <a:endParaRPr lang="en-US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7" y="394531"/>
            <a:ext cx="10640185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400" dirty="0"/>
              <a:t>What are Floating point operators?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1799" y="1692166"/>
            <a:ext cx="6264011" cy="507124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Addition (+):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3.0 + 5.0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Subtraction (-):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 3.0 – 5.0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Multiplication (*):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3.0  *  5.0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Division / (floating point division)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3.0 / 5.0  result =  0.6  a floating point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FD04501-5FB9-CE4C-7D8E-21C5517DA284}"/>
              </a:ext>
            </a:extLst>
          </p:cNvPr>
          <p:cNvSpPr txBox="1">
            <a:spLocks/>
          </p:cNvSpPr>
          <p:nvPr/>
        </p:nvSpPr>
        <p:spPr>
          <a:xfrm>
            <a:off x="5553777" y="2057400"/>
            <a:ext cx="6116423" cy="15299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5. Exponentiation (**):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	3.0 ** 2.0   (3 to the power 2, result is 9)</a:t>
            </a:r>
          </a:p>
        </p:txBody>
      </p:sp>
    </p:spTree>
    <p:extLst>
      <p:ext uri="{BB962C8B-B14F-4D97-AF65-F5344CB8AC3E}">
        <p14:creationId xmlns:p14="http://schemas.microsoft.com/office/powerpoint/2010/main" val="130080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7" y="394531"/>
            <a:ext cx="1064018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What are STRING operators?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1800" y="1692166"/>
            <a:ext cx="10329454" cy="507124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Concatenation (+):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“</a:t>
            </a:r>
            <a:r>
              <a:rPr lang="en-US" altLang="en-US" sz="2200" dirty="0" err="1"/>
              <a:t>abc</a:t>
            </a:r>
            <a:r>
              <a:rPr lang="en-US" altLang="en-US" sz="2200" dirty="0"/>
              <a:t>” + “123”  result is “abc123”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Repetition (*):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“ab” * 3   result is  “</a:t>
            </a:r>
            <a:r>
              <a:rPr lang="en-US" altLang="en-US" sz="2200" dirty="0" err="1"/>
              <a:t>ababab</a:t>
            </a:r>
            <a:r>
              <a:rPr lang="en-US" altLang="en-US" sz="2200" dirty="0"/>
              <a:t>”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in (membership)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“am” </a:t>
            </a:r>
            <a:r>
              <a:rPr lang="en-US" altLang="en-US" sz="2200" dirty="0">
                <a:solidFill>
                  <a:srgbClr val="FF0000"/>
                </a:solidFill>
              </a:rPr>
              <a:t>in</a:t>
            </a:r>
            <a:r>
              <a:rPr lang="en-US" altLang="en-US" sz="2200" dirty="0"/>
              <a:t> “progr</a:t>
            </a:r>
            <a:r>
              <a:rPr lang="en-US" altLang="en-US" sz="2200" dirty="0">
                <a:solidFill>
                  <a:srgbClr val="FF0000"/>
                </a:solidFill>
              </a:rPr>
              <a:t>am</a:t>
            </a:r>
            <a:r>
              <a:rPr lang="en-US" altLang="en-US" sz="2200" dirty="0"/>
              <a:t>ming”  (result is True – Boolean result)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not in (no membership)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“am” </a:t>
            </a:r>
            <a:r>
              <a:rPr lang="en-US" altLang="en-US" sz="2200" dirty="0">
                <a:solidFill>
                  <a:srgbClr val="FF0000"/>
                </a:solidFill>
              </a:rPr>
              <a:t>not in </a:t>
            </a:r>
            <a:r>
              <a:rPr lang="en-US" altLang="en-US" sz="2200" dirty="0"/>
              <a:t>“programming” (result is False – Boolean result)</a:t>
            </a:r>
          </a:p>
        </p:txBody>
      </p:sp>
    </p:spTree>
    <p:extLst>
      <p:ext uri="{BB962C8B-B14F-4D97-AF65-F5344CB8AC3E}">
        <p14:creationId xmlns:p14="http://schemas.microsoft.com/office/powerpoint/2010/main" val="3741006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7" y="394531"/>
            <a:ext cx="1064018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What are STRING operators?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1800" y="1692166"/>
            <a:ext cx="10329454" cy="507124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Indexing [index]: accessing one character in the string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index is an integer from 0 to (length of the string -1)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Or index is an integer from -1 to –length of the string</a:t>
            </a:r>
          </a:p>
          <a:p>
            <a:pPr marL="324000" lvl="1" indent="0">
              <a:buNone/>
            </a:pPr>
            <a:r>
              <a:rPr lang="en-US" altLang="en-US" sz="2200" dirty="0"/>
              <a:t>	s = “</a:t>
            </a:r>
            <a:r>
              <a:rPr lang="en-US" altLang="en-US" sz="2200" dirty="0" err="1"/>
              <a:t>abc</a:t>
            </a:r>
            <a:r>
              <a:rPr lang="en-US" altLang="en-US" sz="2200" dirty="0"/>
              <a:t>”  </a:t>
            </a:r>
          </a:p>
          <a:p>
            <a:pPr marL="324000" lvl="1" indent="0">
              <a:buNone/>
            </a:pPr>
            <a:r>
              <a:rPr lang="en-US" altLang="en-US" sz="2200" dirty="0"/>
              <a:t>  s[0] </a:t>
            </a:r>
          </a:p>
          <a:p>
            <a:pPr marL="324000" lvl="1" indent="0">
              <a:buNone/>
            </a:pPr>
            <a:r>
              <a:rPr lang="en-US" altLang="en-US" sz="2200" dirty="0"/>
              <a:t>  s[2] </a:t>
            </a:r>
          </a:p>
          <a:p>
            <a:pPr marL="324000" lvl="1" indent="0">
              <a:buNone/>
            </a:pPr>
            <a:r>
              <a:rPr lang="en-US" altLang="en-US" sz="2200" dirty="0"/>
              <a:t>  s[-1] </a:t>
            </a:r>
          </a:p>
        </p:txBody>
      </p:sp>
    </p:spTree>
    <p:extLst>
      <p:ext uri="{BB962C8B-B14F-4D97-AF65-F5344CB8AC3E}">
        <p14:creationId xmlns:p14="http://schemas.microsoft.com/office/powerpoint/2010/main" val="228962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7" y="394531"/>
            <a:ext cx="1064018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What are STRING operators?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1800" y="1692166"/>
            <a:ext cx="10329454" cy="507124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Slicing [start : stop : step] = extracts a substring from a string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if no start is given then 0 is assumed (from the start of the string)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If no step is given then 1 is assumed – all characters from start to stop-1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Character at index stop is not extracted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If index stop is missing it means number of characters in the string</a:t>
            </a:r>
          </a:p>
          <a:p>
            <a:pPr marL="0" indent="0">
              <a:buNone/>
            </a:pPr>
            <a:r>
              <a:rPr lang="en-US" altLang="en-US" sz="2400" dirty="0"/>
              <a:t>	s = “programming”</a:t>
            </a:r>
          </a:p>
          <a:p>
            <a:pPr marL="0" indent="0">
              <a:buNone/>
            </a:pPr>
            <a:r>
              <a:rPr lang="en-US" altLang="en-US" sz="2400" dirty="0"/>
              <a:t>	s[:5] 	= “</a:t>
            </a:r>
            <a:r>
              <a:rPr lang="en-US" altLang="en-US" sz="2400" dirty="0" err="1"/>
              <a:t>progr</a:t>
            </a:r>
            <a:r>
              <a:rPr lang="en-US" altLang="en-US" sz="2400" dirty="0"/>
              <a:t>”</a:t>
            </a:r>
            <a:br>
              <a:rPr lang="en-US" altLang="en-US" sz="2400" dirty="0"/>
            </a:br>
            <a:r>
              <a:rPr lang="en-US" altLang="en-US" sz="2400" dirty="0"/>
              <a:t>	s[2: 6]  =  “</a:t>
            </a:r>
            <a:r>
              <a:rPr lang="en-US" altLang="en-US" sz="2400" dirty="0" err="1"/>
              <a:t>ogra</a:t>
            </a:r>
            <a:r>
              <a:rPr lang="en-US" altLang="en-US" sz="2400" dirty="0"/>
              <a:t>”</a:t>
            </a:r>
          </a:p>
          <a:p>
            <a:pPr marL="0" indent="0">
              <a:buNone/>
            </a:pPr>
            <a:r>
              <a:rPr lang="en-US" altLang="en-US" sz="2400" dirty="0"/>
              <a:t>	s[::2]    = “</a:t>
            </a:r>
            <a:r>
              <a:rPr lang="en-US" altLang="en-US" sz="2400" dirty="0" err="1"/>
              <a:t>pormig</a:t>
            </a:r>
            <a:r>
              <a:rPr lang="en-US" altLang="en-US" sz="2400" dirty="0"/>
              <a:t>” s[0] = p, s[2] = o, s[4] = r, s[6] = m, s[8] =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s[10] =‘g’</a:t>
            </a:r>
          </a:p>
          <a:p>
            <a:pPr marL="0" indent="0">
              <a:buNone/>
            </a:pPr>
            <a:r>
              <a:rPr lang="en-US" altLang="en-US" sz="2400" dirty="0"/>
              <a:t>	s[-4:-1] =  “min” (no ‘g’, because -1 index of the last char in the string and is not included)</a:t>
            </a:r>
          </a:p>
          <a:p>
            <a:pPr marL="0" indent="0">
              <a:buNone/>
            </a:pPr>
            <a:r>
              <a:rPr lang="en-US" altLang="en-US" sz="2400" dirty="0"/>
              <a:t>     s[: : -1] </a:t>
            </a:r>
          </a:p>
        </p:txBody>
      </p:sp>
    </p:spTree>
    <p:extLst>
      <p:ext uri="{BB962C8B-B14F-4D97-AF65-F5344CB8AC3E}">
        <p14:creationId xmlns:p14="http://schemas.microsoft.com/office/powerpoint/2010/main" val="779552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7" y="394531"/>
            <a:ext cx="1064018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What are STRING operators?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1800" y="1692166"/>
            <a:ext cx="10329454" cy="507124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>
                <a:solidFill>
                  <a:srgbClr val="FF0000"/>
                </a:solidFill>
              </a:rPr>
              <a:t>Slicing [start : stop : step] = extracts a substring from a string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if no start is given then 0 is assumed (from the start of the string)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If no step is given then 1 is assumed – all characters from start to stop-1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>
                <a:solidFill>
                  <a:srgbClr val="FF0000"/>
                </a:solidFill>
              </a:rPr>
              <a:t>Character at index stop is not extracted</a:t>
            </a:r>
          </a:p>
          <a:p>
            <a:pPr marL="0" indent="0">
              <a:buNone/>
            </a:pPr>
            <a:r>
              <a:rPr lang="en-US" altLang="en-US" sz="2400" dirty="0"/>
              <a:t>	s = “programming”</a:t>
            </a:r>
          </a:p>
          <a:p>
            <a:pPr marL="0" indent="0">
              <a:buNone/>
            </a:pPr>
            <a:r>
              <a:rPr lang="en-US" altLang="en-US" sz="2400" dirty="0"/>
              <a:t>	s[:5] (all characters from index 0 to 4)</a:t>
            </a:r>
          </a:p>
          <a:p>
            <a:pPr marL="0" indent="0">
              <a:buNone/>
            </a:pPr>
            <a:r>
              <a:rPr lang="en-US" altLang="en-US" sz="2400" dirty="0"/>
              <a:t>	s[2: 6] (all characters from index 2 to 5)</a:t>
            </a:r>
          </a:p>
          <a:p>
            <a:pPr marL="0" indent="0">
              <a:buNone/>
            </a:pPr>
            <a:r>
              <a:rPr lang="en-US" altLang="en-US" sz="2400" dirty="0"/>
              <a:t>	s[::2] (every other character)</a:t>
            </a:r>
          </a:p>
          <a:p>
            <a:pPr marL="0" indent="0">
              <a:buNone/>
            </a:pPr>
            <a:r>
              <a:rPr lang="en-US" altLang="en-US" sz="2400" dirty="0"/>
              <a:t>	s[-4:-1] (from the fourth to last character to the one before last)</a:t>
            </a:r>
          </a:p>
          <a:p>
            <a:pPr marL="0" indent="0">
              <a:buNone/>
            </a:pPr>
            <a:r>
              <a:rPr lang="en-US" altLang="en-US" sz="2400" dirty="0"/>
              <a:t>	s[: : -1] (all characters in the string in reverse order_</a:t>
            </a:r>
          </a:p>
        </p:txBody>
      </p:sp>
    </p:spTree>
    <p:extLst>
      <p:ext uri="{BB962C8B-B14F-4D97-AF65-F5344CB8AC3E}">
        <p14:creationId xmlns:p14="http://schemas.microsoft.com/office/powerpoint/2010/main" val="26407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7" y="394531"/>
            <a:ext cx="1064018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What are Boolean operators?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1800" y="1692166"/>
            <a:ext cx="10329454" cy="507124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and :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 err="1"/>
              <a:t>is_weekend</a:t>
            </a:r>
            <a:r>
              <a:rPr lang="en-US" altLang="en-US" sz="2400" dirty="0"/>
              <a:t> and </a:t>
            </a:r>
            <a:r>
              <a:rPr lang="en-US" altLang="en-US" sz="2400" dirty="0" err="1"/>
              <a:t>is_sunny</a:t>
            </a:r>
            <a:endParaRPr lang="en-US" altLang="en-US" sz="2400" dirty="0"/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(5 &gt; 2) and (5 &lt; 10) 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or 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 </a:t>
            </a:r>
            <a:r>
              <a:rPr lang="en-US" altLang="en-US" sz="2400" dirty="0" err="1"/>
              <a:t>is_odd</a:t>
            </a:r>
            <a:r>
              <a:rPr lang="en-US" altLang="en-US" sz="2400" dirty="0"/>
              <a:t> or </a:t>
            </a:r>
            <a:r>
              <a:rPr lang="en-US" altLang="en-US" sz="2400" dirty="0" err="1"/>
              <a:t>is_prime</a:t>
            </a:r>
            <a:endParaRPr lang="en-US" altLang="en-US" sz="2400" dirty="0"/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(5 &gt; 2) or (5 &lt; -2)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not: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not (5 &gt; 2) </a:t>
            </a:r>
          </a:p>
        </p:txBody>
      </p:sp>
    </p:spTree>
    <p:extLst>
      <p:ext uri="{BB962C8B-B14F-4D97-AF65-F5344CB8AC3E}">
        <p14:creationId xmlns:p14="http://schemas.microsoft.com/office/powerpoint/2010/main" val="1436010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7" y="394531"/>
            <a:ext cx="1064018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What are Comparison operators?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21800" y="1692166"/>
            <a:ext cx="10329454" cy="507124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Equal </a:t>
            </a:r>
            <a:r>
              <a:rPr lang="en-US" altLang="en-US" sz="2400" dirty="0">
                <a:solidFill>
                  <a:srgbClr val="FF0000"/>
                </a:solidFill>
              </a:rPr>
              <a:t>==</a:t>
            </a:r>
            <a:r>
              <a:rPr lang="en-US" altLang="en-US" sz="2400" dirty="0"/>
              <a:t>  compares two values, the result is a Boolean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2 == 2 result is True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”</a:t>
            </a:r>
            <a:r>
              <a:rPr lang="en-US" altLang="en-US" sz="2200" dirty="0" err="1"/>
              <a:t>abc</a:t>
            </a:r>
            <a:r>
              <a:rPr lang="en-US" altLang="en-US" sz="2200" dirty="0"/>
              <a:t>” == “</a:t>
            </a:r>
            <a:r>
              <a:rPr lang="en-US" altLang="en-US" sz="2200" dirty="0" err="1"/>
              <a:t>bacd</a:t>
            </a:r>
            <a:r>
              <a:rPr lang="en-US" altLang="en-US" sz="2200" dirty="0"/>
              <a:t>” result is False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Not equal </a:t>
            </a:r>
            <a:r>
              <a:rPr lang="en-US" altLang="en-US" sz="2400" dirty="0">
                <a:solidFill>
                  <a:srgbClr val="FF0000"/>
                </a:solidFill>
              </a:rPr>
              <a:t>!=</a:t>
            </a:r>
            <a:r>
              <a:rPr lang="en-US" altLang="en-US" sz="2400" dirty="0"/>
              <a:t>  result is Boolean: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 2 != 2  False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“</a:t>
            </a:r>
            <a:r>
              <a:rPr lang="en-US" altLang="en-US" sz="2400" dirty="0" err="1"/>
              <a:t>abc</a:t>
            </a:r>
            <a:r>
              <a:rPr lang="en-US" altLang="en-US" sz="2400" dirty="0"/>
              <a:t>” != “</a:t>
            </a:r>
            <a:r>
              <a:rPr lang="en-US" altLang="en-US" sz="2400" dirty="0" err="1"/>
              <a:t>bacd</a:t>
            </a:r>
            <a:r>
              <a:rPr lang="en-US" altLang="en-US" sz="2400" dirty="0"/>
              <a:t>” True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Greater (</a:t>
            </a:r>
            <a:r>
              <a:rPr lang="en-US" altLang="en-US" sz="2400" dirty="0">
                <a:solidFill>
                  <a:srgbClr val="FF0000"/>
                </a:solidFill>
              </a:rPr>
              <a:t>&gt;</a:t>
            </a:r>
            <a:r>
              <a:rPr lang="en-US" altLang="en-US" sz="2400" dirty="0"/>
              <a:t>), or greater than or equal (</a:t>
            </a:r>
            <a:r>
              <a:rPr lang="en-US" altLang="en-US" sz="2400" dirty="0">
                <a:solidFill>
                  <a:srgbClr val="FF0000"/>
                </a:solidFill>
              </a:rPr>
              <a:t>&gt;=</a:t>
            </a:r>
            <a:r>
              <a:rPr lang="en-US" altLang="en-US" sz="2400" dirty="0"/>
              <a:t>):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5 &gt; 2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2 &gt;= 2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600" dirty="0"/>
              <a:t>Less (</a:t>
            </a:r>
            <a:r>
              <a:rPr lang="en-US" altLang="en-US" sz="2600" dirty="0">
                <a:solidFill>
                  <a:srgbClr val="FF0000"/>
                </a:solidFill>
              </a:rPr>
              <a:t>&lt;</a:t>
            </a:r>
            <a:r>
              <a:rPr lang="en-US" altLang="en-US" sz="2600" dirty="0"/>
              <a:t>) or less than or equal (</a:t>
            </a:r>
            <a:r>
              <a:rPr lang="en-US" altLang="en-US" sz="2600" dirty="0">
                <a:solidFill>
                  <a:srgbClr val="FF0000"/>
                </a:solidFill>
              </a:rPr>
              <a:t>&lt;=</a:t>
            </a:r>
            <a:r>
              <a:rPr lang="en-US" altLang="en-US" sz="2600" dirty="0"/>
              <a:t>):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5 &lt; 2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400" dirty="0"/>
              <a:t>2 &lt;= 2</a:t>
            </a:r>
          </a:p>
        </p:txBody>
      </p:sp>
    </p:spTree>
    <p:extLst>
      <p:ext uri="{BB962C8B-B14F-4D97-AF65-F5344CB8AC3E}">
        <p14:creationId xmlns:p14="http://schemas.microsoft.com/office/powerpoint/2010/main" val="3330065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732007" y="394531"/>
            <a:ext cx="10640185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400" dirty="0"/>
              <a:t>What is operator precedence?</a:t>
            </a:r>
            <a:endParaRPr lang="he-IL" altLang="en-US" sz="4400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503512" y="1890075"/>
            <a:ext cx="10329454" cy="5071242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en-US" sz="2400" dirty="0"/>
              <a:t>In an expression with multiple operators in which order they are computed?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Parenthesis 									</a:t>
            </a:r>
            <a:r>
              <a:rPr lang="en-US" altLang="en-US" sz="2200" dirty="0">
                <a:solidFill>
                  <a:srgbClr val="FF0000"/>
                </a:solidFill>
              </a:rPr>
              <a:t>HIGHEST PRECEDENCE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Exponentiation (**)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*, /, // , %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+, -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Comparisons: &gt;, &lt;, &lt;=, &gt;=, ==, != </a:t>
            </a:r>
          </a:p>
          <a:p>
            <a:pPr marL="781200" lvl="1" indent="-457200">
              <a:buFont typeface="+mj-lt"/>
              <a:buAutoNum type="arabicPeriod"/>
            </a:pPr>
            <a:r>
              <a:rPr lang="en-US" altLang="en-US" sz="2200" dirty="0"/>
              <a:t>Boolean operators: not,</a:t>
            </a:r>
            <a:r>
              <a:rPr lang="en-US" altLang="en-US" sz="2200" dirty="0">
                <a:sym typeface="Wingdings" pitchFamily="2" charset="2"/>
              </a:rPr>
              <a:t> </a:t>
            </a:r>
            <a:r>
              <a:rPr lang="en-US" altLang="en-US" sz="2200" dirty="0"/>
              <a:t>and, or				</a:t>
            </a:r>
            <a:r>
              <a:rPr lang="en-US" altLang="en-US" sz="2200" dirty="0">
                <a:solidFill>
                  <a:srgbClr val="FF0000"/>
                </a:solidFill>
              </a:rPr>
              <a:t>LOWEST PRECEDENCE</a:t>
            </a:r>
            <a:endParaRPr lang="en-US" altLang="en-US" sz="2400" dirty="0"/>
          </a:p>
          <a:p>
            <a:pPr marL="324000" lvl="1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(2 + 3*5)/5 – 6 % 4  			(3*5), (2+ 15), 17/5 = 3.4, (6%4 = 2), 3.4-2 = 1.4</a:t>
            </a:r>
          </a:p>
          <a:p>
            <a:pPr marL="324000" lvl="1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not (5 &gt; 2) and 5 &gt; 4          (5 &gt; 2) = True, (5 &gt; 4) = True not(True) and True =  False and True = False</a:t>
            </a:r>
          </a:p>
          <a:p>
            <a:pPr marL="324000" lvl="1" indent="0">
              <a:buNone/>
            </a:pPr>
            <a:r>
              <a:rPr lang="en-US" sz="2200" dirty="0">
                <a:solidFill>
                  <a:srgbClr val="FF0000"/>
                </a:solidFill>
              </a:rPr>
              <a:t>not 5 &gt; 2 or 5 &gt; 4  False or True = True </a:t>
            </a:r>
          </a:p>
          <a:p>
            <a:pPr marL="457200" indent="-457200">
              <a:buFont typeface="+mj-lt"/>
              <a:buAutoNum type="arabicPeriod"/>
            </a:pPr>
            <a:endParaRPr lang="en-US" altLang="en-US" sz="2400" dirty="0"/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39C6C77E-75A1-E7B2-F08E-7AA15A6238A7}"/>
              </a:ext>
            </a:extLst>
          </p:cNvPr>
          <p:cNvSpPr/>
          <p:nvPr/>
        </p:nvSpPr>
        <p:spPr>
          <a:xfrm>
            <a:off x="7598664" y="2779776"/>
            <a:ext cx="429768" cy="185623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409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0A0E-83EB-A604-EFA7-57E888CA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What are mixed type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0EBD0-E2F7-C51D-C647-DF2321E56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4607842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An expression with different data types operands</a:t>
            </a:r>
          </a:p>
          <a:p>
            <a:r>
              <a:rPr lang="en-US" sz="2400" dirty="0"/>
              <a:t>Expressions with Integer and Float → all operands convert to Float, result is Float</a:t>
            </a:r>
          </a:p>
          <a:p>
            <a:pPr lvl="1"/>
            <a:r>
              <a:rPr lang="en-US" sz="2200" dirty="0"/>
              <a:t>6 + 5/3.2  result is 7.5625</a:t>
            </a:r>
          </a:p>
          <a:p>
            <a:r>
              <a:rPr lang="en-US" sz="2400" dirty="0"/>
              <a:t>Mixed Integer Division:</a:t>
            </a:r>
          </a:p>
          <a:p>
            <a:pPr lvl="1"/>
            <a:r>
              <a:rPr lang="en-US" sz="2200" dirty="0"/>
              <a:t>6 / 5  6, 5 are converted to float,  result is float (1.2)</a:t>
            </a:r>
          </a:p>
          <a:p>
            <a:pPr lvl="1"/>
            <a:r>
              <a:rPr lang="en-US" sz="2200" dirty="0"/>
              <a:t>6 // 5.0 result is 1.0 </a:t>
            </a:r>
          </a:p>
          <a:p>
            <a:r>
              <a:rPr lang="en-US" sz="2400" dirty="0"/>
              <a:t>Booleans convert to int (True = 1, False = 0)</a:t>
            </a:r>
          </a:p>
          <a:p>
            <a:pPr lvl="1"/>
            <a:r>
              <a:rPr lang="en-US" sz="2200" dirty="0"/>
              <a:t>True + 5  result is 6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Any non-zero value is True, zero value is False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You can change the type of a data temporarily with </a:t>
            </a:r>
            <a:r>
              <a:rPr lang="en-US" sz="2400" dirty="0" err="1">
                <a:solidFill>
                  <a:srgbClr val="FF0000"/>
                </a:solidFill>
              </a:rPr>
              <a:t>new_type</a:t>
            </a:r>
            <a:r>
              <a:rPr lang="en-US" sz="2400" dirty="0">
                <a:solidFill>
                  <a:srgbClr val="FF0000"/>
                </a:solidFill>
              </a:rPr>
              <a:t>(data or variable) – type conversion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int(3.5) = 3 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float(3) = 3.0</a:t>
            </a:r>
          </a:p>
        </p:txBody>
      </p:sp>
    </p:spTree>
    <p:extLst>
      <p:ext uri="{BB962C8B-B14F-4D97-AF65-F5344CB8AC3E}">
        <p14:creationId xmlns:p14="http://schemas.microsoft.com/office/powerpoint/2010/main" val="1834655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Operators and expressions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85567"/>
            <a:ext cx="10143668" cy="4485503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is an operator?</a:t>
            </a:r>
          </a:p>
          <a:p>
            <a:pPr eaLnBrk="1" hangingPunct="1"/>
            <a:r>
              <a:rPr lang="en-US" altLang="en-US" sz="2600" dirty="0"/>
              <a:t>What are integer operators?</a:t>
            </a:r>
            <a:endParaRPr lang="en-US" altLang="en-US" sz="2400" dirty="0"/>
          </a:p>
          <a:p>
            <a:pPr eaLnBrk="1" hangingPunct="1"/>
            <a:r>
              <a:rPr lang="en-US" altLang="en-US" sz="2600" dirty="0"/>
              <a:t>What are floating point operators?</a:t>
            </a:r>
          </a:p>
          <a:p>
            <a:pPr eaLnBrk="1" hangingPunct="1"/>
            <a:r>
              <a:rPr lang="en-US" altLang="en-US" sz="2600" dirty="0"/>
              <a:t>What are string operators?</a:t>
            </a:r>
          </a:p>
          <a:p>
            <a:pPr eaLnBrk="1" hangingPunct="1"/>
            <a:r>
              <a:rPr lang="en-US" altLang="en-US" sz="2600" dirty="0"/>
              <a:t>What are Boolean operators?</a:t>
            </a:r>
          </a:p>
          <a:p>
            <a:pPr eaLnBrk="1" hangingPunct="1"/>
            <a:r>
              <a:rPr lang="en-US" altLang="en-US" sz="2600" dirty="0"/>
              <a:t>What are comparison operators?</a:t>
            </a:r>
          </a:p>
          <a:p>
            <a:pPr eaLnBrk="1" hangingPunct="1"/>
            <a:r>
              <a:rPr lang="en-US" altLang="en-US" sz="2600" dirty="0"/>
              <a:t>What is operator precedence?</a:t>
            </a:r>
          </a:p>
          <a:p>
            <a:pPr eaLnBrk="1" hangingPunct="1"/>
            <a:r>
              <a:rPr lang="en-US" altLang="en-US" sz="2600" dirty="0"/>
              <a:t>What are mixed-type expressions and how ar</a:t>
            </a:r>
            <a:r>
              <a:rPr lang="en-US" altLang="en-US" sz="2400" dirty="0"/>
              <a:t>e they evaluated?</a:t>
            </a:r>
          </a:p>
        </p:txBody>
      </p:sp>
    </p:spTree>
    <p:extLst>
      <p:ext uri="{BB962C8B-B14F-4D97-AF65-F5344CB8AC3E}">
        <p14:creationId xmlns:p14="http://schemas.microsoft.com/office/powerpoint/2010/main" val="333569334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300</TotalTime>
  <Words>1186</Words>
  <Application>Microsoft Macintosh PowerPoint</Application>
  <PresentationFormat>Widescreen</PresentationFormat>
  <Paragraphs>135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Gill Sans MT</vt:lpstr>
      <vt:lpstr>Wingdings</vt:lpstr>
      <vt:lpstr>Wingdings 2</vt:lpstr>
      <vt:lpstr>Dividend</vt:lpstr>
      <vt:lpstr>Week 2: Operators anD Expressions</vt:lpstr>
      <vt:lpstr>Operators and expressions</vt:lpstr>
      <vt:lpstr>What is an operator?</vt:lpstr>
      <vt:lpstr>What are integer operators</vt:lpstr>
      <vt:lpstr>What are Floating point operators?</vt:lpstr>
      <vt:lpstr>What are STRING operators?</vt:lpstr>
      <vt:lpstr>What are STRING operators?</vt:lpstr>
      <vt:lpstr>What are STRING operators?</vt:lpstr>
      <vt:lpstr>What are STRING operators?</vt:lpstr>
      <vt:lpstr>What are Boolean operators?</vt:lpstr>
      <vt:lpstr>What are Comparison operators?</vt:lpstr>
      <vt:lpstr>What is operator precedence?</vt:lpstr>
      <vt:lpstr>What are mixed type expressions</vt:lpstr>
      <vt:lpstr>Operators and expressions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Simona Doboli</dc:creator>
  <cp:lastModifiedBy>Simona Doboli</cp:lastModifiedBy>
  <cp:revision>10</cp:revision>
  <cp:lastPrinted>2025-09-08T17:11:46Z</cp:lastPrinted>
  <dcterms:created xsi:type="dcterms:W3CDTF">2025-08-27T16:38:40Z</dcterms:created>
  <dcterms:modified xsi:type="dcterms:W3CDTF">2025-09-08T19:54:35Z</dcterms:modified>
</cp:coreProperties>
</file>