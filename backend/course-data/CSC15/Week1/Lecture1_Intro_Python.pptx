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8" r:id="rId1"/>
  </p:sldMasterIdLst>
  <p:handoutMasterIdLst>
    <p:handoutMasterId r:id="rId19"/>
  </p:handoutMasterIdLst>
  <p:sldIdLst>
    <p:sldId id="256" r:id="rId2"/>
    <p:sldId id="280" r:id="rId3"/>
    <p:sldId id="257" r:id="rId4"/>
    <p:sldId id="259" r:id="rId5"/>
    <p:sldId id="269" r:id="rId6"/>
    <p:sldId id="258" r:id="rId7"/>
    <p:sldId id="262" r:id="rId8"/>
    <p:sldId id="277" r:id="rId9"/>
    <p:sldId id="273" r:id="rId10"/>
    <p:sldId id="281" r:id="rId11"/>
    <p:sldId id="271" r:id="rId12"/>
    <p:sldId id="278" r:id="rId13"/>
    <p:sldId id="282" r:id="rId14"/>
    <p:sldId id="279" r:id="rId15"/>
    <p:sldId id="284" r:id="rId16"/>
    <p:sldId id="274" r:id="rId17"/>
    <p:sldId id="276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7"/>
    <p:restoredTop sz="94650"/>
  </p:normalViewPr>
  <p:slideViewPr>
    <p:cSldViewPr snapToGrid="0" snapToObjects="1">
      <p:cViewPr varScale="1">
        <p:scale>
          <a:sx n="124" d="100"/>
          <a:sy n="124" d="100"/>
        </p:scale>
        <p:origin x="2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35C8BB-6F47-094C-8A77-7EC190099E6C}" type="datetimeFigureOut">
              <a:rPr lang="en-US" smtClean="0"/>
              <a:t>9/10/25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6F3723-E121-844D-940F-A891E9D4F9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9429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418E1D4-1765-0448-B8BC-05B937A57FD1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9CCE815-75DC-5C48-9762-D22E1A652C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190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8E1D4-1765-0448-B8BC-05B937A57FD1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19CCE815-75DC-5C48-9762-D22E1A652C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81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418E1D4-1765-0448-B8BC-05B937A57FD1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9CCE815-75DC-5C48-9762-D22E1A652C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010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8E1D4-1765-0448-B8BC-05B937A57FD1}" type="datetimeFigureOut">
              <a:rPr lang="en-US" smtClean="0"/>
              <a:t>9/10/25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CE815-75DC-5C48-9762-D22E1A652C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856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8E1D4-1765-0448-B8BC-05B937A57FD1}" type="datetimeFigureOut">
              <a:rPr lang="en-US" smtClean="0"/>
              <a:t>9/10/25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CE815-75DC-5C48-9762-D22E1A652C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012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8E1D4-1765-0448-B8BC-05B937A57FD1}" type="datetimeFigureOut">
              <a:rPr lang="en-US" smtClean="0"/>
              <a:t>9/10/25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CE815-75DC-5C48-9762-D22E1A652C2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800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8E1D4-1765-0448-B8BC-05B937A57FD1}" type="datetimeFigureOut">
              <a:rPr lang="en-US" smtClean="0"/>
              <a:t>9/10/25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CE815-75DC-5C48-9762-D22E1A652C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780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418E1D4-1765-0448-B8BC-05B937A57FD1}" type="datetimeFigureOut">
              <a:rPr lang="en-US" smtClean="0"/>
              <a:t>9/10/25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9CCE815-75DC-5C48-9762-D22E1A652C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07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8E1D4-1765-0448-B8BC-05B937A57FD1}" type="datetimeFigureOut">
              <a:rPr lang="en-US" smtClean="0"/>
              <a:t>9/10/25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CE815-75DC-5C48-9762-D22E1A652C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824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8E1D4-1765-0448-B8BC-05B937A57FD1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CE815-75DC-5C48-9762-D22E1A652C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832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418E1D4-1765-0448-B8BC-05B937A57FD1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9CCE815-75DC-5C48-9762-D22E1A652C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456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0418E1D4-1765-0448-B8BC-05B937A57FD1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19CCE815-75DC-5C48-9762-D22E1A652C2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10437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ogramiz.com/python-programming/examples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1143" y="1005839"/>
            <a:ext cx="6939304" cy="4805025"/>
          </a:xfrm>
        </p:spPr>
        <p:txBody>
          <a:bodyPr anchor="ctr">
            <a:normAutofit/>
          </a:bodyPr>
          <a:lstStyle/>
          <a:p>
            <a:r>
              <a:rPr lang="en-US" sz="6000" b="1" dirty="0">
                <a:solidFill>
                  <a:schemeClr val="tx2"/>
                </a:solidFill>
              </a:rPr>
              <a:t>Introduction to Python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8267" y="1009397"/>
            <a:ext cx="3078342" cy="4801468"/>
          </a:xfrm>
        </p:spPr>
        <p:txBody>
          <a:bodyPr anchor="ctr">
            <a:normAutofit/>
          </a:bodyPr>
          <a:lstStyle/>
          <a:p>
            <a:pPr algn="ctr"/>
            <a:endParaRPr lang="en-US" sz="24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5730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DFEF-E4ED-EAEF-5AD2-FD1897AEC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Topics</a:t>
            </a:r>
            <a:r>
              <a:rPr lang="en-US" sz="4400" dirty="0"/>
              <a:t>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EF2AB-ECED-36D3-14BA-8B1DAAD4B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000" dirty="0"/>
              <a:t>What is Python?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000" dirty="0"/>
              <a:t>What is a high-level language?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000" dirty="0"/>
              <a:t>What is a program?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000" dirty="0"/>
              <a:t>What is programming?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000" dirty="0"/>
              <a:t>What is an algorithm?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000" dirty="0"/>
              <a:t>What is pseudo-code?</a:t>
            </a:r>
          </a:p>
        </p:txBody>
      </p:sp>
    </p:spTree>
    <p:extLst>
      <p:ext uri="{BB962C8B-B14F-4D97-AF65-F5344CB8AC3E}">
        <p14:creationId xmlns:p14="http://schemas.microsoft.com/office/powerpoint/2010/main" val="593293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What is Python?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A high-level programming language.</a:t>
            </a:r>
          </a:p>
          <a:p>
            <a:endParaRPr lang="en-US" sz="2800" dirty="0"/>
          </a:p>
          <a:p>
            <a:r>
              <a:rPr lang="en-US" sz="2800" dirty="0"/>
              <a:t>A programming language is a set of computer commands (instructions, statements) and rules.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331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4400" b="1" dirty="0"/>
              <a:t>High-Level Languages</a:t>
            </a:r>
            <a:endParaRPr lang="he-IL" altLang="en-US" sz="4400" b="1" dirty="0"/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>
          <a:xfrm>
            <a:off x="581193" y="1804086"/>
            <a:ext cx="11029615" cy="4845545"/>
          </a:xfrm>
        </p:spPr>
        <p:txBody>
          <a:bodyPr>
            <a:noAutofit/>
          </a:bodyPr>
          <a:lstStyle/>
          <a:p>
            <a:pPr eaLnBrk="1" hangingPunct="1">
              <a:buFontTx/>
              <a:buChar char="•"/>
            </a:pPr>
            <a:r>
              <a:rPr lang="en-US" altLang="en-US" sz="2800" b="1" u="sng" dirty="0">
                <a:solidFill>
                  <a:srgbClr val="FF0000"/>
                </a:solidFill>
              </a:rPr>
              <a:t>Low-level language</a:t>
            </a:r>
            <a:r>
              <a:rPr lang="en-US" altLang="en-US" sz="2800" dirty="0"/>
              <a:t>: close in nature to machine language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altLang="en-US" sz="2800" dirty="0"/>
              <a:t>Example: assembly language</a:t>
            </a:r>
          </a:p>
          <a:p>
            <a:pPr lvl="1" eaLnBrk="1" hangingPunct="1">
              <a:buFont typeface="Arial" charset="0"/>
              <a:buChar char="•"/>
            </a:pPr>
            <a:endParaRPr lang="en-US" altLang="en-US" sz="2800" dirty="0"/>
          </a:p>
          <a:p>
            <a:pPr>
              <a:buFontTx/>
              <a:buChar char="•"/>
            </a:pPr>
            <a:r>
              <a:rPr lang="en-US" altLang="en-US" sz="2800" b="1" u="sng" dirty="0">
                <a:solidFill>
                  <a:srgbClr val="FF0000"/>
                </a:solidFill>
              </a:rPr>
              <a:t>High-Level language</a:t>
            </a:r>
            <a:r>
              <a:rPr lang="en-US" altLang="en-US" sz="2800" dirty="0"/>
              <a:t>: commands and syntax is closer to natural    language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altLang="en-US" sz="2800" dirty="0"/>
              <a:t>More intuitive to write programs and to understand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altLang="en-US" sz="2800" dirty="0"/>
              <a:t>Examples of high-level programming languages: </a:t>
            </a:r>
            <a:r>
              <a:rPr lang="en-US" altLang="en-US" sz="2800" dirty="0" err="1"/>
              <a:t>Ptyhon</a:t>
            </a:r>
            <a:r>
              <a:rPr lang="en-US" altLang="en-US" sz="2800" dirty="0"/>
              <a:t>, Java, C++</a:t>
            </a:r>
          </a:p>
        </p:txBody>
      </p:sp>
    </p:spTree>
    <p:extLst>
      <p:ext uri="{BB962C8B-B14F-4D97-AF65-F5344CB8AC3E}">
        <p14:creationId xmlns:p14="http://schemas.microsoft.com/office/powerpoint/2010/main" val="1270754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899" y="1348105"/>
            <a:ext cx="6350000" cy="3581400"/>
          </a:xfrm>
        </p:spPr>
      </p:pic>
      <p:sp>
        <p:nvSpPr>
          <p:cNvPr id="7" name="TextBox 6"/>
          <p:cNvSpPr txBox="1"/>
          <p:nvPr/>
        </p:nvSpPr>
        <p:spPr>
          <a:xfrm>
            <a:off x="487467" y="855662"/>
            <a:ext cx="701435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b="1" dirty="0"/>
              <a:t>Assembly code- just a third of the whole program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8346" y="3603891"/>
            <a:ext cx="6758609" cy="2984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74364" y="3020517"/>
            <a:ext cx="548772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b="1" dirty="0"/>
              <a:t>Python language  - </a:t>
            </a:r>
            <a:r>
              <a:rPr lang="en-US" sz="2600" b="1"/>
              <a:t>same functionality </a:t>
            </a:r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1547060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What is a program?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878226"/>
            <a:ext cx="10515600" cy="4744995"/>
          </a:xfrm>
        </p:spPr>
        <p:txBody>
          <a:bodyPr>
            <a:normAutofit lnSpcReduction="10000"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A sequence of computer commands</a:t>
            </a:r>
          </a:p>
          <a:p>
            <a:pPr lvl="2"/>
            <a:r>
              <a:rPr lang="en-US" sz="2400" dirty="0"/>
              <a:t>Add two numbers</a:t>
            </a:r>
          </a:p>
          <a:p>
            <a:pPr lvl="2"/>
            <a:r>
              <a:rPr lang="en-US" sz="2400" dirty="0"/>
              <a:t>Repeat 10 times s = s + 1  </a:t>
            </a:r>
          </a:p>
          <a:p>
            <a:pPr lvl="2"/>
            <a:r>
              <a:rPr lang="en-US" sz="2400" dirty="0"/>
              <a:t>Repeat until a stop character is introduced</a:t>
            </a:r>
          </a:p>
          <a:p>
            <a:pPr lvl="2"/>
            <a:r>
              <a:rPr lang="en-US" sz="2400" dirty="0"/>
              <a:t> If  stock prices today are higher than yesterday display ‘happy’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And data: </a:t>
            </a:r>
          </a:p>
          <a:p>
            <a:pPr lvl="2"/>
            <a:r>
              <a:rPr lang="en-US" sz="2400" dirty="0"/>
              <a:t>Integers: 10, -5,   </a:t>
            </a:r>
          </a:p>
          <a:p>
            <a:pPr lvl="2"/>
            <a:r>
              <a:rPr lang="en-US" sz="2400" dirty="0"/>
              <a:t>Real: 3.46, 0.3,  </a:t>
            </a:r>
          </a:p>
          <a:p>
            <a:pPr lvl="2"/>
            <a:r>
              <a:rPr lang="en-US" sz="2400" dirty="0"/>
              <a:t>Boolean:  True, </a:t>
            </a:r>
            <a:r>
              <a:rPr lang="en-US" sz="2400" dirty="0" err="1"/>
              <a:t>Falsse</a:t>
            </a:r>
            <a:endParaRPr lang="en-US" sz="2400" dirty="0"/>
          </a:p>
          <a:p>
            <a:pPr lvl="2"/>
            <a:r>
              <a:rPr lang="en-US" sz="2400" dirty="0"/>
              <a:t>Strings: ‘c’, ‘CSC15’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9473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7638" y="374554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 b="1" dirty="0"/>
              <a:t>Sample Python program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326" y="1782045"/>
            <a:ext cx="11171623" cy="2274800"/>
          </a:xfrm>
        </p:spPr>
      </p:pic>
      <p:sp>
        <p:nvSpPr>
          <p:cNvPr id="4" name="TextBox 3"/>
          <p:cNvSpPr txBox="1"/>
          <p:nvPr/>
        </p:nvSpPr>
        <p:spPr>
          <a:xfrm>
            <a:off x="1592826" y="224175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592826" y="2123767"/>
            <a:ext cx="2654709" cy="12831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42819" y="4174833"/>
            <a:ext cx="11353767" cy="2308324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Comment each line</a:t>
            </a:r>
          </a:p>
          <a:p>
            <a:endParaRPr lang="en-US" dirty="0"/>
          </a:p>
          <a:p>
            <a:r>
              <a:rPr lang="en-US" dirty="0"/>
              <a:t>Line 1,3, 6</a:t>
            </a:r>
          </a:p>
          <a:p>
            <a:r>
              <a:rPr lang="en-US" dirty="0"/>
              <a:t>Line 4</a:t>
            </a:r>
          </a:p>
          <a:p>
            <a:r>
              <a:rPr lang="en-US" dirty="0"/>
              <a:t>Line 7</a:t>
            </a:r>
          </a:p>
          <a:p>
            <a:r>
              <a:rPr lang="en-US" dirty="0"/>
              <a:t>Line 8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722051" y="3805501"/>
            <a:ext cx="65802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From: </a:t>
            </a:r>
            <a:r>
              <a:rPr lang="en-US" dirty="0">
                <a:hlinkClick r:id="rId3"/>
              </a:rPr>
              <a:t>https://www.programiz.com/python-programming/examples</a:t>
            </a:r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9338532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What is programming?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1" y="2013001"/>
            <a:ext cx="11029615" cy="432601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Step 1</a:t>
            </a:r>
            <a:r>
              <a:rPr lang="en-US" sz="2400" b="1" dirty="0"/>
              <a:t>: </a:t>
            </a:r>
            <a:r>
              <a:rPr lang="en-US" sz="2400" dirty="0"/>
              <a:t>Problem  description</a:t>
            </a:r>
          </a:p>
          <a:p>
            <a:pPr marL="0" indent="0">
              <a:buNone/>
            </a:pPr>
            <a:r>
              <a:rPr lang="en-US" sz="2400" dirty="0"/>
              <a:t>	 Identify inputs and outputs.</a:t>
            </a:r>
          </a:p>
          <a:p>
            <a:pPr marL="0" indent="0">
              <a:buNone/>
            </a:pPr>
            <a:r>
              <a:rPr lang="en-US" sz="2400" dirty="0"/>
              <a:t>	 Use cases: Choose a few input values and identify the output values</a:t>
            </a:r>
          </a:p>
          <a:p>
            <a:pPr marL="0" indent="0">
              <a:buNone/>
            </a:pPr>
            <a:r>
              <a:rPr lang="en-US" sz="2400" dirty="0"/>
              <a:t>	 Main processing steps. 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  <a:sym typeface="Wingdings"/>
              </a:rPr>
              <a:t>Step 2: </a:t>
            </a:r>
            <a:r>
              <a:rPr lang="en-US" sz="2400" dirty="0">
                <a:sym typeface="Wingdings"/>
              </a:rPr>
              <a:t>Design an algorithm that process any inputs and produces the correct output.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70C0"/>
                </a:solidFill>
                <a:sym typeface="Wingdings"/>
              </a:rPr>
              <a:t>		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  <a:sym typeface="Wingdings"/>
              </a:rPr>
              <a:t>Step 3</a:t>
            </a:r>
            <a:r>
              <a:rPr lang="en-US" sz="2400" b="1" dirty="0">
                <a:sym typeface="Wingdings"/>
              </a:rPr>
              <a:t>:</a:t>
            </a:r>
            <a:r>
              <a:rPr lang="en-US" sz="2400" dirty="0">
                <a:sym typeface="Wingdings"/>
              </a:rPr>
              <a:t> Implement the algorithm in a programming language.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07810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Example Problem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192" y="2307604"/>
            <a:ext cx="10601673" cy="2622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780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B6028-38F1-573D-E025-34CDBBB13B2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43697" y="-74141"/>
            <a:ext cx="10515600" cy="1325562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Step 1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595FDF-EFCA-E054-A7A5-431526B19F54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1964724" y="1368805"/>
            <a:ext cx="10515600" cy="521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/>
              <a:t>What are the inputs to the program?</a:t>
            </a:r>
          </a:p>
          <a:p>
            <a:pPr marL="0" indent="0">
              <a:buNone/>
            </a:pPr>
            <a:endParaRPr lang="en-US" sz="2600" b="1" dirty="0"/>
          </a:p>
          <a:p>
            <a:r>
              <a:rPr lang="en-US" sz="2600" b="1" dirty="0"/>
              <a:t>What are the outputs?</a:t>
            </a:r>
          </a:p>
          <a:p>
            <a:endParaRPr lang="en-US" sz="2600" b="1" dirty="0"/>
          </a:p>
          <a:p>
            <a:r>
              <a:rPr lang="en-US" sz="2600" b="1" dirty="0"/>
              <a:t>Use cases: </a:t>
            </a:r>
          </a:p>
          <a:p>
            <a:endParaRPr lang="en-US" sz="2600" b="1" dirty="0"/>
          </a:p>
          <a:p>
            <a:pPr marL="0" indent="0">
              <a:buNone/>
            </a:pPr>
            <a:endParaRPr lang="en-US" sz="2600" b="1" dirty="0"/>
          </a:p>
          <a:p>
            <a:r>
              <a:rPr lang="en-US" sz="2600" b="1" dirty="0"/>
              <a:t>Main steps (how to get from inputs to outputs</a:t>
            </a:r>
            <a:r>
              <a:rPr lang="en-US" sz="2400" b="1" dirty="0"/>
              <a:t>)</a:t>
            </a:r>
          </a:p>
          <a:p>
            <a:endParaRPr lang="en-US" dirty="0">
              <a:solidFill>
                <a:srgbClr val="0070C0"/>
              </a:solidFill>
            </a:endParaRPr>
          </a:p>
          <a:p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60738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 idx="4294967295"/>
          </p:nvPr>
        </p:nvSpPr>
        <p:spPr>
          <a:xfrm>
            <a:off x="581025" y="578107"/>
            <a:ext cx="11029950" cy="1014413"/>
          </a:xfrm>
        </p:spPr>
        <p:txBody>
          <a:bodyPr/>
          <a:lstStyle/>
          <a:p>
            <a:pPr eaLnBrk="1" hangingPunct="1"/>
            <a:r>
              <a:rPr lang="en-US" altLang="en-US" b="1" dirty="0">
                <a:solidFill>
                  <a:srgbClr val="FF0000"/>
                </a:solidFill>
              </a:rPr>
              <a:t>Step 2:</a:t>
            </a:r>
            <a:r>
              <a:rPr lang="en-US" altLang="en-US" b="1" dirty="0"/>
              <a:t>  </a:t>
            </a:r>
            <a:r>
              <a:rPr lang="en-US" altLang="en-US" b="1" dirty="0">
                <a:solidFill>
                  <a:schemeClr val="tx1"/>
                </a:solidFill>
              </a:rPr>
              <a:t>Designing the algorithm</a:t>
            </a:r>
            <a:endParaRPr lang="he-IL" altLang="en-US" b="1" dirty="0">
              <a:solidFill>
                <a:schemeClr val="tx1"/>
              </a:solidFill>
            </a:endParaRPr>
          </a:p>
        </p:txBody>
      </p:sp>
      <p:sp>
        <p:nvSpPr>
          <p:cNvPr id="6147" name="Content Placeholder 2"/>
          <p:cNvSpPr>
            <a:spLocks noGrp="1"/>
          </p:cNvSpPr>
          <p:nvPr>
            <p:ph idx="4294967295"/>
          </p:nvPr>
        </p:nvSpPr>
        <p:spPr>
          <a:xfrm>
            <a:off x="1000898" y="2070014"/>
            <a:ext cx="11029950" cy="3678238"/>
          </a:xfrm>
        </p:spPr>
        <p:txBody>
          <a:bodyPr>
            <a:normAutofit/>
          </a:bodyPr>
          <a:lstStyle/>
          <a:p>
            <a:pPr eaLnBrk="1" hangingPunct="1">
              <a:buFont typeface="Arial" charset="0"/>
              <a:buChar char="•"/>
            </a:pPr>
            <a:r>
              <a:rPr lang="en-US" altLang="en-US" sz="2600" b="1" dirty="0"/>
              <a:t>Determine the steps that must be taken to perform the task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altLang="en-US" sz="2600" dirty="0"/>
              <a:t>Break down required task into a series of steps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altLang="en-US" sz="2600" dirty="0"/>
              <a:t>Create an algorithm, listing logical steps that must be taken</a:t>
            </a:r>
          </a:p>
          <a:p>
            <a:pPr lvl="1" eaLnBrk="1" hangingPunct="1">
              <a:buFont typeface="Arial" charset="0"/>
              <a:buChar char="•"/>
            </a:pPr>
            <a:endParaRPr lang="en-US" altLang="en-US" sz="2600" dirty="0"/>
          </a:p>
          <a:p>
            <a:pPr eaLnBrk="1" hangingPunct="1">
              <a:buFont typeface="Arial" charset="0"/>
              <a:buChar char="•"/>
            </a:pPr>
            <a:r>
              <a:rPr lang="en-US" altLang="en-US" sz="2600" b="1" u="sng" dirty="0"/>
              <a:t>Algorithm</a:t>
            </a:r>
            <a:r>
              <a:rPr lang="en-US" altLang="en-US" sz="2600" b="1" dirty="0"/>
              <a:t>: </a:t>
            </a:r>
            <a:r>
              <a:rPr lang="en-US" altLang="en-US" sz="2600" dirty="0"/>
              <a:t>set of well-defined logical steps that must be taken to perform a task</a:t>
            </a:r>
          </a:p>
        </p:txBody>
      </p:sp>
    </p:spTree>
    <p:extLst>
      <p:ext uri="{BB962C8B-B14F-4D97-AF65-F5344CB8AC3E}">
        <p14:creationId xmlns:p14="http://schemas.microsoft.com/office/powerpoint/2010/main" val="20623626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How to write an algorithm?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989438"/>
            <a:ext cx="11029615" cy="3869361"/>
          </a:xfrm>
        </p:spPr>
        <p:txBody>
          <a:bodyPr>
            <a:normAutofit lnSpcReduction="10000"/>
          </a:bodyPr>
          <a:lstStyle/>
          <a:p>
            <a:r>
              <a:rPr lang="en-US" sz="2600" b="1" dirty="0">
                <a:solidFill>
                  <a:srgbClr val="FF0000"/>
                </a:solidFill>
              </a:rPr>
              <a:t>Pseudocode:</a:t>
            </a:r>
          </a:p>
          <a:p>
            <a:pPr lvl="1">
              <a:buFont typeface="Arial" charset="0"/>
              <a:buChar char="•"/>
            </a:pPr>
            <a:r>
              <a:rPr lang="en-US" altLang="en-US" sz="2600" dirty="0"/>
              <a:t>A sequence of steps that your program should do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altLang="en-US" sz="2600" dirty="0"/>
              <a:t>Informal language that has no syntax rule </a:t>
            </a:r>
          </a:p>
          <a:p>
            <a:pPr lvl="1">
              <a:buFont typeface="Arial" charset="0"/>
              <a:buChar char="•"/>
            </a:pPr>
            <a:r>
              <a:rPr lang="en-US" altLang="en-US" sz="2600" dirty="0"/>
              <a:t>Can be translated easily into actual code in any programming language</a:t>
            </a:r>
            <a:endParaRPr lang="he-IL" altLang="en-US" sz="2600" dirty="0"/>
          </a:p>
          <a:p>
            <a:pPr marL="0" indent="0">
              <a:buNone/>
            </a:pPr>
            <a:endParaRPr lang="en-US" sz="2600" dirty="0"/>
          </a:p>
          <a:p>
            <a:r>
              <a:rPr lang="en-US" sz="2600" b="1" dirty="0">
                <a:solidFill>
                  <a:srgbClr val="FF0000"/>
                </a:solidFill>
              </a:rPr>
              <a:t>Flowchart:</a:t>
            </a:r>
          </a:p>
          <a:p>
            <a:pPr lvl="1"/>
            <a:r>
              <a:rPr lang="en-US" altLang="en-US" sz="2600" dirty="0"/>
              <a:t>diagram that graphically depicts the steps in a program: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9118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515FF-0C3F-C298-9A4E-E6A1231A1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Pseudo-code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1003A-2535-A8CD-D057-EBF546387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575061"/>
          </a:xfrm>
        </p:spPr>
        <p:txBody>
          <a:bodyPr>
            <a:normAutofit/>
          </a:bodyPr>
          <a:lstStyle/>
          <a:p>
            <a:r>
              <a:rPr lang="en-US" sz="2600" dirty="0"/>
              <a:t>List of steps your program needs to do</a:t>
            </a:r>
          </a:p>
        </p:txBody>
      </p:sp>
    </p:spTree>
    <p:extLst>
      <p:ext uri="{BB962C8B-B14F-4D97-AF65-F5344CB8AC3E}">
        <p14:creationId xmlns:p14="http://schemas.microsoft.com/office/powerpoint/2010/main" val="19243327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7417" y="853226"/>
            <a:ext cx="11237165" cy="988332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Step 3</a:t>
            </a:r>
            <a:r>
              <a:rPr lang="en-US" sz="3600" b="1" dirty="0"/>
              <a:t>: Python Program for the Sum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C8282-57BC-07BC-C0B8-602C3D1946E5}"/>
              </a:ext>
            </a:extLst>
          </p:cNvPr>
          <p:cNvSpPr txBox="1">
            <a:spLocks/>
          </p:cNvSpPr>
          <p:nvPr/>
        </p:nvSpPr>
        <p:spPr>
          <a:xfrm>
            <a:off x="581192" y="2180496"/>
            <a:ext cx="11029615" cy="575061"/>
          </a:xfrm>
          <a:prstGeom prst="rect">
            <a:avLst/>
          </a:prstGeom>
        </p:spPr>
        <p:txBody>
          <a:bodyPr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dirty="0"/>
              <a:t>List of instructions </a:t>
            </a:r>
          </a:p>
        </p:txBody>
      </p:sp>
    </p:spTree>
    <p:extLst>
      <p:ext uri="{BB962C8B-B14F-4D97-AF65-F5344CB8AC3E}">
        <p14:creationId xmlns:p14="http://schemas.microsoft.com/office/powerpoint/2010/main" val="6505070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DFEF-E4ED-EAEF-5AD2-FD1897AEC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Topics</a:t>
            </a:r>
            <a:r>
              <a:rPr lang="en-US" sz="4400" dirty="0"/>
              <a:t>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EF2AB-ECED-36D3-14BA-8B1DAAD4B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000" dirty="0"/>
              <a:t>What is Python?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000" dirty="0"/>
              <a:t>What is a high-level language?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000" dirty="0"/>
              <a:t>What is a program?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000" dirty="0"/>
              <a:t>What is programming?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000" dirty="0"/>
              <a:t>What is an algorithm?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000" dirty="0"/>
              <a:t>What is pseudo-code?</a:t>
            </a:r>
          </a:p>
        </p:txBody>
      </p:sp>
    </p:spTree>
    <p:extLst>
      <p:ext uri="{BB962C8B-B14F-4D97-AF65-F5344CB8AC3E}">
        <p14:creationId xmlns:p14="http://schemas.microsoft.com/office/powerpoint/2010/main" val="4404054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66700"/>
            <a:ext cx="8229600" cy="1143000"/>
          </a:xfrm>
        </p:spPr>
        <p:txBody>
          <a:bodyPr>
            <a:normAutofit/>
          </a:bodyPr>
          <a:lstStyle/>
          <a:p>
            <a:r>
              <a:rPr lang="en-US" sz="4400" dirty="0"/>
              <a:t>Pseudo-code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1890583"/>
            <a:ext cx="7564395" cy="4850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5155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0967" y="1586228"/>
            <a:ext cx="2743200" cy="499716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8776" y="447739"/>
            <a:ext cx="3400586" cy="641026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3274" y="793589"/>
            <a:ext cx="48985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Flowchart for the sum example </a:t>
            </a:r>
          </a:p>
        </p:txBody>
      </p:sp>
    </p:spTree>
    <p:extLst>
      <p:ext uri="{BB962C8B-B14F-4D97-AF65-F5344CB8AC3E}">
        <p14:creationId xmlns:p14="http://schemas.microsoft.com/office/powerpoint/2010/main" val="443061277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27854</TotalTime>
  <Words>472</Words>
  <Application>Microsoft Macintosh PowerPoint</Application>
  <PresentationFormat>Widescreen</PresentationFormat>
  <Paragraphs>86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Gill Sans MT</vt:lpstr>
      <vt:lpstr>Wingdings</vt:lpstr>
      <vt:lpstr>Wingdings 2</vt:lpstr>
      <vt:lpstr>Dividend</vt:lpstr>
      <vt:lpstr>Introduction to Python</vt:lpstr>
      <vt:lpstr>Topics </vt:lpstr>
      <vt:lpstr>What is Python?</vt:lpstr>
      <vt:lpstr>High-Level Languages</vt:lpstr>
      <vt:lpstr>PowerPoint Presentation</vt:lpstr>
      <vt:lpstr>What is a program?</vt:lpstr>
      <vt:lpstr>Sample Python program</vt:lpstr>
      <vt:lpstr>What is programming?</vt:lpstr>
      <vt:lpstr>Example Problem</vt:lpstr>
      <vt:lpstr>Step 1</vt:lpstr>
      <vt:lpstr>Step 2:  Designing the algorithm</vt:lpstr>
      <vt:lpstr>How to write an algorithm?</vt:lpstr>
      <vt:lpstr>Pseudo-code </vt:lpstr>
      <vt:lpstr>Step 3: Python Program for the Sum problem</vt:lpstr>
      <vt:lpstr>Topics </vt:lpstr>
      <vt:lpstr>Pseudo-code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Python</dc:title>
  <dc:creator>Simona Doboli</dc:creator>
  <cp:lastModifiedBy>Simona Doboli</cp:lastModifiedBy>
  <cp:revision>34</cp:revision>
  <cp:lastPrinted>2025-09-10T15:02:50Z</cp:lastPrinted>
  <dcterms:created xsi:type="dcterms:W3CDTF">2018-09-01T11:08:19Z</dcterms:created>
  <dcterms:modified xsi:type="dcterms:W3CDTF">2025-09-23T22:52:01Z</dcterms:modified>
</cp:coreProperties>
</file>