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90" r:id="rId1"/>
  </p:sldMasterIdLst>
  <p:notesMasterIdLst>
    <p:notesMasterId r:id="rId11"/>
  </p:notesMasterIdLst>
  <p:sldIdLst>
    <p:sldId id="257" r:id="rId2"/>
    <p:sldId id="258" r:id="rId3"/>
    <p:sldId id="260" r:id="rId4"/>
    <p:sldId id="261" r:id="rId5"/>
    <p:sldId id="278" r:id="rId6"/>
    <p:sldId id="267" r:id="rId7"/>
    <p:sldId id="272" r:id="rId8"/>
    <p:sldId id="274" r:id="rId9"/>
    <p:sldId id="279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323"/>
    <p:restoredTop sz="94648"/>
  </p:normalViewPr>
  <p:slideViewPr>
    <p:cSldViewPr snapToGrid="0">
      <p:cViewPr varScale="1">
        <p:scale>
          <a:sx n="107" d="100"/>
          <a:sy n="107" d="100"/>
        </p:scale>
        <p:origin x="992" y="1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C0A2FC-17C7-BC40-BC7F-781CCBA1D82B}" type="datetimeFigureOut">
              <a:rPr lang="en-US" smtClean="0"/>
              <a:t>9/29/25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6DE45C-804B-4641-B785-6F4C010142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75609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C128FA71-3A18-48C0-980F-4B68F7F63042}" type="datetime1">
              <a:rPr lang="en-US" smtClean="0"/>
              <a:t>9/29/25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08904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1210E-201E-4473-82AC-2466F5386C38}" type="datetime1">
              <a:rPr lang="en-US" smtClean="0"/>
              <a:t>9/29/25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0976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01EA198-6CAB-4B8F-B93F-1F9C8C4B6CE7}" type="datetime1">
              <a:rPr lang="en-US" smtClean="0"/>
              <a:t>9/29/25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02203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6041F-4525-44D5-AA4F-332294BF1F56}" type="datetime1">
              <a:rPr lang="en-US" smtClean="0"/>
              <a:t>9/29/25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44592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57091-BBDF-4EB9-BA6B-2BB67AC4FC0F}" type="datetime1">
              <a:rPr lang="en-US" smtClean="0"/>
              <a:t>9/29/25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9496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B226B-77A6-410C-9796-083F278E0125}" type="datetime1">
              <a:rPr lang="en-US" smtClean="0"/>
              <a:t>9/29/25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83200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A578B-D289-4C40-8593-3D356C49DA58}" type="datetime1">
              <a:rPr lang="en-US" smtClean="0"/>
              <a:t>9/29/25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03218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713DFAE3-14DB-48A7-A80F-80DDB072CE3D}" type="datetime1">
              <a:rPr lang="en-US" smtClean="0"/>
              <a:t>9/29/25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80291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5EAEF-6478-4102-8F5D-A5FE9FC97ACB}" type="datetime1">
              <a:rPr lang="en-US" smtClean="0"/>
              <a:t>9/29/25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83628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4EDB3-C0E8-45F8-9E1D-1B6C8D1880C0}" type="datetime1">
              <a:rPr lang="en-US" smtClean="0"/>
              <a:t>9/29/25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75082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9CF0EC4B-54ED-4041-B552-9BA760FA3DBA}" type="datetime1">
              <a:rPr lang="en-US" smtClean="0"/>
              <a:t>9/29/25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94782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67F45AC6-C491-4585-A584-9CE2AF7D5500}" type="datetime1">
              <a:rPr lang="en-US" smtClean="0"/>
              <a:t>9/29/25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9585588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1" r:id="rId1"/>
    <p:sldLayoutId id="2147483892" r:id="rId2"/>
    <p:sldLayoutId id="2147483893" r:id="rId3"/>
    <p:sldLayoutId id="2147483894" r:id="rId4"/>
    <p:sldLayoutId id="2147483895" r:id="rId5"/>
    <p:sldLayoutId id="2147483896" r:id="rId6"/>
    <p:sldLayoutId id="2147483897" r:id="rId7"/>
    <p:sldLayoutId id="2147483898" r:id="rId8"/>
    <p:sldLayoutId id="2147483899" r:id="rId9"/>
    <p:sldLayoutId id="2147483900" r:id="rId10"/>
    <p:sldLayoutId id="2147483901" r:id="rId11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A182162-B517-4B41-B039-339F87FAE1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D281458-1B02-AA4B-FDA2-661BEDA2F7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01143" y="1005839"/>
            <a:ext cx="6939304" cy="4805025"/>
          </a:xfrm>
        </p:spPr>
        <p:txBody>
          <a:bodyPr anchor="ctr">
            <a:normAutofit/>
          </a:bodyPr>
          <a:lstStyle/>
          <a:p>
            <a:r>
              <a:rPr lang="en-US" sz="6000" dirty="0">
                <a:solidFill>
                  <a:schemeClr val="tx2"/>
                </a:solidFill>
              </a:rPr>
              <a:t>Week 5: Dictionaries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9B5AD54-1E68-4239-A6AF-FE0F49BB83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593336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0DC871D-6B0E-51EC-D0D3-79B6975CEA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8267" y="1009397"/>
            <a:ext cx="3078342" cy="4801468"/>
          </a:xfrm>
        </p:spPr>
        <p:txBody>
          <a:bodyPr anchor="ctr">
            <a:normAutofit/>
          </a:bodyPr>
          <a:lstStyle/>
          <a:p>
            <a:pPr algn="ctr"/>
            <a:endParaRPr lang="en-US" sz="24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021616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1"/>
          <p:cNvSpPr>
            <a:spLocks noGrp="1"/>
          </p:cNvSpPr>
          <p:nvPr>
            <p:ph type="title"/>
          </p:nvPr>
        </p:nvSpPr>
        <p:spPr>
          <a:xfrm>
            <a:off x="808638" y="683172"/>
            <a:ext cx="9236700" cy="892708"/>
          </a:xfrm>
        </p:spPr>
        <p:txBody>
          <a:bodyPr anchor="b">
            <a:normAutofit fontScale="90000"/>
          </a:bodyPr>
          <a:lstStyle/>
          <a:p>
            <a:pPr eaLnBrk="1" hangingPunct="1"/>
            <a:r>
              <a:rPr lang="en-US" altLang="en-US" sz="5400" dirty="0"/>
              <a:t>Dictionaries</a:t>
            </a:r>
            <a:endParaRPr lang="he-IL" altLang="en-US" sz="5400" dirty="0"/>
          </a:p>
        </p:txBody>
      </p:sp>
      <p:sp>
        <p:nvSpPr>
          <p:cNvPr id="3075" name="Content Placeholder 2"/>
          <p:cNvSpPr>
            <a:spLocks noGrp="1"/>
          </p:cNvSpPr>
          <p:nvPr>
            <p:ph idx="1"/>
          </p:nvPr>
        </p:nvSpPr>
        <p:spPr>
          <a:xfrm>
            <a:off x="808638" y="1912883"/>
            <a:ext cx="10143668" cy="4558187"/>
          </a:xfrm>
        </p:spPr>
        <p:txBody>
          <a:bodyPr anchor="ctr">
            <a:normAutofit/>
          </a:bodyPr>
          <a:lstStyle/>
          <a:p>
            <a:pPr eaLnBrk="1" hangingPunct="1"/>
            <a:r>
              <a:rPr lang="en-US" altLang="en-US" sz="2600" dirty="0"/>
              <a:t>What is a dictionary?</a:t>
            </a:r>
          </a:p>
          <a:p>
            <a:pPr eaLnBrk="1" hangingPunct="1"/>
            <a:r>
              <a:rPr lang="en-US" altLang="en-US" sz="2600" dirty="0"/>
              <a:t>How do you create a dictionary?</a:t>
            </a:r>
          </a:p>
          <a:p>
            <a:pPr eaLnBrk="1" hangingPunct="1"/>
            <a:r>
              <a:rPr lang="en-US" altLang="en-US" sz="2600" dirty="0"/>
              <a:t>How do you access items in a dictionary?</a:t>
            </a:r>
          </a:p>
          <a:p>
            <a:pPr eaLnBrk="1" hangingPunct="1"/>
            <a:r>
              <a:rPr lang="en-US" altLang="en-US" sz="2600" dirty="0"/>
              <a:t>Examples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1"/>
          <p:cNvSpPr>
            <a:spLocks noGrp="1"/>
          </p:cNvSpPr>
          <p:nvPr>
            <p:ph type="title"/>
          </p:nvPr>
        </p:nvSpPr>
        <p:spPr>
          <a:xfrm>
            <a:off x="808638" y="683172"/>
            <a:ext cx="9236700" cy="892708"/>
          </a:xfrm>
        </p:spPr>
        <p:txBody>
          <a:bodyPr anchor="b">
            <a:normAutofit fontScale="90000"/>
          </a:bodyPr>
          <a:lstStyle/>
          <a:p>
            <a:pPr eaLnBrk="1" hangingPunct="1"/>
            <a:r>
              <a:rPr lang="en-US" altLang="en-US" sz="5400" dirty="0"/>
              <a:t>What is a dictionary?</a:t>
            </a:r>
            <a:endParaRPr lang="he-IL" altLang="en-US" sz="5400" dirty="0"/>
          </a:p>
        </p:txBody>
      </p:sp>
      <p:sp>
        <p:nvSpPr>
          <p:cNvPr id="3075" name="Content Placeholder 2"/>
          <p:cNvSpPr>
            <a:spLocks noGrp="1"/>
          </p:cNvSpPr>
          <p:nvPr>
            <p:ph idx="1"/>
          </p:nvPr>
        </p:nvSpPr>
        <p:spPr>
          <a:xfrm>
            <a:off x="808638" y="1952367"/>
            <a:ext cx="10479848" cy="2582563"/>
          </a:xfrm>
        </p:spPr>
        <p:txBody>
          <a:bodyPr anchor="ctr">
            <a:normAutofit/>
          </a:bodyPr>
          <a:lstStyle/>
          <a:p>
            <a:pPr eaLnBrk="1" hangingPunct="1"/>
            <a:r>
              <a:rPr lang="en-US" altLang="en-US" sz="2400" dirty="0">
                <a:solidFill>
                  <a:srgbClr val="FF0000"/>
                </a:solidFill>
              </a:rPr>
              <a:t>A CONTAINER of a set of UNIQUE keys and their associated values.</a:t>
            </a:r>
          </a:p>
          <a:p>
            <a:pPr eaLnBrk="1" hangingPunct="1"/>
            <a:r>
              <a:rPr lang="en-US" altLang="en-US" sz="2400" dirty="0">
                <a:solidFill>
                  <a:srgbClr val="FF0000"/>
                </a:solidFill>
              </a:rPr>
              <a:t>Examples</a:t>
            </a:r>
            <a:r>
              <a:rPr lang="en-US" altLang="en-US" sz="2400" dirty="0"/>
              <a:t>: </a:t>
            </a:r>
          </a:p>
          <a:p>
            <a:pPr lvl="1"/>
            <a:r>
              <a:rPr lang="en-US" altLang="en-US" sz="2200" dirty="0"/>
              <a:t>{‘</a:t>
            </a:r>
            <a:r>
              <a:rPr lang="en-US" altLang="en-US" sz="2200" dirty="0" err="1"/>
              <a:t>Anna’:’CS</a:t>
            </a:r>
            <a:r>
              <a:rPr lang="en-US" altLang="en-US" sz="2200" dirty="0"/>
              <a:t>, ‘</a:t>
            </a:r>
            <a:r>
              <a:rPr lang="en-US" altLang="en-US" sz="2200" dirty="0" err="1"/>
              <a:t>Mike’:’Math</a:t>
            </a:r>
            <a:r>
              <a:rPr lang="en-US" altLang="en-US" sz="2200" dirty="0"/>
              <a:t>’} </a:t>
            </a:r>
            <a:r>
              <a:rPr lang="en-US" altLang="en-US" sz="2200" dirty="0">
                <a:solidFill>
                  <a:srgbClr val="FF0000"/>
                </a:solidFill>
              </a:rPr>
              <a:t>keys</a:t>
            </a:r>
            <a:r>
              <a:rPr lang="en-US" altLang="en-US" sz="2200" dirty="0"/>
              <a:t>: names, </a:t>
            </a:r>
            <a:r>
              <a:rPr lang="en-US" altLang="en-US" sz="2200" dirty="0">
                <a:solidFill>
                  <a:srgbClr val="FF0000"/>
                </a:solidFill>
              </a:rPr>
              <a:t>values</a:t>
            </a:r>
            <a:r>
              <a:rPr lang="en-US" altLang="en-US" sz="2200" dirty="0"/>
              <a:t>: majors</a:t>
            </a:r>
          </a:p>
          <a:p>
            <a:pPr lvl="1"/>
            <a:r>
              <a:rPr lang="en-US" altLang="en-US" sz="2200" dirty="0"/>
              <a:t>{‘Honda’:100, ’Toyota’: 50, ‘Mazda’:25} </a:t>
            </a:r>
            <a:r>
              <a:rPr lang="en-US" altLang="en-US" sz="2200" dirty="0">
                <a:solidFill>
                  <a:srgbClr val="FF0000"/>
                </a:solidFill>
              </a:rPr>
              <a:t>keys</a:t>
            </a:r>
            <a:r>
              <a:rPr lang="en-US" altLang="en-US" sz="2200" dirty="0"/>
              <a:t>: car manufacturer, </a:t>
            </a:r>
            <a:r>
              <a:rPr lang="en-US" altLang="en-US" sz="2200" dirty="0">
                <a:solidFill>
                  <a:srgbClr val="FF0000"/>
                </a:solidFill>
              </a:rPr>
              <a:t>values</a:t>
            </a:r>
            <a:r>
              <a:rPr lang="en-US" altLang="en-US" sz="2200" dirty="0"/>
              <a:t>: number of cars </a:t>
            </a:r>
          </a:p>
          <a:p>
            <a:pPr eaLnBrk="1" hangingPunct="1"/>
            <a:endParaRPr lang="en-US" altLang="en-US" sz="1800" dirty="0"/>
          </a:p>
        </p:txBody>
      </p:sp>
    </p:spTree>
    <p:extLst>
      <p:ext uri="{BB962C8B-B14F-4D97-AF65-F5344CB8AC3E}">
        <p14:creationId xmlns:p14="http://schemas.microsoft.com/office/powerpoint/2010/main" val="32080924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1"/>
          <p:cNvSpPr>
            <a:spLocks noGrp="1"/>
          </p:cNvSpPr>
          <p:nvPr>
            <p:ph type="title"/>
          </p:nvPr>
        </p:nvSpPr>
        <p:spPr>
          <a:xfrm>
            <a:off x="808638" y="683172"/>
            <a:ext cx="10778116" cy="892708"/>
          </a:xfrm>
        </p:spPr>
        <p:txBody>
          <a:bodyPr anchor="b">
            <a:normAutofit fontScale="90000"/>
          </a:bodyPr>
          <a:lstStyle/>
          <a:p>
            <a:pPr eaLnBrk="1" hangingPunct="1"/>
            <a:r>
              <a:rPr lang="en-US" altLang="en-US" sz="5400" dirty="0"/>
              <a:t>How to create a dictionary?</a:t>
            </a:r>
            <a:endParaRPr lang="he-IL" altLang="en-US" sz="54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C2F0FB2-C322-41A4-CA84-8CECE455865F}"/>
              </a:ext>
            </a:extLst>
          </p:cNvPr>
          <p:cNvSpPr txBox="1"/>
          <p:nvPr/>
        </p:nvSpPr>
        <p:spPr>
          <a:xfrm>
            <a:off x="5313405" y="2019843"/>
            <a:ext cx="6709719" cy="3816429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my_dict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 = {}</a:t>
            </a:r>
          </a:p>
          <a:p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for </a:t>
            </a:r>
            <a:r>
              <a:rPr lang="en-US" sz="2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 in range(3):</a:t>
            </a:r>
          </a:p>
          <a:p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	name  = input(“Enter a name”)</a:t>
            </a:r>
          </a:p>
          <a:p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	major = input(“Enter a major”)</a:t>
            </a:r>
          </a:p>
          <a:p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my_dict</a:t>
            </a:r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[name] = major</a:t>
            </a:r>
          </a:p>
          <a:p>
            <a:endParaRPr lang="en-US" sz="2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print(</a:t>
            </a:r>
            <a:r>
              <a:rPr lang="en-US" sz="2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my_dict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---------------------------------</a:t>
            </a:r>
          </a:p>
          <a:p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Or:</a:t>
            </a:r>
          </a:p>
          <a:p>
            <a:endParaRPr lang="en-US" sz="2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dict_full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={“and”:2, “then”:5, “by”:10}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28B1B01-ABA0-5A66-2E2C-22C0BC3A54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5579" y="2019844"/>
            <a:ext cx="4801329" cy="3595817"/>
          </a:xfrm>
          <a:ln w="25400">
            <a:solidFill>
              <a:schemeClr val="tx1"/>
            </a:solidFill>
          </a:ln>
        </p:spPr>
        <p:txBody>
          <a:bodyPr anchor="ctr">
            <a:normAutofit/>
          </a:bodyPr>
          <a:lstStyle/>
          <a:p>
            <a:pPr eaLnBrk="1" hangingPunct="1"/>
            <a:r>
              <a:rPr lang="en-US" altLang="en-US" sz="2400" dirty="0">
                <a:solidFill>
                  <a:srgbClr val="FF0000"/>
                </a:solidFill>
              </a:rPr>
              <a:t>From scratch: </a:t>
            </a:r>
          </a:p>
          <a:p>
            <a:pPr lvl="1"/>
            <a:r>
              <a:rPr lang="en-US" altLang="en-US" sz="2200" dirty="0"/>
              <a:t>Start with an empty dictionary:</a:t>
            </a:r>
          </a:p>
          <a:p>
            <a:pPr lvl="1"/>
            <a:r>
              <a:rPr lang="en-US" altLang="en-US" sz="2200" dirty="0"/>
              <a:t>Add keys and values to it.</a:t>
            </a:r>
          </a:p>
          <a:p>
            <a:r>
              <a:rPr lang="en-US" altLang="en-US" sz="2400" dirty="0"/>
              <a:t> What happens if you try to add a key with the same value as an existing key?</a:t>
            </a:r>
          </a:p>
          <a:p>
            <a:r>
              <a:rPr lang="en-US" altLang="en-US" sz="2400" dirty="0">
                <a:solidFill>
                  <a:srgbClr val="FF0000"/>
                </a:solidFill>
              </a:rPr>
              <a:t>Define the dictionary</a:t>
            </a:r>
          </a:p>
          <a:p>
            <a:pPr lvl="2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1918078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1"/>
          <p:cNvSpPr>
            <a:spLocks noGrp="1"/>
          </p:cNvSpPr>
          <p:nvPr>
            <p:ph type="title"/>
          </p:nvPr>
        </p:nvSpPr>
        <p:spPr>
          <a:xfrm>
            <a:off x="808638" y="683172"/>
            <a:ext cx="10778116" cy="892708"/>
          </a:xfrm>
        </p:spPr>
        <p:txBody>
          <a:bodyPr anchor="b">
            <a:normAutofit fontScale="90000"/>
          </a:bodyPr>
          <a:lstStyle/>
          <a:p>
            <a:pPr eaLnBrk="1" hangingPunct="1"/>
            <a:r>
              <a:rPr lang="en-US" altLang="en-US" sz="5400" dirty="0"/>
              <a:t>How to create a dictionary?</a:t>
            </a:r>
            <a:endParaRPr lang="he-IL" altLang="en-US" sz="54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C2F0FB2-C322-41A4-CA84-8CECE455865F}"/>
              </a:ext>
            </a:extLst>
          </p:cNvPr>
          <p:cNvSpPr txBox="1"/>
          <p:nvPr/>
        </p:nvSpPr>
        <p:spPr>
          <a:xfrm>
            <a:off x="5609968" y="2019844"/>
            <a:ext cx="5773394" cy="4154984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names = [“John”, “Mary”, “Ann”]</a:t>
            </a:r>
          </a:p>
          <a:p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ages  = [20,19,22]</a:t>
            </a:r>
          </a:p>
          <a:p>
            <a:endParaRPr lang="en-US" sz="2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for </a:t>
            </a:r>
            <a:r>
              <a:rPr lang="en-US" sz="2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 in range(</a:t>
            </a:r>
            <a:r>
              <a:rPr lang="en-US" sz="2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len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(names)):</a:t>
            </a:r>
          </a:p>
          <a:p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my_dict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[names[</a:t>
            </a:r>
            <a:r>
              <a:rPr lang="en-US" sz="2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]] = ages[</a:t>
            </a:r>
            <a:r>
              <a:rPr lang="en-US" sz="2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</a:p>
          <a:p>
            <a:endParaRPr lang="en-US" sz="2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print(</a:t>
            </a:r>
            <a:r>
              <a:rPr lang="en-US" sz="2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my_dict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---------------------------------</a:t>
            </a:r>
          </a:p>
          <a:p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Or</a:t>
            </a:r>
          </a:p>
          <a:p>
            <a:endParaRPr lang="en-US" sz="2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my_dict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2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dict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2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zip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names,ages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))</a:t>
            </a:r>
          </a:p>
          <a:p>
            <a:endParaRPr lang="en-US" sz="2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28B1B01-ABA0-5A66-2E2C-22C0BC3A54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4432" y="2019844"/>
            <a:ext cx="4801329" cy="3113902"/>
          </a:xfrm>
          <a:ln w="25400">
            <a:solidFill>
              <a:schemeClr val="tx1"/>
            </a:solidFill>
          </a:ln>
        </p:spPr>
        <p:txBody>
          <a:bodyPr anchor="ctr">
            <a:normAutofit/>
          </a:bodyPr>
          <a:lstStyle/>
          <a:p>
            <a:pPr eaLnBrk="1" hangingPunct="1"/>
            <a:r>
              <a:rPr lang="en-US" altLang="en-US" sz="2400" dirty="0">
                <a:solidFill>
                  <a:srgbClr val="FF0000"/>
                </a:solidFill>
              </a:rPr>
              <a:t>From two existing lists:</a:t>
            </a:r>
          </a:p>
          <a:p>
            <a:pPr eaLnBrk="1" hangingPunct="1"/>
            <a:endParaRPr lang="en-US" altLang="en-US" sz="2400" dirty="0"/>
          </a:p>
          <a:p>
            <a:pPr eaLnBrk="1" hangingPunct="1"/>
            <a:endParaRPr lang="en-US" altLang="en-US" sz="2400" dirty="0"/>
          </a:p>
          <a:p>
            <a:pPr eaLnBrk="1" hangingPunct="1"/>
            <a:endParaRPr lang="en-US" altLang="en-US" sz="2400" dirty="0"/>
          </a:p>
          <a:p>
            <a:pPr marL="0" indent="0" eaLnBrk="1" hangingPunct="1">
              <a:buNone/>
            </a:pPr>
            <a:endParaRPr lang="en-US" altLang="en-US" sz="2400" dirty="0"/>
          </a:p>
          <a:p>
            <a:pPr eaLnBrk="1" hangingPunct="1"/>
            <a:endParaRPr lang="en-US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0053193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1"/>
          <p:cNvSpPr>
            <a:spLocks noGrp="1"/>
          </p:cNvSpPr>
          <p:nvPr>
            <p:ph type="title"/>
          </p:nvPr>
        </p:nvSpPr>
        <p:spPr>
          <a:xfrm>
            <a:off x="808638" y="683172"/>
            <a:ext cx="10778116" cy="892708"/>
          </a:xfrm>
        </p:spPr>
        <p:txBody>
          <a:bodyPr anchor="b">
            <a:normAutofit fontScale="90000"/>
          </a:bodyPr>
          <a:lstStyle/>
          <a:p>
            <a:pPr eaLnBrk="1" hangingPunct="1"/>
            <a:r>
              <a:rPr lang="en-US" altLang="en-US" sz="5400" dirty="0"/>
              <a:t>How to use a dictionary?</a:t>
            </a:r>
            <a:endParaRPr lang="he-IL" altLang="en-US" sz="54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C2F0FB2-C322-41A4-CA84-8CECE455865F}"/>
              </a:ext>
            </a:extLst>
          </p:cNvPr>
          <p:cNvSpPr txBox="1"/>
          <p:nvPr/>
        </p:nvSpPr>
        <p:spPr>
          <a:xfrm>
            <a:off x="4866445" y="2030724"/>
            <a:ext cx="6872474" cy="4832092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my_dict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 = {‘</a:t>
            </a:r>
            <a:r>
              <a:rPr lang="en-US" sz="2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a’:’c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’, ‘</a:t>
            </a:r>
            <a:r>
              <a:rPr lang="en-US" sz="2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b’:’d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’, ‘c’: ‘e’} </a:t>
            </a:r>
          </a:p>
          <a:p>
            <a:r>
              <a:rPr lang="en-US" sz="22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 key in </a:t>
            </a:r>
            <a:r>
              <a:rPr lang="en-US" sz="2200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my_dict</a:t>
            </a:r>
            <a:r>
              <a:rPr lang="en-US" sz="22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en-US" sz="22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print(key, </a:t>
            </a:r>
            <a:r>
              <a:rPr lang="en-US" sz="2200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my_dict</a:t>
            </a:r>
            <a:r>
              <a:rPr lang="en-US" sz="22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[key])</a:t>
            </a:r>
          </a:p>
          <a:p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---------------------------------------</a:t>
            </a:r>
          </a:p>
          <a:p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Or</a:t>
            </a:r>
          </a:p>
          <a:p>
            <a:r>
              <a:rPr lang="en-US" sz="22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r>
              <a:rPr lang="en-US" sz="22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 key, value in </a:t>
            </a:r>
            <a:r>
              <a:rPr lang="en-US" sz="2200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my_dict.items</a:t>
            </a:r>
            <a:r>
              <a:rPr lang="en-US" sz="22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():</a:t>
            </a:r>
          </a:p>
          <a:p>
            <a:r>
              <a:rPr lang="en-US" sz="22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print(key, value)</a:t>
            </a:r>
          </a:p>
          <a:p>
            <a:endParaRPr lang="en-US" sz="2200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2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Or</a:t>
            </a:r>
          </a:p>
          <a:p>
            <a:endParaRPr lang="en-US" sz="2200" dirty="0">
              <a:solidFill>
                <a:srgbClr val="0070C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2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 key in </a:t>
            </a:r>
            <a:r>
              <a:rPr lang="en-US" sz="2200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my_dict.keys</a:t>
            </a:r>
            <a:r>
              <a:rPr lang="en-US" sz="22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r>
              <a:rPr lang="en-US" sz="22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print(key, “value=”, </a:t>
            </a:r>
            <a:r>
              <a:rPr lang="en-US" sz="2200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my_dict</a:t>
            </a:r>
            <a:r>
              <a:rPr lang="en-US" sz="22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[key])</a:t>
            </a:r>
          </a:p>
          <a:p>
            <a:endParaRPr lang="en-US" sz="2200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BA7545D-DE78-71C2-3C3E-933EDD12DB2B}"/>
              </a:ext>
            </a:extLst>
          </p:cNvPr>
          <p:cNvSpPr txBox="1"/>
          <p:nvPr/>
        </p:nvSpPr>
        <p:spPr>
          <a:xfrm>
            <a:off x="322452" y="2030724"/>
            <a:ext cx="4413364" cy="4493538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FF0000"/>
                </a:solidFill>
              </a:rPr>
              <a:t>YOU CANNOT USE INDEX OR SLICING WITH A DICTIONARY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FF0000"/>
                </a:solidFill>
              </a:rPr>
              <a:t>Errors: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200" dirty="0" err="1"/>
              <a:t>my_dict</a:t>
            </a:r>
            <a:r>
              <a:rPr lang="en-US" sz="2200" dirty="0"/>
              <a:t>[0]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200" dirty="0" err="1"/>
              <a:t>my_dict</a:t>
            </a:r>
            <a:r>
              <a:rPr lang="en-US" sz="2200" dirty="0"/>
              <a:t>[:5]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/>
              <a:t>You can retrieve a value by its key: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200" dirty="0" err="1"/>
              <a:t>my_dict</a:t>
            </a:r>
            <a:r>
              <a:rPr lang="en-US" sz="2200" dirty="0"/>
              <a:t>[key]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/>
              <a:t>You can change a value by its key: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200" dirty="0" err="1"/>
              <a:t>my_dict</a:t>
            </a:r>
            <a:r>
              <a:rPr lang="en-US" sz="2200" dirty="0"/>
              <a:t>[key] = </a:t>
            </a:r>
            <a:r>
              <a:rPr lang="en-US" sz="2200" dirty="0" err="1"/>
              <a:t>new_value</a:t>
            </a:r>
            <a:endParaRPr lang="en-US" sz="2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/>
              <a:t>Error if you are trying to access a non-existing key: </a:t>
            </a:r>
          </a:p>
        </p:txBody>
      </p:sp>
    </p:spTree>
    <p:extLst>
      <p:ext uri="{BB962C8B-B14F-4D97-AF65-F5344CB8AC3E}">
        <p14:creationId xmlns:p14="http://schemas.microsoft.com/office/powerpoint/2010/main" val="15945205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1"/>
          <p:cNvSpPr>
            <a:spLocks noGrp="1"/>
          </p:cNvSpPr>
          <p:nvPr>
            <p:ph type="title"/>
          </p:nvPr>
        </p:nvSpPr>
        <p:spPr>
          <a:xfrm>
            <a:off x="808638" y="683172"/>
            <a:ext cx="10778116" cy="892708"/>
          </a:xfrm>
        </p:spPr>
        <p:txBody>
          <a:bodyPr anchor="b">
            <a:normAutofit fontScale="90000"/>
          </a:bodyPr>
          <a:lstStyle/>
          <a:p>
            <a:pPr eaLnBrk="1" hangingPunct="1"/>
            <a:r>
              <a:rPr lang="en-US" altLang="en-US" sz="5400" dirty="0"/>
              <a:t>Example Dictionaries</a:t>
            </a:r>
            <a:endParaRPr lang="he-IL" altLang="en-US" sz="54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C2F0FB2-C322-41A4-CA84-8CECE455865F}"/>
              </a:ext>
            </a:extLst>
          </p:cNvPr>
          <p:cNvSpPr txBox="1"/>
          <p:nvPr/>
        </p:nvSpPr>
        <p:spPr>
          <a:xfrm>
            <a:off x="418010" y="3092496"/>
            <a:ext cx="10345784" cy="3477875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2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---------------------------</a:t>
            </a:r>
          </a:p>
          <a:p>
            <a:endParaRPr lang="en-US" sz="2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3DA62ED-2392-5A36-3CBC-E31FB9C41AE6}"/>
              </a:ext>
            </a:extLst>
          </p:cNvPr>
          <p:cNvSpPr txBox="1"/>
          <p:nvPr/>
        </p:nvSpPr>
        <p:spPr>
          <a:xfrm>
            <a:off x="418009" y="1964856"/>
            <a:ext cx="8255727" cy="769441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200" dirty="0"/>
              <a:t>Problem:  Given a string, print the characters and the number of times they appear in the string. </a:t>
            </a:r>
          </a:p>
        </p:txBody>
      </p:sp>
    </p:spTree>
    <p:extLst>
      <p:ext uri="{BB962C8B-B14F-4D97-AF65-F5344CB8AC3E}">
        <p14:creationId xmlns:p14="http://schemas.microsoft.com/office/powerpoint/2010/main" val="41724566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1"/>
          <p:cNvSpPr>
            <a:spLocks noGrp="1"/>
          </p:cNvSpPr>
          <p:nvPr>
            <p:ph type="title"/>
          </p:nvPr>
        </p:nvSpPr>
        <p:spPr>
          <a:xfrm>
            <a:off x="808638" y="683172"/>
            <a:ext cx="10778116" cy="892708"/>
          </a:xfrm>
        </p:spPr>
        <p:txBody>
          <a:bodyPr anchor="b">
            <a:normAutofit fontScale="90000"/>
          </a:bodyPr>
          <a:lstStyle/>
          <a:p>
            <a:pPr eaLnBrk="1" hangingPunct="1"/>
            <a:r>
              <a:rPr lang="en-US" altLang="en-US" sz="5400" dirty="0"/>
              <a:t>Example dictionaries</a:t>
            </a:r>
            <a:endParaRPr lang="he-IL" altLang="en-US" sz="54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C2F0FB2-C322-41A4-CA84-8CECE455865F}"/>
              </a:ext>
            </a:extLst>
          </p:cNvPr>
          <p:cNvSpPr txBox="1"/>
          <p:nvPr/>
        </p:nvSpPr>
        <p:spPr>
          <a:xfrm>
            <a:off x="418009" y="3092496"/>
            <a:ext cx="10628931" cy="3477875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2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---------------------------</a:t>
            </a:r>
          </a:p>
          <a:p>
            <a:endParaRPr lang="en-US" sz="2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3DA62ED-2392-5A36-3CBC-E31FB9C41AE6}"/>
              </a:ext>
            </a:extLst>
          </p:cNvPr>
          <p:cNvSpPr txBox="1"/>
          <p:nvPr/>
        </p:nvSpPr>
        <p:spPr>
          <a:xfrm>
            <a:off x="418009" y="1964856"/>
            <a:ext cx="10628932" cy="769441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200" dirty="0"/>
              <a:t>Problem: What is the most frequent character in a dictionary of characters (as keys) and number of occurrences as values.  </a:t>
            </a:r>
          </a:p>
        </p:txBody>
      </p:sp>
    </p:spTree>
    <p:extLst>
      <p:ext uri="{BB962C8B-B14F-4D97-AF65-F5344CB8AC3E}">
        <p14:creationId xmlns:p14="http://schemas.microsoft.com/office/powerpoint/2010/main" val="1289654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1"/>
          <p:cNvSpPr>
            <a:spLocks noGrp="1"/>
          </p:cNvSpPr>
          <p:nvPr>
            <p:ph type="title"/>
          </p:nvPr>
        </p:nvSpPr>
        <p:spPr>
          <a:xfrm>
            <a:off x="808638" y="683172"/>
            <a:ext cx="9236700" cy="892708"/>
          </a:xfrm>
        </p:spPr>
        <p:txBody>
          <a:bodyPr anchor="b">
            <a:normAutofit fontScale="90000"/>
          </a:bodyPr>
          <a:lstStyle/>
          <a:p>
            <a:pPr eaLnBrk="1" hangingPunct="1"/>
            <a:r>
              <a:rPr lang="en-US" altLang="en-US" sz="5400" dirty="0"/>
              <a:t>Review - Dictionaries</a:t>
            </a:r>
            <a:endParaRPr lang="he-IL" altLang="en-US" sz="5400" dirty="0"/>
          </a:p>
        </p:txBody>
      </p:sp>
      <p:sp>
        <p:nvSpPr>
          <p:cNvPr id="3075" name="Content Placeholder 2"/>
          <p:cNvSpPr>
            <a:spLocks noGrp="1"/>
          </p:cNvSpPr>
          <p:nvPr>
            <p:ph idx="1"/>
          </p:nvPr>
        </p:nvSpPr>
        <p:spPr>
          <a:xfrm>
            <a:off x="808638" y="1912883"/>
            <a:ext cx="10143668" cy="4558187"/>
          </a:xfrm>
        </p:spPr>
        <p:txBody>
          <a:bodyPr anchor="ctr">
            <a:normAutofit/>
          </a:bodyPr>
          <a:lstStyle/>
          <a:p>
            <a:pPr eaLnBrk="1" hangingPunct="1"/>
            <a:r>
              <a:rPr lang="en-US" altLang="en-US" sz="2600" dirty="0"/>
              <a:t>What is a dictionary?</a:t>
            </a:r>
          </a:p>
          <a:p>
            <a:pPr eaLnBrk="1" hangingPunct="1"/>
            <a:r>
              <a:rPr lang="en-US" altLang="en-US" sz="2600" dirty="0"/>
              <a:t>How do you create a dictionary?</a:t>
            </a:r>
          </a:p>
          <a:p>
            <a:pPr eaLnBrk="1" hangingPunct="1"/>
            <a:r>
              <a:rPr lang="en-US" altLang="en-US" sz="2600" dirty="0"/>
              <a:t>How do you access items in a dictionary?</a:t>
            </a:r>
          </a:p>
          <a:p>
            <a:pPr eaLnBrk="1" hangingPunct="1"/>
            <a:r>
              <a:rPr lang="en-US" altLang="en-US" sz="2600" dirty="0"/>
              <a:t>Examples</a:t>
            </a:r>
          </a:p>
        </p:txBody>
      </p:sp>
    </p:spTree>
    <p:extLst>
      <p:ext uri="{BB962C8B-B14F-4D97-AF65-F5344CB8AC3E}">
        <p14:creationId xmlns:p14="http://schemas.microsoft.com/office/powerpoint/2010/main" val="425531307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1A3260"/>
      </a:accent1>
      <a:accent2>
        <a:srgbClr val="4590B8"/>
      </a:accent2>
      <a:accent3>
        <a:srgbClr val="45CBE8"/>
      </a:accent3>
      <a:accent4>
        <a:srgbClr val="969FA7"/>
      </a:accent4>
      <a:accent5>
        <a:srgbClr val="A2C777"/>
      </a:accent5>
      <a:accent6>
        <a:srgbClr val="42955F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66F1C100-1D2B-4BEA-AD01-C4F230B3B96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Dividend</Template>
  <TotalTime>20823</TotalTime>
  <Words>500</Words>
  <Application>Microsoft Macintosh PowerPoint</Application>
  <PresentationFormat>Widescreen</PresentationFormat>
  <Paragraphs>94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Aptos</vt:lpstr>
      <vt:lpstr>Arial</vt:lpstr>
      <vt:lpstr>Courier New</vt:lpstr>
      <vt:lpstr>Gill Sans MT</vt:lpstr>
      <vt:lpstr>Wingdings 2</vt:lpstr>
      <vt:lpstr>Dividend</vt:lpstr>
      <vt:lpstr>Week 5: Dictionaries</vt:lpstr>
      <vt:lpstr>Dictionaries</vt:lpstr>
      <vt:lpstr>What is a dictionary?</vt:lpstr>
      <vt:lpstr>How to create a dictionary?</vt:lpstr>
      <vt:lpstr>How to create a dictionary?</vt:lpstr>
      <vt:lpstr>How to use a dictionary?</vt:lpstr>
      <vt:lpstr>Example Dictionaries</vt:lpstr>
      <vt:lpstr>Example dictionaries</vt:lpstr>
      <vt:lpstr>Review - Dictionaries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Simona Doboli</dc:creator>
  <cp:lastModifiedBy>Simona Doboli</cp:lastModifiedBy>
  <cp:revision>13</cp:revision>
  <cp:lastPrinted>2025-10-01T18:34:59Z</cp:lastPrinted>
  <dcterms:created xsi:type="dcterms:W3CDTF">2025-09-18T14:29:41Z</dcterms:created>
  <dcterms:modified xsi:type="dcterms:W3CDTF">2025-10-08T20:08:00Z</dcterms:modified>
</cp:coreProperties>
</file>