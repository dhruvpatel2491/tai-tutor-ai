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2"/>
  </p:notesMasterIdLst>
  <p:sldIdLst>
    <p:sldId id="305" r:id="rId2"/>
    <p:sldId id="306" r:id="rId3"/>
    <p:sldId id="271" r:id="rId4"/>
    <p:sldId id="309" r:id="rId5"/>
    <p:sldId id="310" r:id="rId6"/>
    <p:sldId id="311" r:id="rId7"/>
    <p:sldId id="312" r:id="rId8"/>
    <p:sldId id="313" r:id="rId9"/>
    <p:sldId id="316" r:id="rId10"/>
    <p:sldId id="307" r:id="rId11"/>
    <p:sldId id="282" r:id="rId12"/>
    <p:sldId id="302" r:id="rId13"/>
    <p:sldId id="303" r:id="rId14"/>
    <p:sldId id="304" r:id="rId15"/>
    <p:sldId id="263" r:id="rId16"/>
    <p:sldId id="298" r:id="rId17"/>
    <p:sldId id="301" r:id="rId18"/>
    <p:sldId id="275" r:id="rId19"/>
    <p:sldId id="297" r:id="rId20"/>
    <p:sldId id="308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28"/>
    <p:restoredTop sz="94645"/>
  </p:normalViewPr>
  <p:slideViewPr>
    <p:cSldViewPr snapToGrid="0" snapToObjects="1">
      <p:cViewPr varScale="1">
        <p:scale>
          <a:sx n="113" d="100"/>
          <a:sy n="113" d="100"/>
        </p:scale>
        <p:origin x="50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C71D5D-D077-914C-8F1D-23D3A070AA1A}" type="datetimeFigureOut">
              <a:rPr lang="en-US" smtClean="0"/>
              <a:t>9/11/25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5F5398-8748-8440-B1AA-F195E33400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9799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5F5398-8748-8440-B1AA-F195E334001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378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5F5398-8748-8440-B1AA-F195E334001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5467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5F5398-8748-8440-B1AA-F195E334001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7008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68887-D334-5646-9B23-0DD319AE0DA0}" type="datetimeFigureOut">
              <a:rPr lang="en-US" smtClean="0"/>
              <a:t>9/11/25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AA6E6-803A-B04D-9995-9F797258DC5A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60377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68887-D334-5646-9B23-0DD319AE0DA0}" type="datetimeFigureOut">
              <a:rPr lang="en-US" smtClean="0"/>
              <a:t>9/11/25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AA6E6-803A-B04D-9995-9F797258DC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9870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68887-D334-5646-9B23-0DD319AE0DA0}" type="datetimeFigureOut">
              <a:rPr lang="en-US" smtClean="0"/>
              <a:t>9/11/25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AA6E6-803A-B04D-9995-9F797258DC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1759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68887-D334-5646-9B23-0DD319AE0DA0}" type="datetimeFigureOut">
              <a:rPr lang="en-US" smtClean="0"/>
              <a:t>9/11/25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AA6E6-803A-B04D-9995-9F797258DC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7012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68887-D334-5646-9B23-0DD319AE0DA0}" type="datetimeFigureOut">
              <a:rPr lang="en-US" smtClean="0"/>
              <a:t>9/11/25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AA6E6-803A-B04D-9995-9F797258DC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6200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68887-D334-5646-9B23-0DD319AE0DA0}" type="datetimeFigureOut">
              <a:rPr lang="en-US" smtClean="0"/>
              <a:t>9/11/25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AA6E6-803A-B04D-9995-9F797258DC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859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68887-D334-5646-9B23-0DD319AE0DA0}" type="datetimeFigureOut">
              <a:rPr lang="en-US" smtClean="0"/>
              <a:t>9/11/25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AA6E6-803A-B04D-9995-9F797258DC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11872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68887-D334-5646-9B23-0DD319AE0DA0}" type="datetimeFigureOut">
              <a:rPr lang="en-US" smtClean="0"/>
              <a:t>9/11/25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AA6E6-803A-B04D-9995-9F797258DC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876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68887-D334-5646-9B23-0DD319AE0DA0}" type="datetimeFigureOut">
              <a:rPr lang="en-US" smtClean="0"/>
              <a:t>9/11/25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AA6E6-803A-B04D-9995-9F797258DC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809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68887-D334-5646-9B23-0DD319AE0DA0}" type="datetimeFigureOut">
              <a:rPr lang="en-US" smtClean="0"/>
              <a:t>9/11/25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AA6E6-803A-B04D-9995-9F797258DC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1490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68887-D334-5646-9B23-0DD319AE0DA0}" type="datetimeFigureOut">
              <a:rPr lang="en-US" smtClean="0"/>
              <a:t>9/11/25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AA6E6-803A-B04D-9995-9F797258DC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754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68887-D334-5646-9B23-0DD319AE0DA0}" type="datetimeFigureOut">
              <a:rPr lang="en-US" smtClean="0"/>
              <a:t>9/11/25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AA6E6-803A-B04D-9995-9F797258DC5A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984635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68887-D334-5646-9B23-0DD319AE0DA0}" type="datetimeFigureOut">
              <a:rPr lang="en-US" smtClean="0"/>
              <a:t>9/11/25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AA6E6-803A-B04D-9995-9F797258DC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6709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68887-D334-5646-9B23-0DD319AE0DA0}" type="datetimeFigureOut">
              <a:rPr lang="en-US" smtClean="0"/>
              <a:t>9/11/25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AA6E6-803A-B04D-9995-9F797258DC5A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384577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68887-D334-5646-9B23-0DD319AE0DA0}" type="datetimeFigureOut">
              <a:rPr lang="en-US" smtClean="0"/>
              <a:t>9/11/25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AA6E6-803A-B04D-9995-9F797258DC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3578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68887-D334-5646-9B23-0DD319AE0DA0}" type="datetimeFigureOut">
              <a:rPr lang="en-US" smtClean="0"/>
              <a:t>9/11/25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AA6E6-803A-B04D-9995-9F797258DC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0615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68887-D334-5646-9B23-0DD319AE0DA0}" type="datetimeFigureOut">
              <a:rPr lang="en-US" smtClean="0"/>
              <a:t>9/11/25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AA6E6-803A-B04D-9995-9F797258DC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9723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99468887-D334-5646-9B23-0DD319AE0DA0}" type="datetimeFigureOut">
              <a:rPr lang="en-US" smtClean="0"/>
              <a:t>9/11/25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C9DAA6E6-803A-B04D-9995-9F797258DC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84172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4B1F616-8E3F-5AC4-1134-34123A53F90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Week 3: While Loops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5A0AC9EB-3A2E-64D6-56DD-3F206F987A4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5649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D1BC8-FCF6-C3E1-E5CD-88C8268D1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176590"/>
            <a:ext cx="8534400" cy="1507067"/>
          </a:xfrm>
        </p:spPr>
        <p:txBody>
          <a:bodyPr/>
          <a:lstStyle/>
          <a:p>
            <a:r>
              <a:rPr lang="en-US" dirty="0"/>
              <a:t>Outline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55E5EF-3DF4-D30F-A82A-F5C4F097BB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619" y="1292771"/>
            <a:ext cx="8534400" cy="3902221"/>
          </a:xfrm>
        </p:spPr>
        <p:txBody>
          <a:bodyPr/>
          <a:lstStyle/>
          <a:p>
            <a:r>
              <a:rPr lang="en-US" dirty="0"/>
              <a:t>What are loops?</a:t>
            </a:r>
          </a:p>
          <a:p>
            <a:r>
              <a:rPr lang="en-US" dirty="0"/>
              <a:t>What are while loops?</a:t>
            </a:r>
          </a:p>
          <a:p>
            <a:r>
              <a:rPr lang="en-US" dirty="0"/>
              <a:t>When do we use while loops?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7286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211167"/>
            <a:ext cx="8534400" cy="1507067"/>
          </a:xfrm>
        </p:spPr>
        <p:txBody>
          <a:bodyPr/>
          <a:lstStyle/>
          <a:p>
            <a:r>
              <a:rPr lang="en-US" dirty="0"/>
              <a:t>Loops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1972937"/>
            <a:ext cx="11125496" cy="4396865"/>
          </a:xfrm>
        </p:spPr>
        <p:txBody>
          <a:bodyPr anchor="t" anchorCtr="0">
            <a:norm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LOOP = block of code that repeats</a:t>
            </a:r>
          </a:p>
          <a:p>
            <a:pPr lvl="1"/>
            <a:r>
              <a:rPr lang="en-US" sz="2600" dirty="0">
                <a:solidFill>
                  <a:schemeClr val="bg1"/>
                </a:solidFill>
              </a:rPr>
              <a:t> While value entered is &gt; 0, add it to the sum. </a:t>
            </a:r>
          </a:p>
          <a:p>
            <a:pPr lvl="1"/>
            <a:r>
              <a:rPr lang="en-US" sz="2600" dirty="0">
                <a:solidFill>
                  <a:schemeClr val="bg1"/>
                </a:solidFill>
              </a:rPr>
              <a:t> Compute the sum of the first N positive integer numbers. </a:t>
            </a:r>
          </a:p>
          <a:p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b="1" dirty="0">
                <a:solidFill>
                  <a:srgbClr val="FF0000"/>
                </a:solidFill>
              </a:rPr>
              <a:t>While loops</a:t>
            </a:r>
          </a:p>
          <a:p>
            <a:r>
              <a:rPr lang="en-US" sz="2800" dirty="0">
                <a:solidFill>
                  <a:schemeClr val="bg1"/>
                </a:solidFill>
              </a:rPr>
              <a:t>For loops</a:t>
            </a:r>
          </a:p>
        </p:txBody>
      </p:sp>
    </p:spTree>
    <p:extLst>
      <p:ext uri="{BB962C8B-B14F-4D97-AF65-F5344CB8AC3E}">
        <p14:creationId xmlns:p14="http://schemas.microsoft.com/office/powerpoint/2010/main" val="10673932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818" y="85043"/>
            <a:ext cx="8534400" cy="1507067"/>
          </a:xfrm>
        </p:spPr>
        <p:txBody>
          <a:bodyPr/>
          <a:lstStyle/>
          <a:p>
            <a:r>
              <a:rPr lang="en-US" dirty="0"/>
              <a:t>Example Loops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252" y="1471448"/>
            <a:ext cx="11125496" cy="4940396"/>
          </a:xfrm>
        </p:spPr>
        <p:txBody>
          <a:bodyPr anchor="t" anchorCtr="0">
            <a:normAutofit lnSpcReduction="10000"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 Check if at least one character in a string is upper case letter:</a:t>
            </a:r>
          </a:p>
          <a:p>
            <a:pPr lvl="1"/>
            <a:r>
              <a:rPr lang="en-US" sz="2600" dirty="0">
                <a:solidFill>
                  <a:schemeClr val="bg1"/>
                </a:solidFill>
              </a:rPr>
              <a:t>For each character</a:t>
            </a:r>
          </a:p>
          <a:p>
            <a:pPr lvl="2"/>
            <a:r>
              <a:rPr lang="en-US" sz="2400" dirty="0">
                <a:solidFill>
                  <a:schemeClr val="bg1"/>
                </a:solidFill>
              </a:rPr>
              <a:t>If it is an upper-case letter exit the loop</a:t>
            </a:r>
          </a:p>
          <a:p>
            <a:pPr lvl="2"/>
            <a:r>
              <a:rPr lang="en-US" sz="2400" dirty="0">
                <a:solidFill>
                  <a:schemeClr val="bg1"/>
                </a:solidFill>
              </a:rPr>
              <a:t>Else go to the next character in the string</a:t>
            </a:r>
          </a:p>
          <a:p>
            <a:r>
              <a:rPr lang="en-US" sz="2800" dirty="0">
                <a:solidFill>
                  <a:schemeClr val="bg1"/>
                </a:solidFill>
              </a:rPr>
              <a:t>Ask repeatedly the user to enter  an integer number between 1 and 6 until the user enters such a number.</a:t>
            </a:r>
          </a:p>
          <a:p>
            <a:pPr lvl="1"/>
            <a:r>
              <a:rPr lang="en-US" sz="2600" dirty="0">
                <a:solidFill>
                  <a:schemeClr val="bg1"/>
                </a:solidFill>
              </a:rPr>
              <a:t>Ask user to enter a value</a:t>
            </a:r>
          </a:p>
          <a:p>
            <a:pPr lvl="1"/>
            <a:r>
              <a:rPr lang="en-US" sz="2600" dirty="0">
                <a:solidFill>
                  <a:schemeClr val="bg1"/>
                </a:solidFill>
              </a:rPr>
              <a:t>While the value is not between 1 and 6</a:t>
            </a:r>
          </a:p>
          <a:p>
            <a:pPr lvl="2"/>
            <a:r>
              <a:rPr lang="en-US" sz="2400" dirty="0">
                <a:solidFill>
                  <a:schemeClr val="bg1"/>
                </a:solidFill>
              </a:rPr>
              <a:t>Ask the user to enter a new value </a:t>
            </a:r>
          </a:p>
        </p:txBody>
      </p:sp>
    </p:spTree>
    <p:extLst>
      <p:ext uri="{BB962C8B-B14F-4D97-AF65-F5344CB8AC3E}">
        <p14:creationId xmlns:p14="http://schemas.microsoft.com/office/powerpoint/2010/main" val="18213339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8391" y="162910"/>
            <a:ext cx="8534400" cy="1312041"/>
          </a:xfrm>
        </p:spPr>
        <p:txBody>
          <a:bodyPr/>
          <a:lstStyle/>
          <a:p>
            <a:r>
              <a:rPr lang="en-US" dirty="0"/>
              <a:t>Example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1800773"/>
            <a:ext cx="10761554" cy="4516900"/>
          </a:xfrm>
        </p:spPr>
        <p:txBody>
          <a:bodyPr anchor="t" anchorCtr="0">
            <a:normAutofit/>
          </a:bodyPr>
          <a:lstStyle/>
          <a:p>
            <a:r>
              <a:rPr lang="en-US" dirty="0"/>
              <a:t>Ask the user repeatedly to enter an integer value </a:t>
            </a:r>
            <a:r>
              <a:rPr lang="en-US" dirty="0" err="1">
                <a:solidFill>
                  <a:srgbClr val="FFFF00"/>
                </a:solidFill>
              </a:rPr>
              <a:t>v_int</a:t>
            </a:r>
            <a:r>
              <a:rPr lang="en-US" dirty="0">
                <a:solidFill>
                  <a:srgbClr val="FFFF00"/>
                </a:solidFill>
              </a:rPr>
              <a:t> </a:t>
            </a:r>
            <a:r>
              <a:rPr lang="en-US" dirty="0"/>
              <a:t>from the keyboard until the value entered is 0. </a:t>
            </a:r>
          </a:p>
          <a:p>
            <a:r>
              <a:rPr lang="en-US" dirty="0">
                <a:solidFill>
                  <a:schemeClr val="bg1"/>
                </a:solidFill>
                <a:highlight>
                  <a:srgbClr val="FFFF00"/>
                </a:highlight>
              </a:rPr>
              <a:t>User enters: 0</a:t>
            </a:r>
          </a:p>
          <a:p>
            <a:r>
              <a:rPr lang="en-US" dirty="0">
                <a:solidFill>
                  <a:schemeClr val="bg1"/>
                </a:solidFill>
                <a:highlight>
                  <a:srgbClr val="FFFF00"/>
                </a:highlight>
              </a:rPr>
              <a:t>User enters: 1,2,3,-2, 0</a:t>
            </a: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  <a:highlight>
                <a:srgbClr val="FFFF00"/>
              </a:highlight>
            </a:endParaRP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  <a:highlight>
                  <a:srgbClr val="FFFF00"/>
                </a:highlight>
              </a:rPr>
              <a:t>Read user value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  <a:highlight>
                  <a:srgbClr val="FFFF00"/>
                </a:highlight>
              </a:rPr>
              <a:t>While user value is different than 0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  <a:highlight>
                  <a:srgbClr val="FFFF00"/>
                </a:highlight>
              </a:rPr>
              <a:t>	read user value</a:t>
            </a:r>
          </a:p>
          <a:p>
            <a:endParaRPr lang="en-US" dirty="0">
              <a:solidFill>
                <a:schemeClr val="bg1"/>
              </a:solidFill>
              <a:highlight>
                <a:srgbClr val="FFFF00"/>
              </a:highlight>
            </a:endParaRPr>
          </a:p>
          <a:p>
            <a:endParaRPr lang="en-US" dirty="0">
              <a:solidFill>
                <a:schemeClr val="bg1"/>
              </a:solidFill>
              <a:highlight>
                <a:srgbClr val="FFFF00"/>
              </a:highlight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B5E344-5750-B531-5D4F-1DAEC0EA9AB0}"/>
              </a:ext>
            </a:extLst>
          </p:cNvPr>
          <p:cNvSpPr txBox="1"/>
          <p:nvPr/>
        </p:nvSpPr>
        <p:spPr>
          <a:xfrm>
            <a:off x="6828029" y="3289465"/>
            <a:ext cx="4432624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 err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user_val</a:t>
            </a:r>
            <a:r>
              <a:rPr lang="en-US" sz="22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int(input())</a:t>
            </a:r>
          </a:p>
          <a:p>
            <a:endParaRPr lang="en-US" sz="2200" b="1" dirty="0">
              <a:solidFill>
                <a:srgbClr val="FF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2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 </a:t>
            </a:r>
            <a:r>
              <a:rPr lang="en-US" sz="2200" b="1" dirty="0" err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user_val</a:t>
            </a:r>
            <a:r>
              <a:rPr lang="en-US" sz="22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!= 0:</a:t>
            </a:r>
          </a:p>
          <a:p>
            <a:r>
              <a:rPr lang="en-US" sz="22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200" b="1" dirty="0" err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user_val</a:t>
            </a:r>
            <a:r>
              <a:rPr lang="en-US" sz="22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int(input())</a:t>
            </a:r>
          </a:p>
        </p:txBody>
      </p:sp>
    </p:spTree>
    <p:extLst>
      <p:ext uri="{BB962C8B-B14F-4D97-AF65-F5344CB8AC3E}">
        <p14:creationId xmlns:p14="http://schemas.microsoft.com/office/powerpoint/2010/main" val="18120237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6557" y="0"/>
            <a:ext cx="8534400" cy="1312041"/>
          </a:xfrm>
        </p:spPr>
        <p:txBody>
          <a:bodyPr/>
          <a:lstStyle/>
          <a:p>
            <a:r>
              <a:rPr lang="en-US" dirty="0"/>
              <a:t>Example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557" y="1096579"/>
            <a:ext cx="10761554" cy="2876331"/>
          </a:xfrm>
        </p:spPr>
        <p:txBody>
          <a:bodyPr anchor="t" anchorCtr="0">
            <a:noAutofit/>
          </a:bodyPr>
          <a:lstStyle/>
          <a:p>
            <a:r>
              <a:rPr lang="en-US" dirty="0"/>
              <a:t>Ask the user repeatedly to enter an integer value </a:t>
            </a:r>
            <a:r>
              <a:rPr lang="en-US" dirty="0" err="1">
                <a:solidFill>
                  <a:srgbClr val="FFFF00"/>
                </a:solidFill>
              </a:rPr>
              <a:t>v_int</a:t>
            </a:r>
            <a:r>
              <a:rPr lang="en-US" dirty="0">
                <a:solidFill>
                  <a:srgbClr val="FFFF00"/>
                </a:solidFill>
              </a:rPr>
              <a:t> </a:t>
            </a:r>
            <a:r>
              <a:rPr lang="en-US" dirty="0"/>
              <a:t>from the keyboard until the value entered is between 0 and 10. </a:t>
            </a:r>
          </a:p>
          <a:p>
            <a:r>
              <a:rPr lang="en-US" dirty="0"/>
              <a:t>Use cases: </a:t>
            </a:r>
          </a:p>
          <a:p>
            <a:pPr lvl="1"/>
            <a:r>
              <a:rPr lang="en-US" sz="2000" dirty="0">
                <a:highlight>
                  <a:srgbClr val="FFFF00"/>
                </a:highlight>
              </a:rPr>
              <a:t>User enters: 9 </a:t>
            </a:r>
          </a:p>
          <a:p>
            <a:pPr lvl="1"/>
            <a:r>
              <a:rPr lang="en-US" sz="2000" dirty="0">
                <a:highlight>
                  <a:srgbClr val="FFFF00"/>
                </a:highlight>
              </a:rPr>
              <a:t>User enters: -1, 10 </a:t>
            </a:r>
          </a:p>
          <a:p>
            <a:pPr lvl="1"/>
            <a:r>
              <a:rPr lang="en-US" sz="2000" dirty="0">
                <a:highlight>
                  <a:srgbClr val="FFFF00"/>
                </a:highlight>
              </a:rPr>
              <a:t>User enters: 20, 15, -1, 5 </a:t>
            </a:r>
          </a:p>
          <a:p>
            <a:pPr lvl="1"/>
            <a:endParaRPr lang="en-US" sz="2000" dirty="0">
              <a:highlight>
                <a:srgbClr val="FFFF00"/>
              </a:highlight>
            </a:endParaRPr>
          </a:p>
          <a:p>
            <a:r>
              <a:rPr lang="en-US" sz="2200" strike="sngStrike" dirty="0">
                <a:highlight>
                  <a:srgbClr val="FFFF00"/>
                </a:highlight>
              </a:rPr>
              <a:t>While user value is less than 0 and greater than 10</a:t>
            </a:r>
          </a:p>
          <a:p>
            <a:r>
              <a:rPr lang="en-US" sz="2200" strike="sngStrike" dirty="0">
                <a:highlight>
                  <a:srgbClr val="FFFF00"/>
                </a:highlight>
              </a:rPr>
              <a:t>While user value is greater than or equal to 0 and less than or equal10</a:t>
            </a:r>
          </a:p>
          <a:p>
            <a:r>
              <a:rPr lang="en-US" sz="2200" dirty="0">
                <a:highlight>
                  <a:srgbClr val="FFFF00"/>
                </a:highlight>
              </a:rPr>
              <a:t>Ask user to enter user value</a:t>
            </a:r>
          </a:p>
          <a:p>
            <a:r>
              <a:rPr lang="en-US" sz="2200" dirty="0">
                <a:highlight>
                  <a:srgbClr val="FFFF00"/>
                </a:highlight>
              </a:rPr>
              <a:t>While user value is less than 0 or greater than 10</a:t>
            </a:r>
          </a:p>
          <a:p>
            <a:pPr lvl="1"/>
            <a:r>
              <a:rPr lang="en-US" sz="2000" dirty="0">
                <a:highlight>
                  <a:srgbClr val="FFFF00"/>
                </a:highlight>
              </a:rPr>
              <a:t>Ask user to enter a new value</a:t>
            </a:r>
          </a:p>
          <a:p>
            <a:endParaRPr lang="en-US" sz="2200" dirty="0">
              <a:highlight>
                <a:srgbClr val="FFFF00"/>
              </a:highligh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EA2EB2-88B0-6395-C9E8-87FD5F1FD7BC}"/>
              </a:ext>
            </a:extLst>
          </p:cNvPr>
          <p:cNvSpPr txBox="1"/>
          <p:nvPr/>
        </p:nvSpPr>
        <p:spPr>
          <a:xfrm>
            <a:off x="5533636" y="2118672"/>
            <a:ext cx="6301725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 err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user_val</a:t>
            </a:r>
            <a:r>
              <a:rPr lang="en-US" sz="22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int(input())</a:t>
            </a:r>
          </a:p>
          <a:p>
            <a:r>
              <a:rPr lang="en-US" sz="22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 </a:t>
            </a:r>
            <a:r>
              <a:rPr lang="en-US" sz="2200" b="1" dirty="0" err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user_val</a:t>
            </a:r>
            <a:r>
              <a:rPr lang="en-US" sz="22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 0 or </a:t>
            </a:r>
            <a:r>
              <a:rPr lang="en-US" sz="2200" b="1" dirty="0" err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user_val</a:t>
            </a:r>
            <a:r>
              <a:rPr lang="en-US" sz="22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&gt; 10:</a:t>
            </a:r>
          </a:p>
          <a:p>
            <a:r>
              <a:rPr lang="en-US" sz="22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200" b="1" dirty="0" err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user_val</a:t>
            </a:r>
            <a:r>
              <a:rPr lang="en-US" sz="22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int(input())</a:t>
            </a:r>
          </a:p>
          <a:p>
            <a:endParaRPr lang="en-US" sz="2200" b="1" dirty="0">
              <a:solidFill>
                <a:srgbClr val="FF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63804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9204" y="-71252"/>
            <a:ext cx="8534400" cy="1312041"/>
          </a:xfrm>
        </p:spPr>
        <p:txBody>
          <a:bodyPr/>
          <a:lstStyle/>
          <a:p>
            <a:r>
              <a:rPr lang="en-US" dirty="0"/>
              <a:t>Example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321" y="1147628"/>
            <a:ext cx="10953606" cy="5710372"/>
          </a:xfrm>
        </p:spPr>
        <p:txBody>
          <a:bodyPr anchor="t" anchorCtr="0">
            <a:normAutofit fontScale="85000" lnSpcReduction="20000"/>
          </a:bodyPr>
          <a:lstStyle/>
          <a:p>
            <a:r>
              <a:rPr lang="en-US" dirty="0"/>
              <a:t>Write a while loop that asks the user to enter a max value and then computes the sum of positive even numbers the user enters while the sum is less than the max value. </a:t>
            </a:r>
          </a:p>
          <a:p>
            <a:endParaRPr lang="en-US" dirty="0"/>
          </a:p>
          <a:p>
            <a:r>
              <a:rPr lang="en-US" dirty="0">
                <a:highlight>
                  <a:srgbClr val="FFFF00"/>
                </a:highlight>
              </a:rPr>
              <a:t> Max value = 10, Values entered 1,3,4, 5,6, STOP</a:t>
            </a:r>
          </a:p>
          <a:p>
            <a:r>
              <a:rPr lang="en-US" dirty="0">
                <a:highlight>
                  <a:srgbClr val="FFFF00"/>
                </a:highlight>
              </a:rPr>
              <a:t>                           1.     3      4         5        </a:t>
            </a:r>
          </a:p>
          <a:p>
            <a:r>
              <a:rPr lang="en-US" dirty="0">
                <a:highlight>
                  <a:srgbClr val="FFFF00"/>
                </a:highlight>
              </a:rPr>
              <a:t>Sum = 0, Sum = 0,    0      4         4        12   STOP</a:t>
            </a:r>
          </a:p>
          <a:p>
            <a:endParaRPr lang="en-US" dirty="0">
              <a:highlight>
                <a:srgbClr val="FFFF00"/>
              </a:highlight>
            </a:endParaRPr>
          </a:p>
          <a:p>
            <a:r>
              <a:rPr lang="en-US" dirty="0">
                <a:highlight>
                  <a:srgbClr val="FFFF00"/>
                </a:highlight>
              </a:rPr>
              <a:t>Enter </a:t>
            </a:r>
            <a:r>
              <a:rPr lang="en-US" dirty="0" err="1">
                <a:highlight>
                  <a:srgbClr val="FFFF00"/>
                </a:highlight>
              </a:rPr>
              <a:t>Max_value</a:t>
            </a:r>
            <a:r>
              <a:rPr lang="en-US" dirty="0">
                <a:highlight>
                  <a:srgbClr val="FFFF00"/>
                </a:highlight>
              </a:rPr>
              <a:t> </a:t>
            </a:r>
          </a:p>
          <a:p>
            <a:r>
              <a:rPr lang="en-US" dirty="0">
                <a:highlight>
                  <a:srgbClr val="FFFF00"/>
                </a:highlight>
              </a:rPr>
              <a:t>Initialize </a:t>
            </a:r>
            <a:r>
              <a:rPr lang="en-US" dirty="0" err="1">
                <a:highlight>
                  <a:srgbClr val="FFFF00"/>
                </a:highlight>
              </a:rPr>
              <a:t>sum_values</a:t>
            </a:r>
            <a:r>
              <a:rPr lang="en-US" dirty="0">
                <a:highlight>
                  <a:srgbClr val="FFFF00"/>
                </a:highlight>
              </a:rPr>
              <a:t> to 0 </a:t>
            </a:r>
          </a:p>
          <a:p>
            <a:endParaRPr lang="en-US" dirty="0">
              <a:highlight>
                <a:srgbClr val="FFFF00"/>
              </a:highlight>
            </a:endParaRPr>
          </a:p>
          <a:p>
            <a:r>
              <a:rPr lang="en-US" dirty="0">
                <a:highlight>
                  <a:srgbClr val="FFFF00"/>
                </a:highlight>
              </a:rPr>
              <a:t>While sum of user values less than </a:t>
            </a:r>
            <a:r>
              <a:rPr lang="en-US" dirty="0" err="1">
                <a:highlight>
                  <a:srgbClr val="FFFF00"/>
                </a:highlight>
              </a:rPr>
              <a:t>max_value</a:t>
            </a:r>
            <a:endParaRPr lang="en-US" dirty="0">
              <a:highlight>
                <a:srgbClr val="FFFF00"/>
              </a:highlight>
            </a:endParaRPr>
          </a:p>
          <a:p>
            <a:pPr lvl="1"/>
            <a:r>
              <a:rPr lang="en-US" dirty="0">
                <a:highlight>
                  <a:srgbClr val="FFFF00"/>
                </a:highlight>
              </a:rPr>
              <a:t>Enter </a:t>
            </a:r>
            <a:r>
              <a:rPr lang="en-US" dirty="0" err="1">
                <a:highlight>
                  <a:srgbClr val="FFFF00"/>
                </a:highlight>
              </a:rPr>
              <a:t>user_value</a:t>
            </a:r>
            <a:endParaRPr lang="en-US" dirty="0">
              <a:highlight>
                <a:srgbClr val="FFFF00"/>
              </a:highlight>
            </a:endParaRPr>
          </a:p>
          <a:p>
            <a:pPr lvl="1"/>
            <a:r>
              <a:rPr lang="en-US" dirty="0">
                <a:highlight>
                  <a:srgbClr val="FFFF00"/>
                </a:highlight>
              </a:rPr>
              <a:t>If user value is &gt; 0 and even</a:t>
            </a:r>
          </a:p>
          <a:p>
            <a:pPr lvl="2"/>
            <a:r>
              <a:rPr lang="en-US" dirty="0">
                <a:highlight>
                  <a:srgbClr val="FFFF00"/>
                </a:highlight>
              </a:rPr>
              <a:t>Add it to sum user values </a:t>
            </a:r>
          </a:p>
          <a:p>
            <a:pPr lvl="2"/>
            <a:endParaRPr lang="en-US" dirty="0">
              <a:highlight>
                <a:srgbClr val="FFFF00"/>
              </a:highlight>
            </a:endParaRPr>
          </a:p>
          <a:p>
            <a:r>
              <a:rPr lang="en-US" dirty="0">
                <a:highlight>
                  <a:srgbClr val="FFFF00"/>
                </a:highlight>
              </a:rPr>
              <a:t>If sum values &lt;  </a:t>
            </a:r>
            <a:r>
              <a:rPr lang="en-US" dirty="0" err="1">
                <a:highlight>
                  <a:srgbClr val="FFFF00"/>
                </a:highlight>
              </a:rPr>
              <a:t>max_value</a:t>
            </a:r>
            <a:endParaRPr lang="en-US" dirty="0">
              <a:highlight>
                <a:srgbClr val="FFFF00"/>
              </a:highlight>
            </a:endParaRPr>
          </a:p>
          <a:p>
            <a:pPr lvl="1"/>
            <a:r>
              <a:rPr lang="en-US" dirty="0">
                <a:highlight>
                  <a:srgbClr val="FFFF00"/>
                </a:highlight>
              </a:rPr>
              <a:t>Subtract </a:t>
            </a:r>
            <a:r>
              <a:rPr lang="en-US" dirty="0" err="1">
                <a:highlight>
                  <a:srgbClr val="FFFF00"/>
                </a:highlight>
              </a:rPr>
              <a:t>user_value</a:t>
            </a:r>
            <a:r>
              <a:rPr lang="en-US" dirty="0">
                <a:highlight>
                  <a:srgbClr val="FFFF00"/>
                </a:highlight>
              </a:rPr>
              <a:t> from </a:t>
            </a:r>
            <a:r>
              <a:rPr lang="en-US" dirty="0" err="1">
                <a:highlight>
                  <a:srgbClr val="FFFF00"/>
                </a:highlight>
              </a:rPr>
              <a:t>sum_values</a:t>
            </a:r>
            <a:r>
              <a:rPr lang="en-US" dirty="0">
                <a:highlight>
                  <a:srgbClr val="FFFF00"/>
                </a:highlight>
              </a:rPr>
              <a:t>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A853CF-EA12-65DB-B096-F4EBA352125F}"/>
              </a:ext>
            </a:extLst>
          </p:cNvPr>
          <p:cNvSpPr txBox="1"/>
          <p:nvPr/>
        </p:nvSpPr>
        <p:spPr>
          <a:xfrm>
            <a:off x="4524788" y="3128075"/>
            <a:ext cx="7638630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 err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max_val</a:t>
            </a:r>
            <a:r>
              <a:rPr lang="en-US" sz="22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int(input())</a:t>
            </a:r>
          </a:p>
          <a:p>
            <a:r>
              <a:rPr lang="en-US" sz="2200" b="1" dirty="0" err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sum_values</a:t>
            </a:r>
            <a:r>
              <a:rPr lang="en-US" sz="22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0</a:t>
            </a:r>
          </a:p>
          <a:p>
            <a:r>
              <a:rPr lang="en-US" sz="22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 </a:t>
            </a:r>
            <a:r>
              <a:rPr lang="en-US" sz="2200" b="1" dirty="0" err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sum_values</a:t>
            </a:r>
            <a:r>
              <a:rPr lang="en-US" sz="22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 </a:t>
            </a:r>
            <a:r>
              <a:rPr lang="en-US" sz="2200" b="1" dirty="0" err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max_val</a:t>
            </a:r>
            <a:r>
              <a:rPr lang="en-US" sz="22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22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200" b="1" dirty="0" err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user_val</a:t>
            </a:r>
            <a:r>
              <a:rPr lang="en-US" sz="22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int(input())</a:t>
            </a:r>
          </a:p>
          <a:p>
            <a:r>
              <a:rPr lang="en-US" sz="22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if </a:t>
            </a:r>
            <a:r>
              <a:rPr lang="en-US" sz="2200" b="1" dirty="0" err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user_val</a:t>
            </a:r>
            <a:r>
              <a:rPr lang="en-US" sz="22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&gt; 0 and </a:t>
            </a:r>
            <a:r>
              <a:rPr lang="en-US" sz="2200" b="1" dirty="0" err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user_val</a:t>
            </a:r>
            <a:r>
              <a:rPr lang="en-US" sz="22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% 2 == 0:</a:t>
            </a:r>
          </a:p>
          <a:p>
            <a:r>
              <a:rPr lang="en-US" sz="22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200" b="1" dirty="0" err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sum_values</a:t>
            </a:r>
            <a:r>
              <a:rPr lang="en-US" sz="22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+= </a:t>
            </a:r>
            <a:r>
              <a:rPr lang="en-US" sz="2200" b="1" dirty="0" err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user_val</a:t>
            </a:r>
            <a:endParaRPr lang="en-US" sz="2200" b="1" dirty="0">
              <a:solidFill>
                <a:srgbClr val="FF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2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</a:t>
            </a:r>
            <a:r>
              <a:rPr lang="en-US" sz="2200" b="1" dirty="0" err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sum_values</a:t>
            </a:r>
            <a:r>
              <a:rPr lang="en-US" sz="22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&gt; </a:t>
            </a:r>
            <a:r>
              <a:rPr lang="en-US" sz="2200" b="1" dirty="0" err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max_val</a:t>
            </a:r>
            <a:r>
              <a:rPr lang="en-US" sz="22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22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200" b="1" dirty="0" err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sum_values</a:t>
            </a:r>
            <a:r>
              <a:rPr lang="en-US" sz="22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-= </a:t>
            </a:r>
            <a:r>
              <a:rPr lang="en-US" sz="2200" b="1" dirty="0" err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user_val</a:t>
            </a:r>
            <a:endParaRPr lang="en-US" sz="2200" b="1" dirty="0">
              <a:solidFill>
                <a:srgbClr val="FF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200" b="1" dirty="0">
              <a:solidFill>
                <a:srgbClr val="FF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61858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488731"/>
            <a:ext cx="8534400" cy="1312041"/>
          </a:xfrm>
        </p:spPr>
        <p:txBody>
          <a:bodyPr/>
          <a:lstStyle/>
          <a:p>
            <a:r>
              <a:rPr lang="en-US" dirty="0"/>
              <a:t>Example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1800772"/>
            <a:ext cx="10761554" cy="1846318"/>
          </a:xfrm>
        </p:spPr>
        <p:txBody>
          <a:bodyPr anchor="t" anchorCtr="0">
            <a:normAutofit fontScale="92500" lnSpcReduction="10000"/>
          </a:bodyPr>
          <a:lstStyle/>
          <a:p>
            <a:r>
              <a:rPr lang="en-US" dirty="0"/>
              <a:t>Write a while loop that computes the average of a series of  integer values (</a:t>
            </a:r>
            <a:r>
              <a:rPr lang="en-US" dirty="0" err="1">
                <a:solidFill>
                  <a:srgbClr val="FFFF00"/>
                </a:solidFill>
              </a:rPr>
              <a:t>vInt</a:t>
            </a:r>
            <a:r>
              <a:rPr lang="en-US" dirty="0"/>
              <a:t>) entered by the user. The loop stops when user enters 0 or a negative number.</a:t>
            </a:r>
          </a:p>
          <a:p>
            <a:r>
              <a:rPr lang="en-US" dirty="0"/>
              <a:t>Use cases:</a:t>
            </a:r>
          </a:p>
          <a:p>
            <a:pPr lvl="1"/>
            <a:r>
              <a:rPr lang="en-US" dirty="0">
                <a:highlight>
                  <a:srgbClr val="FFFF00"/>
                </a:highlight>
              </a:rPr>
              <a:t>2, 3, 4,5 -1</a:t>
            </a:r>
          </a:p>
          <a:p>
            <a:pPr lvl="1"/>
            <a:r>
              <a:rPr lang="en-US" dirty="0">
                <a:highlight>
                  <a:srgbClr val="FFFF00"/>
                </a:highlight>
              </a:rPr>
              <a:t>4,7,0</a:t>
            </a:r>
          </a:p>
        </p:txBody>
      </p:sp>
    </p:spTree>
    <p:extLst>
      <p:ext uri="{BB962C8B-B14F-4D97-AF65-F5344CB8AC3E}">
        <p14:creationId xmlns:p14="http://schemas.microsoft.com/office/powerpoint/2010/main" val="32717237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488731"/>
            <a:ext cx="8534400" cy="1312041"/>
          </a:xfrm>
        </p:spPr>
        <p:txBody>
          <a:bodyPr/>
          <a:lstStyle/>
          <a:p>
            <a:r>
              <a:rPr lang="en-US" dirty="0"/>
              <a:t>Example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1800772"/>
            <a:ext cx="10761554" cy="784773"/>
          </a:xfrm>
        </p:spPr>
        <p:txBody>
          <a:bodyPr anchor="t" anchorCtr="0"/>
          <a:lstStyle/>
          <a:p>
            <a:r>
              <a:rPr lang="en-US" dirty="0"/>
              <a:t>Write a loop that reads a character </a:t>
            </a:r>
            <a:r>
              <a:rPr lang="en-US" dirty="0" err="1">
                <a:solidFill>
                  <a:srgbClr val="FFFF00"/>
                </a:solidFill>
              </a:rPr>
              <a:t>ch</a:t>
            </a:r>
            <a:r>
              <a:rPr lang="en-US" dirty="0"/>
              <a:t> from the keyboard until that character is either 'q' or 'Q'. </a:t>
            </a:r>
          </a:p>
        </p:txBody>
      </p:sp>
    </p:spTree>
    <p:extLst>
      <p:ext uri="{BB962C8B-B14F-4D97-AF65-F5344CB8AC3E}">
        <p14:creationId xmlns:p14="http://schemas.microsoft.com/office/powerpoint/2010/main" val="6842274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0644" y="98556"/>
            <a:ext cx="8534400" cy="1507067"/>
          </a:xfrm>
        </p:spPr>
        <p:txBody>
          <a:bodyPr/>
          <a:lstStyle/>
          <a:p>
            <a:r>
              <a:rPr lang="en-US" dirty="0"/>
              <a:t>While loop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940" y="1605623"/>
            <a:ext cx="6268063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Initialize vars in bool condition</a:t>
            </a:r>
          </a:p>
          <a:p>
            <a:r>
              <a:rPr lang="en-US" sz="2400" b="1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while bool condition:</a:t>
            </a:r>
          </a:p>
          <a:p>
            <a:r>
              <a:rPr lang="en-US" sz="2400" b="1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     instruction 1</a:t>
            </a:r>
          </a:p>
          <a:p>
            <a:r>
              <a:rPr lang="en-US" sz="2400" b="1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     instruction 2</a:t>
            </a:r>
          </a:p>
          <a:p>
            <a:r>
              <a:rPr lang="en-US" sz="2400" b="1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     </a:t>
            </a:r>
            <a:r>
              <a:rPr lang="is-IS" sz="2400" b="1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…</a:t>
            </a:r>
          </a:p>
          <a:p>
            <a:r>
              <a:rPr lang="is-IS" sz="2400" b="1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     update statement</a:t>
            </a:r>
          </a:p>
          <a:p>
            <a:r>
              <a:rPr lang="is-IS" sz="2400" b="1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     // change boolean condition</a:t>
            </a:r>
            <a:endParaRPr lang="en-US" sz="2400" b="1" dirty="0">
              <a:solidFill>
                <a:srgbClr val="FFFF00"/>
              </a:solidFill>
              <a:latin typeface="Courier" charset="0"/>
              <a:ea typeface="Courier" charset="0"/>
              <a:cs typeface="Courier" charset="0"/>
            </a:endParaRPr>
          </a:p>
          <a:p>
            <a:r>
              <a:rPr lang="en-US" sz="2400" b="1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instruction after loop</a:t>
            </a:r>
          </a:p>
        </p:txBody>
      </p:sp>
      <p:sp>
        <p:nvSpPr>
          <p:cNvPr id="8" name="Diamond 7"/>
          <p:cNvSpPr/>
          <p:nvPr/>
        </p:nvSpPr>
        <p:spPr>
          <a:xfrm>
            <a:off x="7946247" y="3470931"/>
            <a:ext cx="2932386" cy="993227"/>
          </a:xfrm>
          <a:prstGeom prst="diamond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765044" y="3644378"/>
            <a:ext cx="14346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Boolean condition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56590" y="5465845"/>
            <a:ext cx="2736526" cy="6463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Instruction after loop</a:t>
            </a:r>
          </a:p>
          <a:p>
            <a:r>
              <a:rPr lang="is-IS" b="1" dirty="0">
                <a:solidFill>
                  <a:schemeClr val="bg1"/>
                </a:solidFill>
              </a:rPr>
              <a:t>….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316566" y="2594754"/>
            <a:ext cx="2414251" cy="6463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Instruction 1</a:t>
            </a:r>
          </a:p>
          <a:p>
            <a:r>
              <a:rPr lang="en-US" b="1" dirty="0">
                <a:solidFill>
                  <a:schemeClr val="bg1"/>
                </a:solidFill>
              </a:rPr>
              <a:t>Instruction 2: break</a:t>
            </a:r>
          </a:p>
        </p:txBody>
      </p:sp>
      <p:cxnSp>
        <p:nvCxnSpPr>
          <p:cNvPr id="13" name="Elbow Connector 12"/>
          <p:cNvCxnSpPr>
            <a:cxnSpLocks/>
            <a:stCxn id="16" idx="2"/>
          </p:cNvCxnSpPr>
          <p:nvPr/>
        </p:nvCxnSpPr>
        <p:spPr>
          <a:xfrm rot="10800000" flipV="1">
            <a:off x="7501187" y="1321506"/>
            <a:ext cx="1705721" cy="463595"/>
          </a:xfrm>
          <a:prstGeom prst="bentConnector3">
            <a:avLst>
              <a:gd name="adj1" fmla="val 99911"/>
            </a:avLst>
          </a:prstGeom>
          <a:ln w="25400">
            <a:solidFill>
              <a:schemeClr val="bg1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671532" y="4727114"/>
            <a:ext cx="7521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False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28507" y="4094826"/>
            <a:ext cx="6431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True</a:t>
            </a:r>
          </a:p>
        </p:txBody>
      </p:sp>
      <p:sp>
        <p:nvSpPr>
          <p:cNvPr id="16" name="Oval 15"/>
          <p:cNvSpPr/>
          <p:nvPr/>
        </p:nvSpPr>
        <p:spPr>
          <a:xfrm>
            <a:off x="9206907" y="1163851"/>
            <a:ext cx="354724" cy="315311"/>
          </a:xfrm>
          <a:prstGeom prst="ellipse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cxnSp>
        <p:nvCxnSpPr>
          <p:cNvPr id="17" name="Straight Arrow Connector 16"/>
          <p:cNvCxnSpPr>
            <a:stCxn id="8" idx="2"/>
          </p:cNvCxnSpPr>
          <p:nvPr/>
        </p:nvCxnSpPr>
        <p:spPr>
          <a:xfrm>
            <a:off x="9412440" y="4464158"/>
            <a:ext cx="0" cy="996432"/>
          </a:xfrm>
          <a:prstGeom prst="straightConnector1">
            <a:avLst/>
          </a:prstGeom>
          <a:ln w="28575">
            <a:solidFill>
              <a:schemeClr val="bg1">
                <a:alpha val="6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Elbow Connector 21"/>
          <p:cNvCxnSpPr>
            <a:cxnSpLocks/>
            <a:stCxn id="8" idx="1"/>
            <a:endCxn id="11" idx="2"/>
          </p:cNvCxnSpPr>
          <p:nvPr/>
        </p:nvCxnSpPr>
        <p:spPr>
          <a:xfrm rot="10800000">
            <a:off x="7523693" y="3241085"/>
            <a:ext cx="422555" cy="726460"/>
          </a:xfrm>
          <a:prstGeom prst="bentConnector2">
            <a:avLst/>
          </a:prstGeom>
          <a:ln w="25400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cxnSpLocks/>
            <a:stCxn id="16" idx="4"/>
            <a:endCxn id="8" idx="0"/>
          </p:cNvCxnSpPr>
          <p:nvPr/>
        </p:nvCxnSpPr>
        <p:spPr>
          <a:xfrm>
            <a:off x="9384269" y="1479162"/>
            <a:ext cx="28171" cy="1991769"/>
          </a:xfrm>
          <a:prstGeom prst="straightConnector1">
            <a:avLst/>
          </a:prstGeom>
          <a:ln w="28575">
            <a:solidFill>
              <a:schemeClr val="bg1">
                <a:alpha val="6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6412223" y="1777737"/>
            <a:ext cx="2222938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Update statement</a:t>
            </a:r>
          </a:p>
        </p:txBody>
      </p:sp>
      <p:cxnSp>
        <p:nvCxnSpPr>
          <p:cNvPr id="48" name="Straight Arrow Connector 47"/>
          <p:cNvCxnSpPr>
            <a:cxnSpLocks/>
            <a:stCxn id="11" idx="0"/>
            <a:endCxn id="39" idx="2"/>
          </p:cNvCxnSpPr>
          <p:nvPr/>
        </p:nvCxnSpPr>
        <p:spPr>
          <a:xfrm flipV="1">
            <a:off x="7523692" y="2147069"/>
            <a:ext cx="0" cy="447685"/>
          </a:xfrm>
          <a:prstGeom prst="straightConnector1">
            <a:avLst/>
          </a:prstGeom>
          <a:ln w="28575">
            <a:solidFill>
              <a:schemeClr val="bg1">
                <a:alpha val="6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cxnSpLocks/>
            <a:endCxn id="16" idx="0"/>
          </p:cNvCxnSpPr>
          <p:nvPr/>
        </p:nvCxnSpPr>
        <p:spPr>
          <a:xfrm>
            <a:off x="9384269" y="767255"/>
            <a:ext cx="0" cy="396596"/>
          </a:xfrm>
          <a:prstGeom prst="straightConnector1">
            <a:avLst/>
          </a:prstGeom>
          <a:ln w="28575">
            <a:solidFill>
              <a:schemeClr val="bg1">
                <a:alpha val="6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176F81FA-1269-653E-D9C1-CE59683B1585}"/>
              </a:ext>
            </a:extLst>
          </p:cNvPr>
          <p:cNvSpPr txBox="1"/>
          <p:nvPr/>
        </p:nvSpPr>
        <p:spPr>
          <a:xfrm>
            <a:off x="7539914" y="372624"/>
            <a:ext cx="3553202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Initialize vars in bool condition</a:t>
            </a:r>
          </a:p>
        </p:txBody>
      </p:sp>
    </p:spTree>
    <p:extLst>
      <p:ext uri="{BB962C8B-B14F-4D97-AF65-F5344CB8AC3E}">
        <p14:creationId xmlns:p14="http://schemas.microsoft.com/office/powerpoint/2010/main" val="27912099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5562" y="-66648"/>
            <a:ext cx="8534400" cy="1507067"/>
          </a:xfrm>
        </p:spPr>
        <p:txBody>
          <a:bodyPr/>
          <a:lstStyle/>
          <a:p>
            <a:r>
              <a:rPr lang="en-US" dirty="0"/>
              <a:t>Example While loop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29" y="1161126"/>
            <a:ext cx="8211002" cy="5586867"/>
          </a:xfrm>
          <a:prstGeom prst="rect">
            <a:avLst/>
          </a:prstGeom>
        </p:spPr>
      </p:pic>
      <p:sp>
        <p:nvSpPr>
          <p:cNvPr id="8" name="Diamond 7"/>
          <p:cNvSpPr/>
          <p:nvPr/>
        </p:nvSpPr>
        <p:spPr>
          <a:xfrm>
            <a:off x="9444410" y="3552427"/>
            <a:ext cx="2747590" cy="993227"/>
          </a:xfrm>
          <a:prstGeom prst="diamond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008306" y="3725874"/>
            <a:ext cx="17826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temperature</a:t>
            </a:r>
            <a:r>
              <a:rPr lang="en-US" b="1" dirty="0">
                <a:solidFill>
                  <a:schemeClr val="bg1"/>
                </a:solidFill>
              </a:rPr>
              <a:t> &gt; </a:t>
            </a:r>
            <a:r>
              <a:rPr lang="en-US" b="1" dirty="0" err="1">
                <a:solidFill>
                  <a:schemeClr val="bg1"/>
                </a:solidFill>
              </a:rPr>
              <a:t>max_temp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365342" y="5552847"/>
            <a:ext cx="2736526" cy="6463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Instruction after loop</a:t>
            </a:r>
          </a:p>
          <a:p>
            <a:r>
              <a:rPr lang="is-IS" b="1" dirty="0">
                <a:solidFill>
                  <a:schemeClr val="bg1"/>
                </a:solidFill>
              </a:rPr>
              <a:t>….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750177" y="2961600"/>
            <a:ext cx="1506375" cy="6463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print(</a:t>
            </a:r>
            <a:r>
              <a:rPr lang="mr-IN" b="1" dirty="0">
                <a:solidFill>
                  <a:schemeClr val="bg1"/>
                </a:solidFill>
              </a:rPr>
              <a:t>…</a:t>
            </a:r>
            <a:r>
              <a:rPr lang="en-US" b="1" dirty="0">
                <a:solidFill>
                  <a:schemeClr val="bg1"/>
                </a:solidFill>
              </a:rPr>
              <a:t>)</a:t>
            </a:r>
          </a:p>
          <a:p>
            <a:r>
              <a:rPr lang="en-US" b="1" dirty="0">
                <a:solidFill>
                  <a:schemeClr val="bg1"/>
                </a:solidFill>
              </a:rPr>
              <a:t>print (</a:t>
            </a:r>
            <a:r>
              <a:rPr lang="mr-IN" b="1" dirty="0">
                <a:solidFill>
                  <a:schemeClr val="bg1"/>
                </a:solidFill>
              </a:rPr>
              <a:t>…</a:t>
            </a:r>
            <a:r>
              <a:rPr lang="en-US" b="1" dirty="0">
                <a:solidFill>
                  <a:schemeClr val="bg1"/>
                </a:solidFill>
              </a:rPr>
              <a:t>.)</a:t>
            </a:r>
          </a:p>
        </p:txBody>
      </p:sp>
      <p:cxnSp>
        <p:nvCxnSpPr>
          <p:cNvPr id="13" name="Elbow Connector 12"/>
          <p:cNvCxnSpPr>
            <a:stCxn id="16" idx="2"/>
            <a:endCxn id="39" idx="0"/>
          </p:cNvCxnSpPr>
          <p:nvPr/>
        </p:nvCxnSpPr>
        <p:spPr>
          <a:xfrm rot="10800000" flipV="1">
            <a:off x="9503365" y="1054565"/>
            <a:ext cx="1137479" cy="527261"/>
          </a:xfrm>
          <a:prstGeom prst="bentConnector2">
            <a:avLst/>
          </a:prstGeom>
          <a:ln w="25400">
            <a:solidFill>
              <a:schemeClr val="bg1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972754" y="4817466"/>
            <a:ext cx="7521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False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44016" y="4124923"/>
            <a:ext cx="6431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True</a:t>
            </a:r>
          </a:p>
        </p:txBody>
      </p:sp>
      <p:sp>
        <p:nvSpPr>
          <p:cNvPr id="16" name="Oval 15"/>
          <p:cNvSpPr/>
          <p:nvPr/>
        </p:nvSpPr>
        <p:spPr>
          <a:xfrm>
            <a:off x="10640843" y="896910"/>
            <a:ext cx="354724" cy="315311"/>
          </a:xfrm>
          <a:prstGeom prst="ellipse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cxnSp>
        <p:nvCxnSpPr>
          <p:cNvPr id="17" name="Straight Arrow Connector 16"/>
          <p:cNvCxnSpPr>
            <a:stCxn id="8" idx="2"/>
          </p:cNvCxnSpPr>
          <p:nvPr/>
        </p:nvCxnSpPr>
        <p:spPr>
          <a:xfrm>
            <a:off x="10818205" y="4545654"/>
            <a:ext cx="0" cy="1007193"/>
          </a:xfrm>
          <a:prstGeom prst="straightConnector1">
            <a:avLst/>
          </a:prstGeom>
          <a:ln w="28575">
            <a:solidFill>
              <a:schemeClr val="bg1">
                <a:alpha val="6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Elbow Connector 21"/>
          <p:cNvCxnSpPr>
            <a:stCxn id="8" idx="1"/>
          </p:cNvCxnSpPr>
          <p:nvPr/>
        </p:nvCxnSpPr>
        <p:spPr>
          <a:xfrm rot="10800000">
            <a:off x="9286746" y="3606663"/>
            <a:ext cx="157664" cy="442379"/>
          </a:xfrm>
          <a:prstGeom prst="bentConnector2">
            <a:avLst/>
          </a:prstGeom>
          <a:ln w="25400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16" idx="4"/>
            <a:endCxn id="8" idx="0"/>
          </p:cNvCxnSpPr>
          <p:nvPr/>
        </p:nvCxnSpPr>
        <p:spPr>
          <a:xfrm>
            <a:off x="10818205" y="1212221"/>
            <a:ext cx="0" cy="2340206"/>
          </a:xfrm>
          <a:prstGeom prst="straightConnector1">
            <a:avLst/>
          </a:prstGeom>
          <a:ln w="28575">
            <a:solidFill>
              <a:schemeClr val="bg1">
                <a:alpha val="6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8366253" y="1581827"/>
            <a:ext cx="2274221" cy="92333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Update statement</a:t>
            </a:r>
          </a:p>
          <a:p>
            <a:r>
              <a:rPr lang="en-US" b="1" dirty="0">
                <a:solidFill>
                  <a:srgbClr val="FF0000"/>
                </a:solidFill>
              </a:rPr>
              <a:t>temperature </a:t>
            </a:r>
            <a:r>
              <a:rPr lang="en-US" b="1" dirty="0">
                <a:solidFill>
                  <a:schemeClr val="bg1"/>
                </a:solidFill>
              </a:rPr>
              <a:t>=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>
                <a:solidFill>
                  <a:schemeClr val="bg1"/>
                </a:solidFill>
              </a:rPr>
              <a:t>input(</a:t>
            </a:r>
            <a:r>
              <a:rPr lang="mr-IN" b="1" dirty="0">
                <a:solidFill>
                  <a:schemeClr val="bg1"/>
                </a:solidFill>
              </a:rPr>
              <a:t>…</a:t>
            </a:r>
            <a:r>
              <a:rPr lang="en-US" b="1" dirty="0">
                <a:solidFill>
                  <a:schemeClr val="bg1"/>
                </a:solidFill>
              </a:rPr>
              <a:t>)</a:t>
            </a:r>
          </a:p>
        </p:txBody>
      </p:sp>
      <p:cxnSp>
        <p:nvCxnSpPr>
          <p:cNvPr id="48" name="Straight Arrow Connector 47"/>
          <p:cNvCxnSpPr>
            <a:stCxn id="11" idx="0"/>
            <a:endCxn id="39" idx="2"/>
          </p:cNvCxnSpPr>
          <p:nvPr/>
        </p:nvCxnSpPr>
        <p:spPr>
          <a:xfrm flipH="1" flipV="1">
            <a:off x="9503364" y="2505157"/>
            <a:ext cx="1" cy="456443"/>
          </a:xfrm>
          <a:prstGeom prst="straightConnector1">
            <a:avLst/>
          </a:prstGeom>
          <a:ln w="28575">
            <a:solidFill>
              <a:schemeClr val="bg1">
                <a:alpha val="6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cxnSpLocks/>
            <a:stCxn id="4" idx="2"/>
            <a:endCxn id="16" idx="0"/>
          </p:cNvCxnSpPr>
          <p:nvPr/>
        </p:nvCxnSpPr>
        <p:spPr>
          <a:xfrm>
            <a:off x="10818205" y="625098"/>
            <a:ext cx="0" cy="271812"/>
          </a:xfrm>
          <a:prstGeom prst="straightConnector1">
            <a:avLst/>
          </a:prstGeom>
          <a:ln w="28575">
            <a:solidFill>
              <a:schemeClr val="bg1">
                <a:alpha val="6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08F4ED18-AD76-2F6B-1BC9-A0C528A0C24E}"/>
              </a:ext>
            </a:extLst>
          </p:cNvPr>
          <p:cNvSpPr txBox="1"/>
          <p:nvPr/>
        </p:nvSpPr>
        <p:spPr>
          <a:xfrm>
            <a:off x="9737943" y="255766"/>
            <a:ext cx="2160523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temp  = 102.5</a:t>
            </a:r>
          </a:p>
        </p:txBody>
      </p:sp>
    </p:spTree>
    <p:extLst>
      <p:ext uri="{BB962C8B-B14F-4D97-AF65-F5344CB8AC3E}">
        <p14:creationId xmlns:p14="http://schemas.microsoft.com/office/powerpoint/2010/main" val="12250314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264955"/>
            <a:ext cx="8534400" cy="1507067"/>
          </a:xfrm>
        </p:spPr>
        <p:txBody>
          <a:bodyPr/>
          <a:lstStyle/>
          <a:p>
            <a:r>
              <a:rPr lang="en-US" dirty="0"/>
              <a:t>Continue AND Break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9201" y="1555612"/>
            <a:ext cx="11507788" cy="5123967"/>
          </a:xfrm>
        </p:spPr>
        <p:txBody>
          <a:bodyPr anchor="t" anchorCtr="0">
            <a:noAutofit/>
          </a:bodyPr>
          <a:lstStyle/>
          <a:p>
            <a:pPr lvl="5"/>
            <a:endParaRPr lang="en-US" sz="1800" dirty="0">
              <a:solidFill>
                <a:srgbClr val="FFFF00"/>
              </a:solidFill>
            </a:endParaRPr>
          </a:p>
          <a:p>
            <a:r>
              <a:rPr lang="en-US" sz="2400" dirty="0">
                <a:solidFill>
                  <a:srgbClr val="FFFF00"/>
                </a:solidFill>
              </a:rPr>
              <a:t>continue</a:t>
            </a:r>
            <a:r>
              <a:rPr lang="en-US" sz="2400" dirty="0"/>
              <a:t> inside of a loop </a:t>
            </a:r>
            <a:r>
              <a:rPr lang="en-US" sz="2400" dirty="0">
                <a:sym typeface="Wingdings"/>
              </a:rPr>
              <a:t></a:t>
            </a:r>
            <a:r>
              <a:rPr lang="en-US" sz="2400" dirty="0"/>
              <a:t> jumps to the beginning of the loop (condition)</a:t>
            </a:r>
          </a:p>
          <a:p>
            <a:pPr lvl="6"/>
            <a:r>
              <a:rPr lang="en-US" sz="1800" dirty="0">
                <a:solidFill>
                  <a:srgbClr val="FFFF00"/>
                </a:solidFill>
              </a:rPr>
              <a:t>Skip remaining lines in the loop</a:t>
            </a:r>
          </a:p>
          <a:p>
            <a:r>
              <a:rPr lang="en-US" sz="2400" dirty="0">
                <a:solidFill>
                  <a:srgbClr val="FFFF00"/>
                </a:solidFill>
              </a:rPr>
              <a:t>break</a:t>
            </a:r>
            <a:r>
              <a:rPr lang="en-US" sz="2400" dirty="0"/>
              <a:t> inside of a loop       </a:t>
            </a:r>
            <a:r>
              <a:rPr lang="en-US" sz="2400" dirty="0">
                <a:sym typeface="Wingdings"/>
              </a:rPr>
              <a:t> jumps to the first line after the loop </a:t>
            </a:r>
          </a:p>
          <a:p>
            <a:pPr lvl="4"/>
            <a:r>
              <a:rPr lang="en-US" sz="1800" dirty="0">
                <a:highlight>
                  <a:srgbClr val="FFFF00"/>
                </a:highlight>
                <a:sym typeface="Wingdings"/>
              </a:rPr>
              <a:t>The program exits the loop immediately and continues first line after the loop </a:t>
            </a:r>
          </a:p>
          <a:p>
            <a:r>
              <a:rPr lang="en-US" sz="2200" dirty="0">
                <a:sym typeface="Wingdings"/>
              </a:rPr>
              <a:t>Use </a:t>
            </a:r>
            <a:r>
              <a:rPr lang="en-US" sz="2200" dirty="0">
                <a:solidFill>
                  <a:srgbClr val="FFFF00"/>
                </a:solidFill>
              </a:rPr>
              <a:t>break</a:t>
            </a:r>
            <a:r>
              <a:rPr lang="en-US" sz="2200" dirty="0"/>
              <a:t>  and </a:t>
            </a:r>
            <a:r>
              <a:rPr lang="en-US" sz="2200" dirty="0">
                <a:solidFill>
                  <a:srgbClr val="FFFF00"/>
                </a:solidFill>
              </a:rPr>
              <a:t>continue</a:t>
            </a:r>
            <a:r>
              <a:rPr lang="en-US" sz="2200" dirty="0"/>
              <a:t> </a:t>
            </a:r>
            <a:r>
              <a:rPr lang="en-US" sz="2200" dirty="0">
                <a:sym typeface="Wingdings"/>
              </a:rPr>
              <a:t>only if it improves the readability of your code</a:t>
            </a:r>
          </a:p>
          <a:p>
            <a:pPr lvl="7"/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5458034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0777" y="0"/>
            <a:ext cx="8534400" cy="1507067"/>
          </a:xfrm>
        </p:spPr>
        <p:txBody>
          <a:bodyPr/>
          <a:lstStyle/>
          <a:p>
            <a:r>
              <a:rPr lang="en-US" dirty="0"/>
              <a:t>Break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2106" y="658223"/>
            <a:ext cx="11507788" cy="4558317"/>
          </a:xfrm>
        </p:spPr>
        <p:txBody>
          <a:bodyPr anchor="t" anchorCtr="0">
            <a:noAutofit/>
          </a:bodyPr>
          <a:lstStyle/>
          <a:p>
            <a:pPr lvl="5"/>
            <a:endParaRPr lang="en-US" sz="1800" dirty="0">
              <a:solidFill>
                <a:srgbClr val="FFFF00"/>
              </a:solidFill>
            </a:endParaRPr>
          </a:p>
          <a:p>
            <a:r>
              <a:rPr lang="en-US" sz="2400" dirty="0">
                <a:solidFill>
                  <a:schemeClr val="tx1"/>
                </a:solidFill>
              </a:rPr>
              <a:t>Write a program that prints false if a string contains non-digit characters and true otherwise. </a:t>
            </a:r>
          </a:p>
          <a:p>
            <a:r>
              <a:rPr lang="en-US" sz="2400" dirty="0">
                <a:solidFill>
                  <a:schemeClr val="tx1"/>
                </a:solidFill>
              </a:rPr>
              <a:t>User cases: 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User enters: ‘1234’    -&gt; Print True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User enters: ‘123ab’ -&gt; Print False</a:t>
            </a:r>
          </a:p>
          <a:p>
            <a:pPr lvl="1"/>
            <a:endParaRPr lang="en-US" sz="22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59E916-8445-040B-AC0D-7B310AEF0892}"/>
              </a:ext>
            </a:extLst>
          </p:cNvPr>
          <p:cNvSpPr txBox="1"/>
          <p:nvPr/>
        </p:nvSpPr>
        <p:spPr>
          <a:xfrm>
            <a:off x="756646" y="3502962"/>
            <a:ext cx="11435354" cy="3385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FFFF00"/>
                </a:solidFill>
              </a:rPr>
              <a:t>inp_str</a:t>
            </a:r>
            <a:r>
              <a:rPr lang="en-US" dirty="0">
                <a:solidFill>
                  <a:srgbClr val="FFFF00"/>
                </a:solidFill>
              </a:rPr>
              <a:t> = input(“Enter a number”) # read as a string</a:t>
            </a:r>
          </a:p>
          <a:p>
            <a:r>
              <a:rPr lang="en-US" dirty="0" err="1">
                <a:solidFill>
                  <a:srgbClr val="FFFF00"/>
                </a:solidFill>
              </a:rPr>
              <a:t>is_valid</a:t>
            </a:r>
            <a:r>
              <a:rPr lang="en-US" dirty="0">
                <a:solidFill>
                  <a:srgbClr val="FFFF00"/>
                </a:solidFill>
              </a:rPr>
              <a:t> = True # the string has only digits </a:t>
            </a:r>
          </a:p>
          <a:p>
            <a:endParaRPr lang="en-US" dirty="0">
              <a:solidFill>
                <a:srgbClr val="FFFF00"/>
              </a:solidFill>
            </a:endParaRPr>
          </a:p>
          <a:p>
            <a:r>
              <a:rPr lang="en-US" dirty="0" err="1">
                <a:solidFill>
                  <a:srgbClr val="FFFF00"/>
                </a:solidFill>
              </a:rPr>
              <a:t>Ind_ch</a:t>
            </a:r>
            <a:r>
              <a:rPr lang="en-US" dirty="0">
                <a:solidFill>
                  <a:srgbClr val="FFFF00"/>
                </a:solidFill>
              </a:rPr>
              <a:t> =  0</a:t>
            </a:r>
          </a:p>
          <a:p>
            <a:r>
              <a:rPr lang="en-US" dirty="0">
                <a:solidFill>
                  <a:srgbClr val="FFFF00"/>
                </a:solidFill>
              </a:rPr>
              <a:t>while </a:t>
            </a:r>
            <a:r>
              <a:rPr lang="en-US" dirty="0" err="1">
                <a:solidFill>
                  <a:srgbClr val="FFFF00"/>
                </a:solidFill>
              </a:rPr>
              <a:t>ind_ch</a:t>
            </a:r>
            <a:r>
              <a:rPr lang="en-US" dirty="0">
                <a:solidFill>
                  <a:srgbClr val="FFFF00"/>
                </a:solidFill>
              </a:rPr>
              <a:t> &lt; </a:t>
            </a:r>
            <a:r>
              <a:rPr lang="en-US" dirty="0" err="1">
                <a:solidFill>
                  <a:srgbClr val="FFFF00"/>
                </a:solidFill>
              </a:rPr>
              <a:t>len</a:t>
            </a:r>
            <a:r>
              <a:rPr lang="en-US" dirty="0">
                <a:solidFill>
                  <a:srgbClr val="FFFF00"/>
                </a:solidFill>
              </a:rPr>
              <a:t>(</a:t>
            </a:r>
            <a:r>
              <a:rPr lang="en-US" dirty="0" err="1">
                <a:solidFill>
                  <a:srgbClr val="FFFF00"/>
                </a:solidFill>
              </a:rPr>
              <a:t>inp_str</a:t>
            </a:r>
            <a:r>
              <a:rPr lang="en-US" dirty="0">
                <a:solidFill>
                  <a:srgbClr val="FFFF00"/>
                </a:solidFill>
              </a:rPr>
              <a:t>) </a:t>
            </a:r>
            <a:r>
              <a:rPr lang="en-US" dirty="0">
                <a:solidFill>
                  <a:srgbClr val="FF0000"/>
                </a:solidFill>
              </a:rPr>
              <a:t>and </a:t>
            </a:r>
            <a:r>
              <a:rPr lang="en-US" dirty="0" err="1">
                <a:solidFill>
                  <a:srgbClr val="FF0000"/>
                </a:solidFill>
              </a:rPr>
              <a:t>is_valid</a:t>
            </a:r>
            <a:r>
              <a:rPr lang="en-US" dirty="0">
                <a:solidFill>
                  <a:srgbClr val="FFFF00"/>
                </a:solidFill>
              </a:rPr>
              <a:t>:</a:t>
            </a:r>
          </a:p>
          <a:p>
            <a:r>
              <a:rPr lang="en-US" dirty="0">
                <a:solidFill>
                  <a:srgbClr val="FFFF00"/>
                </a:solidFill>
              </a:rPr>
              <a:t>    if </a:t>
            </a:r>
            <a:r>
              <a:rPr lang="en-US" dirty="0" err="1">
                <a:solidFill>
                  <a:srgbClr val="FFFF00"/>
                </a:solidFill>
              </a:rPr>
              <a:t>inp_str</a:t>
            </a:r>
            <a:r>
              <a:rPr lang="en-US" dirty="0">
                <a:solidFill>
                  <a:srgbClr val="FFFF00"/>
                </a:solidFill>
              </a:rPr>
              <a:t>[</a:t>
            </a:r>
            <a:r>
              <a:rPr lang="en-US" dirty="0" err="1">
                <a:solidFill>
                  <a:srgbClr val="FFFF00"/>
                </a:solidFill>
              </a:rPr>
              <a:t>ind_ch</a:t>
            </a:r>
            <a:r>
              <a:rPr lang="en-US" dirty="0">
                <a:solidFill>
                  <a:srgbClr val="FFFF00"/>
                </a:solidFill>
              </a:rPr>
              <a:t>] &lt; ‘0’ or </a:t>
            </a:r>
            <a:r>
              <a:rPr lang="en-US" dirty="0" err="1">
                <a:solidFill>
                  <a:srgbClr val="FFFF00"/>
                </a:solidFill>
              </a:rPr>
              <a:t>inp_str</a:t>
            </a:r>
            <a:r>
              <a:rPr lang="en-US" dirty="0">
                <a:solidFill>
                  <a:srgbClr val="FFFF00"/>
                </a:solidFill>
              </a:rPr>
              <a:t>[</a:t>
            </a:r>
            <a:r>
              <a:rPr lang="en-US" dirty="0" err="1">
                <a:solidFill>
                  <a:srgbClr val="FFFF00"/>
                </a:solidFill>
              </a:rPr>
              <a:t>ind_ch</a:t>
            </a:r>
            <a:r>
              <a:rPr lang="en-US" dirty="0">
                <a:solidFill>
                  <a:srgbClr val="FFFF00"/>
                </a:solidFill>
              </a:rPr>
              <a:t>] &gt; ’9’: # check if a character is not a digit</a:t>
            </a:r>
          </a:p>
          <a:p>
            <a:r>
              <a:rPr lang="en-US" dirty="0">
                <a:solidFill>
                  <a:srgbClr val="FFFF00"/>
                </a:solidFill>
              </a:rPr>
              <a:t>	</a:t>
            </a:r>
            <a:r>
              <a:rPr lang="en-US" dirty="0" err="1">
                <a:solidFill>
                  <a:srgbClr val="FFFF00"/>
                </a:solidFill>
              </a:rPr>
              <a:t>is_valid</a:t>
            </a:r>
            <a:r>
              <a:rPr lang="en-US" dirty="0">
                <a:solidFill>
                  <a:srgbClr val="FFFF00"/>
                </a:solidFill>
              </a:rPr>
              <a:t> = False</a:t>
            </a:r>
          </a:p>
          <a:p>
            <a:r>
              <a:rPr lang="en-US" dirty="0">
                <a:solidFill>
                  <a:srgbClr val="FFFF00"/>
                </a:solidFill>
              </a:rPr>
              <a:t>	</a:t>
            </a:r>
            <a:r>
              <a:rPr lang="en-US" dirty="0">
                <a:solidFill>
                  <a:srgbClr val="FF0000"/>
                </a:solidFill>
              </a:rPr>
              <a:t>break</a:t>
            </a:r>
          </a:p>
          <a:p>
            <a:r>
              <a:rPr lang="en-US" dirty="0">
                <a:solidFill>
                  <a:srgbClr val="FFFF00"/>
                </a:solidFill>
              </a:rPr>
              <a:t>    </a:t>
            </a:r>
            <a:r>
              <a:rPr lang="en-US" dirty="0" err="1">
                <a:solidFill>
                  <a:srgbClr val="FFFF00"/>
                </a:solidFill>
              </a:rPr>
              <a:t>ind_ch</a:t>
            </a:r>
            <a:r>
              <a:rPr lang="en-US" dirty="0">
                <a:solidFill>
                  <a:srgbClr val="FFFF00"/>
                </a:solidFill>
              </a:rPr>
              <a:t> += 1	</a:t>
            </a:r>
          </a:p>
          <a:p>
            <a:r>
              <a:rPr lang="en-US" dirty="0">
                <a:solidFill>
                  <a:srgbClr val="FFFF00"/>
                </a:solidFill>
              </a:rPr>
              <a:t>print(</a:t>
            </a:r>
            <a:r>
              <a:rPr lang="en-US" dirty="0" err="1">
                <a:solidFill>
                  <a:srgbClr val="FFFF00"/>
                </a:solidFill>
              </a:rPr>
              <a:t>is_valid</a:t>
            </a:r>
            <a:r>
              <a:rPr lang="en-US" dirty="0">
                <a:solidFill>
                  <a:srgbClr val="FFFF00"/>
                </a:solidFill>
              </a:rPr>
              <a:t>)</a:t>
            </a:r>
          </a:p>
          <a:p>
            <a:r>
              <a:rPr lang="en-US" dirty="0">
                <a:solidFill>
                  <a:srgbClr val="FFFF00"/>
                </a:solidFill>
              </a:rPr>
              <a:t>   </a:t>
            </a:r>
          </a:p>
          <a:p>
            <a:pPr marL="342900" indent="-342900">
              <a:buAutoNum type="arabicPeriod"/>
            </a:pPr>
            <a:endParaRPr lang="en-US" sz="1600" dirty="0">
              <a:solidFill>
                <a:srgbClr val="FFFF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BCF357-1C08-1DD3-7184-0DD9F5CF8C5A}"/>
              </a:ext>
            </a:extLst>
          </p:cNvPr>
          <p:cNvSpPr txBox="1"/>
          <p:nvPr/>
        </p:nvSpPr>
        <p:spPr>
          <a:xfrm>
            <a:off x="7298818" y="2438473"/>
            <a:ext cx="401618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Index           </a:t>
            </a:r>
            <a:r>
              <a:rPr lang="en-US" dirty="0">
                <a:solidFill>
                  <a:srgbClr val="FFFF00"/>
                </a:solidFill>
              </a:rPr>
              <a:t>0</a:t>
            </a:r>
            <a:r>
              <a:rPr lang="en-US" dirty="0"/>
              <a:t>   |  1  |  </a:t>
            </a:r>
            <a:r>
              <a:rPr lang="en-US" dirty="0">
                <a:solidFill>
                  <a:srgbClr val="FF0000"/>
                </a:solidFill>
              </a:rPr>
              <a:t>2</a:t>
            </a:r>
            <a:r>
              <a:rPr lang="en-US" dirty="0"/>
              <a:t>  |   </a:t>
            </a:r>
            <a:r>
              <a:rPr lang="en-US" dirty="0">
                <a:solidFill>
                  <a:srgbClr val="FFFF00"/>
                </a:solidFill>
              </a:rPr>
              <a:t>3</a:t>
            </a:r>
            <a:r>
              <a:rPr lang="en-US" dirty="0"/>
              <a:t> |</a:t>
            </a:r>
          </a:p>
          <a:p>
            <a:r>
              <a:rPr lang="en-US" dirty="0" err="1"/>
              <a:t>inp_str</a:t>
            </a:r>
            <a:r>
              <a:rPr lang="en-US" dirty="0"/>
              <a:t>  = | ‘1’ |’2’ | ‘3’ | ‘4’ |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90427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7371" y="0"/>
            <a:ext cx="8534400" cy="1507067"/>
          </a:xfrm>
        </p:spPr>
        <p:txBody>
          <a:bodyPr/>
          <a:lstStyle/>
          <a:p>
            <a:r>
              <a:rPr lang="en-US" dirty="0" err="1"/>
              <a:t>ConTINUE</a:t>
            </a:r>
            <a:r>
              <a:rPr lang="en-US" dirty="0"/>
              <a:t>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4392" y="867016"/>
            <a:ext cx="11507788" cy="5123967"/>
          </a:xfrm>
        </p:spPr>
        <p:txBody>
          <a:bodyPr anchor="t" anchorCtr="0">
            <a:noAutofit/>
          </a:bodyPr>
          <a:lstStyle/>
          <a:p>
            <a:pPr marL="2286000" lvl="5" indent="0">
              <a:buNone/>
            </a:pPr>
            <a:endParaRPr lang="en-US" sz="1800" dirty="0">
              <a:solidFill>
                <a:srgbClr val="FFFF00"/>
              </a:solidFill>
            </a:endParaRPr>
          </a:p>
          <a:p>
            <a:r>
              <a:rPr lang="en-US" sz="2400" dirty="0">
                <a:solidFill>
                  <a:schemeClr val="tx1"/>
                </a:solidFill>
              </a:rPr>
              <a:t>Write a program that extracts (removes) the non-alpha characters from a string and prints the resulting string:</a:t>
            </a:r>
          </a:p>
          <a:p>
            <a:r>
              <a:rPr lang="en-US" sz="2400" dirty="0">
                <a:solidFill>
                  <a:schemeClr val="tx1"/>
                </a:solidFill>
              </a:rPr>
              <a:t>Use cases: 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User enters: ‘john85’  program displays: ‘john’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User enters: ‘45 apples’ program displays ‘apples’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9DAC10-1201-73A3-4892-A5D709FBBBB7}"/>
              </a:ext>
            </a:extLst>
          </p:cNvPr>
          <p:cNvSpPr txBox="1"/>
          <p:nvPr/>
        </p:nvSpPr>
        <p:spPr>
          <a:xfrm>
            <a:off x="224392" y="3421048"/>
            <a:ext cx="11134193" cy="5139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>
                <a:solidFill>
                  <a:srgbClr val="FFFF00"/>
                </a:solidFill>
              </a:rPr>
              <a:t>inp_str</a:t>
            </a:r>
            <a:r>
              <a:rPr lang="en-US" sz="2000" dirty="0">
                <a:solidFill>
                  <a:srgbClr val="FFFF00"/>
                </a:solidFill>
              </a:rPr>
              <a:t> = input(“Enter a number”) # read as a string</a:t>
            </a:r>
          </a:p>
          <a:p>
            <a:endParaRPr lang="en-US" sz="2000" dirty="0">
              <a:solidFill>
                <a:srgbClr val="FFFF00"/>
              </a:solidFill>
            </a:endParaRPr>
          </a:p>
          <a:p>
            <a:r>
              <a:rPr lang="en-US" sz="2000" dirty="0" err="1">
                <a:solidFill>
                  <a:srgbClr val="FFFF00"/>
                </a:solidFill>
              </a:rPr>
              <a:t>filtered_str</a:t>
            </a:r>
            <a:r>
              <a:rPr lang="en-US" sz="2000" dirty="0">
                <a:solidFill>
                  <a:srgbClr val="FFFF00"/>
                </a:solidFill>
              </a:rPr>
              <a:t> = “” # add all alpha characters</a:t>
            </a:r>
          </a:p>
          <a:p>
            <a:r>
              <a:rPr lang="en-US" sz="2000" dirty="0" err="1">
                <a:solidFill>
                  <a:srgbClr val="FFFF00"/>
                </a:solidFill>
              </a:rPr>
              <a:t>Ind_ch</a:t>
            </a:r>
            <a:r>
              <a:rPr lang="en-US" sz="2000" dirty="0">
                <a:solidFill>
                  <a:srgbClr val="FFFF00"/>
                </a:solidFill>
              </a:rPr>
              <a:t> = 0</a:t>
            </a:r>
          </a:p>
          <a:p>
            <a:r>
              <a:rPr lang="en-US" sz="2000" dirty="0">
                <a:solidFill>
                  <a:srgbClr val="FFFF00"/>
                </a:solidFill>
              </a:rPr>
              <a:t>while </a:t>
            </a:r>
            <a:r>
              <a:rPr lang="en-US" sz="2000" dirty="0" err="1">
                <a:solidFill>
                  <a:srgbClr val="FFFF00"/>
                </a:solidFill>
              </a:rPr>
              <a:t>ind_ch</a:t>
            </a:r>
            <a:r>
              <a:rPr lang="en-US" sz="2000" dirty="0">
                <a:solidFill>
                  <a:srgbClr val="FFFF00"/>
                </a:solidFill>
              </a:rPr>
              <a:t> &lt; </a:t>
            </a:r>
            <a:r>
              <a:rPr lang="en-US" sz="2000" dirty="0" err="1">
                <a:solidFill>
                  <a:srgbClr val="FFFF00"/>
                </a:solidFill>
              </a:rPr>
              <a:t>len</a:t>
            </a:r>
            <a:r>
              <a:rPr lang="en-US" sz="2000" dirty="0">
                <a:solidFill>
                  <a:srgbClr val="FFFF00"/>
                </a:solidFill>
              </a:rPr>
              <a:t>(str):</a:t>
            </a:r>
          </a:p>
          <a:p>
            <a:r>
              <a:rPr lang="en-US" sz="2000" dirty="0">
                <a:solidFill>
                  <a:srgbClr val="FFFF00"/>
                </a:solidFill>
              </a:rPr>
              <a:t>     # if </a:t>
            </a:r>
            <a:r>
              <a:rPr lang="en-US" sz="2000" dirty="0" err="1">
                <a:solidFill>
                  <a:srgbClr val="FFFF00"/>
                </a:solidFill>
              </a:rPr>
              <a:t>inp_str</a:t>
            </a:r>
            <a:r>
              <a:rPr lang="en-US" sz="2000" dirty="0">
                <a:solidFill>
                  <a:srgbClr val="FFFF00"/>
                </a:solidFill>
              </a:rPr>
              <a:t>[</a:t>
            </a:r>
            <a:r>
              <a:rPr lang="en-US" sz="2000" dirty="0" err="1">
                <a:solidFill>
                  <a:srgbClr val="FFFF00"/>
                </a:solidFill>
              </a:rPr>
              <a:t>ind_ch</a:t>
            </a:r>
            <a:r>
              <a:rPr lang="en-US" sz="2000" dirty="0">
                <a:solidFill>
                  <a:srgbClr val="FFFF00"/>
                </a:solidFill>
              </a:rPr>
              <a:t>] is a lowercase or uppercase letter then add it to </a:t>
            </a:r>
            <a:r>
              <a:rPr lang="en-US" sz="2000" dirty="0" err="1">
                <a:solidFill>
                  <a:srgbClr val="FFFF00"/>
                </a:solidFill>
              </a:rPr>
              <a:t>filtered_str</a:t>
            </a:r>
            <a:endParaRPr lang="en-US" sz="2000" dirty="0">
              <a:solidFill>
                <a:srgbClr val="FFFF00"/>
              </a:solidFill>
            </a:endParaRPr>
          </a:p>
          <a:p>
            <a:r>
              <a:rPr lang="en-US" sz="2000" dirty="0">
                <a:solidFill>
                  <a:srgbClr val="FFFF00"/>
                </a:solidFill>
              </a:rPr>
              <a:t>      if ‘A’ &lt;= </a:t>
            </a:r>
            <a:r>
              <a:rPr lang="en-US" sz="2000" dirty="0" err="1">
                <a:solidFill>
                  <a:srgbClr val="FFFF00"/>
                </a:solidFill>
              </a:rPr>
              <a:t>inp_str</a:t>
            </a:r>
            <a:r>
              <a:rPr lang="en-US" sz="2000" dirty="0">
                <a:solidFill>
                  <a:srgbClr val="FFFF00"/>
                </a:solidFill>
              </a:rPr>
              <a:t>[</a:t>
            </a:r>
            <a:r>
              <a:rPr lang="en-US" sz="2000" dirty="0" err="1">
                <a:solidFill>
                  <a:srgbClr val="FFFF00"/>
                </a:solidFill>
              </a:rPr>
              <a:t>ind_ch</a:t>
            </a:r>
            <a:r>
              <a:rPr lang="en-US" sz="2000" dirty="0">
                <a:solidFill>
                  <a:srgbClr val="FFFF00"/>
                </a:solidFill>
              </a:rPr>
              <a:t>] &lt;=  ‘Z’:</a:t>
            </a:r>
          </a:p>
          <a:p>
            <a:r>
              <a:rPr lang="en-US" sz="2000" dirty="0">
                <a:solidFill>
                  <a:srgbClr val="FFFF00"/>
                </a:solidFill>
              </a:rPr>
              <a:t>	</a:t>
            </a:r>
            <a:r>
              <a:rPr lang="en-US" sz="2000" dirty="0" err="1">
                <a:solidFill>
                  <a:srgbClr val="FFFF00"/>
                </a:solidFill>
              </a:rPr>
              <a:t>filtered_str</a:t>
            </a:r>
            <a:r>
              <a:rPr lang="en-US" sz="2000" dirty="0">
                <a:solidFill>
                  <a:srgbClr val="FFFF00"/>
                </a:solidFill>
              </a:rPr>
              <a:t> += </a:t>
            </a:r>
            <a:r>
              <a:rPr lang="en-US" sz="2000" dirty="0" err="1">
                <a:solidFill>
                  <a:srgbClr val="FFFF00"/>
                </a:solidFill>
              </a:rPr>
              <a:t>inp_str</a:t>
            </a:r>
            <a:r>
              <a:rPr lang="en-US" sz="2000" dirty="0">
                <a:solidFill>
                  <a:srgbClr val="FFFF00"/>
                </a:solidFill>
              </a:rPr>
              <a:t>[</a:t>
            </a:r>
            <a:r>
              <a:rPr lang="en-US" sz="2000" dirty="0" err="1">
                <a:solidFill>
                  <a:srgbClr val="FFFF00"/>
                </a:solidFill>
              </a:rPr>
              <a:t>ind_ch</a:t>
            </a:r>
            <a:r>
              <a:rPr lang="en-US" sz="2000" dirty="0">
                <a:solidFill>
                  <a:srgbClr val="FFFF00"/>
                </a:solidFill>
              </a:rPr>
              <a:t>]</a:t>
            </a:r>
          </a:p>
          <a:p>
            <a:r>
              <a:rPr lang="en-US" sz="2000" dirty="0">
                <a:solidFill>
                  <a:srgbClr val="FFFF00"/>
                </a:solidFill>
              </a:rPr>
              <a:t>      </a:t>
            </a:r>
            <a:r>
              <a:rPr lang="en-US" sz="2000" dirty="0" err="1">
                <a:solidFill>
                  <a:srgbClr val="FFFF00"/>
                </a:solidFill>
              </a:rPr>
              <a:t>elif</a:t>
            </a:r>
            <a:r>
              <a:rPr lang="en-US" sz="2000" dirty="0">
                <a:solidFill>
                  <a:srgbClr val="FFFF00"/>
                </a:solidFill>
              </a:rPr>
              <a:t> ‘a’ &lt;= </a:t>
            </a:r>
            <a:r>
              <a:rPr lang="en-US" sz="2000" dirty="0" err="1">
                <a:solidFill>
                  <a:srgbClr val="FFFF00"/>
                </a:solidFill>
              </a:rPr>
              <a:t>inp_str</a:t>
            </a:r>
            <a:r>
              <a:rPr lang="en-US" sz="2000" dirty="0">
                <a:solidFill>
                  <a:srgbClr val="FFFF00"/>
                </a:solidFill>
              </a:rPr>
              <a:t>[</a:t>
            </a:r>
            <a:r>
              <a:rPr lang="en-US" sz="2000" dirty="0" err="1">
                <a:solidFill>
                  <a:srgbClr val="FFFF00"/>
                </a:solidFill>
              </a:rPr>
              <a:t>ind_ch</a:t>
            </a:r>
            <a:r>
              <a:rPr lang="en-US" sz="2000" dirty="0">
                <a:solidFill>
                  <a:srgbClr val="FFFF00"/>
                </a:solidFill>
              </a:rPr>
              <a:t>] &lt;= ‘z’:</a:t>
            </a:r>
          </a:p>
          <a:p>
            <a:r>
              <a:rPr lang="en-US" sz="2000" dirty="0">
                <a:solidFill>
                  <a:srgbClr val="FFFF00"/>
                </a:solidFill>
              </a:rPr>
              <a:t>	 </a:t>
            </a:r>
            <a:r>
              <a:rPr lang="en-US" sz="2000" dirty="0" err="1">
                <a:solidFill>
                  <a:srgbClr val="FFFF00"/>
                </a:solidFill>
              </a:rPr>
              <a:t>filtered_str</a:t>
            </a:r>
            <a:r>
              <a:rPr lang="en-US" sz="2000" dirty="0">
                <a:solidFill>
                  <a:srgbClr val="FFFF00"/>
                </a:solidFill>
              </a:rPr>
              <a:t> += </a:t>
            </a:r>
            <a:r>
              <a:rPr lang="en-US" sz="2000" dirty="0" err="1">
                <a:solidFill>
                  <a:srgbClr val="FFFF00"/>
                </a:solidFill>
              </a:rPr>
              <a:t>inp_str</a:t>
            </a:r>
            <a:r>
              <a:rPr lang="en-US" sz="2000" dirty="0">
                <a:solidFill>
                  <a:srgbClr val="FFFF00"/>
                </a:solidFill>
              </a:rPr>
              <a:t>[</a:t>
            </a:r>
            <a:r>
              <a:rPr lang="en-US" sz="2000" dirty="0" err="1">
                <a:solidFill>
                  <a:srgbClr val="FFFF00"/>
                </a:solidFill>
              </a:rPr>
              <a:t>ind_ch</a:t>
            </a:r>
            <a:r>
              <a:rPr lang="en-US" sz="2000" dirty="0">
                <a:solidFill>
                  <a:srgbClr val="FFFF00"/>
                </a:solidFill>
              </a:rPr>
              <a:t>]</a:t>
            </a:r>
          </a:p>
          <a:p>
            <a:r>
              <a:rPr lang="en-US" sz="2000" dirty="0">
                <a:solidFill>
                  <a:srgbClr val="FFFF00"/>
                </a:solidFill>
              </a:rPr>
              <a:t>      </a:t>
            </a:r>
            <a:r>
              <a:rPr lang="en-US" sz="2000" dirty="0" err="1">
                <a:solidFill>
                  <a:srgbClr val="FFFF00"/>
                </a:solidFill>
              </a:rPr>
              <a:t>ind_ch</a:t>
            </a:r>
            <a:r>
              <a:rPr lang="en-US" sz="2000" dirty="0">
                <a:solidFill>
                  <a:srgbClr val="FFFF00"/>
                </a:solidFill>
              </a:rPr>
              <a:t> += 1 </a:t>
            </a:r>
          </a:p>
          <a:p>
            <a:r>
              <a:rPr lang="en-US" sz="2000" dirty="0">
                <a:solidFill>
                  <a:srgbClr val="FFFF00"/>
                </a:solidFill>
              </a:rPr>
              <a:t>      </a:t>
            </a:r>
          </a:p>
          <a:p>
            <a:endParaRPr lang="en-US" sz="2000" dirty="0">
              <a:solidFill>
                <a:srgbClr val="FFFF00"/>
              </a:solidFill>
            </a:endParaRPr>
          </a:p>
          <a:p>
            <a:endParaRPr lang="en-US" sz="2000" dirty="0">
              <a:solidFill>
                <a:srgbClr val="FFFF00"/>
              </a:solidFill>
            </a:endParaRPr>
          </a:p>
          <a:p>
            <a:endParaRPr lang="en-US" sz="1600" dirty="0">
              <a:solidFill>
                <a:srgbClr val="FFFF00"/>
              </a:solidFill>
            </a:endParaRPr>
          </a:p>
          <a:p>
            <a:r>
              <a:rPr lang="en-US" sz="1600" dirty="0">
                <a:solidFill>
                  <a:srgbClr val="FFFF00"/>
                </a:solidFill>
              </a:rPr>
              <a:t> </a:t>
            </a:r>
          </a:p>
          <a:p>
            <a:pPr marL="342900" indent="-342900">
              <a:buAutoNum type="arabicPeriod"/>
            </a:pPr>
            <a:endParaRPr lang="en-US" sz="16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12199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488731"/>
            <a:ext cx="8534400" cy="1312041"/>
          </a:xfrm>
        </p:spPr>
        <p:txBody>
          <a:bodyPr/>
          <a:lstStyle/>
          <a:p>
            <a:r>
              <a:rPr lang="en-US" dirty="0"/>
              <a:t>Example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1800772"/>
            <a:ext cx="10761554" cy="2260589"/>
          </a:xfrm>
        </p:spPr>
        <p:txBody>
          <a:bodyPr anchor="t" anchorCtr="0">
            <a:normAutofit/>
          </a:bodyPr>
          <a:lstStyle/>
          <a:p>
            <a:r>
              <a:rPr lang="en-US" dirty="0"/>
              <a:t>Write a while loop that reads an integer value </a:t>
            </a:r>
            <a:r>
              <a:rPr lang="en-US" dirty="0" err="1">
                <a:solidFill>
                  <a:srgbClr val="FFFF00"/>
                </a:solidFill>
              </a:rPr>
              <a:t>v_int</a:t>
            </a:r>
            <a:r>
              <a:rPr lang="en-US" dirty="0">
                <a:solidFill>
                  <a:srgbClr val="FFFF00"/>
                </a:solidFill>
              </a:rPr>
              <a:t> </a:t>
            </a:r>
            <a:r>
              <a:rPr lang="en-US" dirty="0"/>
              <a:t>from the keyboard until the value entered is 0. </a:t>
            </a:r>
          </a:p>
          <a:p>
            <a:r>
              <a:rPr lang="en-US" dirty="0">
                <a:solidFill>
                  <a:schemeClr val="bg1"/>
                </a:solidFill>
                <a:highlight>
                  <a:srgbClr val="FFFF00"/>
                </a:highlight>
              </a:rPr>
              <a:t>User enters: 0 -&gt; body while loop does not run condition is false the first time is evaluated</a:t>
            </a:r>
          </a:p>
          <a:p>
            <a:r>
              <a:rPr lang="en-US" dirty="0">
                <a:solidFill>
                  <a:schemeClr val="bg1"/>
                </a:solidFill>
                <a:highlight>
                  <a:srgbClr val="FFFF00"/>
                </a:highlight>
              </a:rPr>
              <a:t>User enters: 1,2,3,0 -&gt; while loop body runs three times, for values 1,2, and 3, then stops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764748-5742-8539-3980-340F4A2F9063}"/>
              </a:ext>
            </a:extLst>
          </p:cNvPr>
          <p:cNvSpPr txBox="1"/>
          <p:nvPr/>
        </p:nvSpPr>
        <p:spPr>
          <a:xfrm>
            <a:off x="1508165" y="4037610"/>
            <a:ext cx="916775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 code </a:t>
            </a:r>
          </a:p>
          <a:p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before while loop</a:t>
            </a:r>
          </a:p>
          <a:p>
            <a:r>
              <a:rPr lang="en-US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v_int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 int(input(“Enter an int value, 0 to stop”))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while </a:t>
            </a:r>
            <a:r>
              <a:rPr lang="en-US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v_int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== 0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 #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condition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# body - empty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#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update statement</a:t>
            </a:r>
          </a:p>
          <a:p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v_int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 int(input(“Enter an int value, 0 to stop”))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63396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943" y="0"/>
            <a:ext cx="8534400" cy="1312041"/>
          </a:xfrm>
        </p:spPr>
        <p:txBody>
          <a:bodyPr/>
          <a:lstStyle/>
          <a:p>
            <a:r>
              <a:rPr lang="en-US" dirty="0"/>
              <a:t>Example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7577" y="1019452"/>
            <a:ext cx="10761554" cy="1820969"/>
          </a:xfrm>
        </p:spPr>
        <p:txBody>
          <a:bodyPr anchor="t" anchorCtr="0">
            <a:normAutofit fontScale="85000" lnSpcReduction="20000"/>
          </a:bodyPr>
          <a:lstStyle/>
          <a:p>
            <a:r>
              <a:rPr lang="en-US" dirty="0"/>
              <a:t>Write a while loop that reads an integer value </a:t>
            </a:r>
            <a:r>
              <a:rPr lang="en-US" dirty="0" err="1">
                <a:solidFill>
                  <a:srgbClr val="FFFF00"/>
                </a:solidFill>
              </a:rPr>
              <a:t>v_int</a:t>
            </a:r>
            <a:r>
              <a:rPr lang="en-US" dirty="0">
                <a:solidFill>
                  <a:srgbClr val="FFFF00"/>
                </a:solidFill>
              </a:rPr>
              <a:t> </a:t>
            </a:r>
            <a:r>
              <a:rPr lang="en-US" dirty="0"/>
              <a:t>from the keyboard until the value entered is between 0 and 10. (negate until to while the value entered is less than 0 or greater than 10)</a:t>
            </a:r>
          </a:p>
          <a:p>
            <a:r>
              <a:rPr lang="en-US" dirty="0"/>
              <a:t>Use cases: </a:t>
            </a:r>
          </a:p>
          <a:p>
            <a:pPr lvl="1"/>
            <a:r>
              <a:rPr lang="en-US" dirty="0">
                <a:highlight>
                  <a:srgbClr val="FFFF00"/>
                </a:highlight>
              </a:rPr>
              <a:t>User enters: 9 -&gt; while stops</a:t>
            </a:r>
          </a:p>
          <a:p>
            <a:pPr lvl="1"/>
            <a:r>
              <a:rPr lang="en-US" dirty="0">
                <a:highlight>
                  <a:srgbClr val="FFFF00"/>
                </a:highlight>
              </a:rPr>
              <a:t>User enters: -1, 10 -&gt; while stops</a:t>
            </a:r>
          </a:p>
          <a:p>
            <a:pPr lvl="1"/>
            <a:r>
              <a:rPr lang="en-US" dirty="0">
                <a:highlight>
                  <a:srgbClr val="FFFF00"/>
                </a:highlight>
              </a:rPr>
              <a:t>User enters: 20, 15, -1, 5 -&gt; while stops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1AC59B-4C63-722F-9886-9BADC5410BDF}"/>
              </a:ext>
            </a:extLst>
          </p:cNvPr>
          <p:cNvSpPr txBox="1"/>
          <p:nvPr/>
        </p:nvSpPr>
        <p:spPr>
          <a:xfrm>
            <a:off x="808918" y="2934950"/>
            <a:ext cx="998458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v_int</a:t>
            </a:r>
            <a:r>
              <a:rPr lang="en-US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int(input(“Enter a value between 0 and 10”))</a:t>
            </a:r>
          </a:p>
          <a:p>
            <a:endParaRPr lang="en-US" dirty="0">
              <a:solidFill>
                <a:srgbClr val="FF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num_tries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0</a:t>
            </a:r>
          </a:p>
          <a:p>
            <a:r>
              <a:rPr lang="en-US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 </a:t>
            </a:r>
            <a:r>
              <a:rPr lang="en-US" dirty="0" err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v_int</a:t>
            </a:r>
            <a:r>
              <a:rPr lang="en-US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 0 or </a:t>
            </a:r>
            <a:r>
              <a:rPr lang="en-US" dirty="0" err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v_int</a:t>
            </a:r>
            <a:r>
              <a:rPr lang="en-US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&gt; 10: #condition	</a:t>
            </a:r>
          </a:p>
          <a:p>
            <a:r>
              <a:rPr lang="en-US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print(’Incorrect’)</a:t>
            </a:r>
          </a:p>
          <a:p>
            <a:r>
              <a:rPr lang="en-US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</a:t>
            </a:r>
            <a:r>
              <a:rPr lang="en-US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num_tries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&gt;= 3:</a:t>
            </a:r>
          </a:p>
          <a:p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print(’Sorry no more tries’)</a:t>
            </a:r>
          </a:p>
          <a:p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break</a:t>
            </a:r>
          </a:p>
          <a:p>
            <a:r>
              <a:rPr lang="en-US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num_tries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+= 1</a:t>
            </a:r>
          </a:p>
          <a:p>
            <a:r>
              <a:rPr lang="en-US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# update statement</a:t>
            </a:r>
          </a:p>
          <a:p>
            <a:r>
              <a:rPr lang="en-US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dirty="0" err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v_int</a:t>
            </a:r>
            <a:r>
              <a:rPr lang="en-US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int(input(“Enter a value between 0 and 10”))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54361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488731"/>
            <a:ext cx="8534400" cy="1312041"/>
          </a:xfrm>
        </p:spPr>
        <p:txBody>
          <a:bodyPr/>
          <a:lstStyle/>
          <a:p>
            <a:r>
              <a:rPr lang="en-US" dirty="0"/>
              <a:t>Example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1800772"/>
            <a:ext cx="10761554" cy="1312041"/>
          </a:xfrm>
        </p:spPr>
        <p:txBody>
          <a:bodyPr anchor="t" anchorCtr="0">
            <a:normAutofit/>
          </a:bodyPr>
          <a:lstStyle/>
          <a:p>
            <a:r>
              <a:rPr lang="en-US" dirty="0"/>
              <a:t>Write a while loop that computes the sum of positive even numbers up to and including a max value entered by the user. </a:t>
            </a:r>
          </a:p>
          <a:p>
            <a:r>
              <a:rPr lang="en-US" dirty="0">
                <a:highlight>
                  <a:srgbClr val="FFFF00"/>
                </a:highlight>
              </a:rPr>
              <a:t> Max value = 10, Values entered 1,3,4, 5,6, -2, 7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90137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0433" y="50313"/>
            <a:ext cx="8534400" cy="1312041"/>
          </a:xfrm>
        </p:spPr>
        <p:txBody>
          <a:bodyPr/>
          <a:lstStyle/>
          <a:p>
            <a:r>
              <a:rPr lang="en-US" dirty="0"/>
              <a:t>Example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0433" y="1362354"/>
            <a:ext cx="10761554" cy="1780240"/>
          </a:xfrm>
        </p:spPr>
        <p:txBody>
          <a:bodyPr anchor="t" anchorCtr="0">
            <a:normAutofit fontScale="92500" lnSpcReduction="20000"/>
          </a:bodyPr>
          <a:lstStyle/>
          <a:p>
            <a:r>
              <a:rPr lang="en-US" dirty="0"/>
              <a:t>Write a while loop that computes the average of a series of  integer values (</a:t>
            </a:r>
            <a:r>
              <a:rPr lang="en-US" dirty="0" err="1">
                <a:solidFill>
                  <a:srgbClr val="FFFF00"/>
                </a:solidFill>
              </a:rPr>
              <a:t>vInt</a:t>
            </a:r>
            <a:r>
              <a:rPr lang="en-US" dirty="0"/>
              <a:t>) entered by the user. The loop stops when user enters 0 or a negative number.</a:t>
            </a:r>
          </a:p>
          <a:p>
            <a:r>
              <a:rPr lang="en-US" dirty="0"/>
              <a:t>Use cases:</a:t>
            </a:r>
          </a:p>
          <a:p>
            <a:pPr lvl="1"/>
            <a:r>
              <a:rPr lang="en-US" dirty="0">
                <a:highlight>
                  <a:srgbClr val="FFFF00"/>
                </a:highlight>
              </a:rPr>
              <a:t>2, 3, 4,5 -1</a:t>
            </a:r>
          </a:p>
          <a:p>
            <a:pPr lvl="1"/>
            <a:r>
              <a:rPr lang="en-US" dirty="0">
                <a:highlight>
                  <a:srgbClr val="FFFF00"/>
                </a:highlight>
              </a:rPr>
              <a:t>4,7,0</a:t>
            </a:r>
          </a:p>
          <a:p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7614746" y="2815471"/>
            <a:ext cx="457725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  <a:latin typeface="Courier" charset="0"/>
                <a:ea typeface="Courier" charset="0"/>
                <a:cs typeface="Courier" charset="0"/>
              </a:rPr>
              <a:t>!!!Avoid dividing by 0</a:t>
            </a:r>
          </a:p>
          <a:p>
            <a:endParaRPr lang="en-US" sz="2000" dirty="0">
              <a:solidFill>
                <a:srgbClr val="FF0000"/>
              </a:solidFill>
              <a:latin typeface="Courier" charset="0"/>
              <a:ea typeface="Courier" charset="0"/>
              <a:cs typeface="Courier" charset="0"/>
            </a:endParaRPr>
          </a:p>
          <a:p>
            <a:r>
              <a:rPr lang="en-US" sz="2000" dirty="0">
                <a:solidFill>
                  <a:srgbClr val="FF0000"/>
                </a:solidFill>
                <a:latin typeface="Courier" charset="0"/>
                <a:ea typeface="Courier" charset="0"/>
                <a:cs typeface="Courier" charset="0"/>
              </a:rPr>
              <a:t>!!!Average is a real number, don’t cut the decimal part.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8993" y="3624767"/>
            <a:ext cx="3355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// Enter your code here</a:t>
            </a:r>
          </a:p>
        </p:txBody>
      </p:sp>
    </p:spTree>
    <p:extLst>
      <p:ext uri="{BB962C8B-B14F-4D97-AF65-F5344CB8AC3E}">
        <p14:creationId xmlns:p14="http://schemas.microsoft.com/office/powerpoint/2010/main" val="3043087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488731"/>
            <a:ext cx="8534400" cy="1312041"/>
          </a:xfrm>
        </p:spPr>
        <p:txBody>
          <a:bodyPr/>
          <a:lstStyle/>
          <a:p>
            <a:r>
              <a:rPr lang="en-US" dirty="0"/>
              <a:t>Example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1800772"/>
            <a:ext cx="10761554" cy="784773"/>
          </a:xfrm>
        </p:spPr>
        <p:txBody>
          <a:bodyPr anchor="t" anchorCtr="0"/>
          <a:lstStyle/>
          <a:p>
            <a:r>
              <a:rPr lang="en-US" dirty="0"/>
              <a:t>Write a loop that reads a character </a:t>
            </a:r>
            <a:r>
              <a:rPr lang="en-US" dirty="0" err="1">
                <a:solidFill>
                  <a:srgbClr val="FFFF00"/>
                </a:solidFill>
              </a:rPr>
              <a:t>ch</a:t>
            </a:r>
            <a:r>
              <a:rPr lang="en-US" dirty="0"/>
              <a:t> from the keyboard until that character is either 'q' or 'Q'.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64989" y="3112813"/>
            <a:ext cx="56815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  <a:latin typeface="Courier" charset="0"/>
                <a:ea typeface="Courier" charset="0"/>
                <a:cs typeface="Courier" charset="0"/>
              </a:rPr>
              <a:t>Use De Morgan’s rule to write</a:t>
            </a:r>
          </a:p>
          <a:p>
            <a:r>
              <a:rPr lang="en-US" sz="2000" dirty="0">
                <a:solidFill>
                  <a:srgbClr val="FF0000"/>
                </a:solidFill>
                <a:latin typeface="Courier" charset="0"/>
                <a:ea typeface="Courier" charset="0"/>
                <a:cs typeface="Courier" charset="0"/>
              </a:rPr>
              <a:t>the </a:t>
            </a:r>
            <a:r>
              <a:rPr lang="en-US" sz="2000" dirty="0" err="1">
                <a:solidFill>
                  <a:srgbClr val="FF0000"/>
                </a:solidFill>
                <a:latin typeface="Courier" charset="0"/>
                <a:ea typeface="Courier" charset="0"/>
                <a:cs typeface="Courier" charset="0"/>
              </a:rPr>
              <a:t>boolean</a:t>
            </a:r>
            <a:r>
              <a:rPr lang="en-US" sz="2000" dirty="0">
                <a:solidFill>
                  <a:srgbClr val="FF0000"/>
                </a:solidFill>
                <a:latin typeface="Courier" charset="0"/>
                <a:ea typeface="Courier" charset="0"/>
                <a:cs typeface="Courier" charset="0"/>
              </a:rPr>
              <a:t> condition: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1326A1-DEA9-5EC5-5EFD-FD027A65551B}"/>
              </a:ext>
            </a:extLst>
          </p:cNvPr>
          <p:cNvSpPr txBox="1"/>
          <p:nvPr/>
        </p:nvSpPr>
        <p:spPr>
          <a:xfrm>
            <a:off x="1057526" y="2851329"/>
            <a:ext cx="3355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// Enter your code here</a:t>
            </a:r>
          </a:p>
        </p:txBody>
      </p:sp>
    </p:spTree>
    <p:extLst>
      <p:ext uri="{BB962C8B-B14F-4D97-AF65-F5344CB8AC3E}">
        <p14:creationId xmlns:p14="http://schemas.microsoft.com/office/powerpoint/2010/main" val="24419106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D1BC8-FCF6-C3E1-E5CD-88C8268D1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176590"/>
            <a:ext cx="8534400" cy="1507067"/>
          </a:xfrm>
        </p:spPr>
        <p:txBody>
          <a:bodyPr/>
          <a:lstStyle/>
          <a:p>
            <a:r>
              <a:rPr lang="en-US" dirty="0"/>
              <a:t>Outline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55E5EF-3DF4-D30F-A82A-F5C4F097BB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619" y="1292771"/>
            <a:ext cx="8534400" cy="3902221"/>
          </a:xfrm>
        </p:spPr>
        <p:txBody>
          <a:bodyPr/>
          <a:lstStyle/>
          <a:p>
            <a:r>
              <a:rPr lang="en-US" sz="2400" dirty="0"/>
              <a:t>What are loops?</a:t>
            </a:r>
          </a:p>
          <a:p>
            <a:r>
              <a:rPr lang="en-US" sz="2400" dirty="0"/>
              <a:t>What are while loops?</a:t>
            </a:r>
          </a:p>
          <a:p>
            <a:r>
              <a:rPr lang="en-US" sz="2400" dirty="0"/>
              <a:t>When do we use while loops?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2654022"/>
      </p:ext>
    </p:extLst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56612</TotalTime>
  <Words>1577</Words>
  <Application>Microsoft Macintosh PowerPoint</Application>
  <PresentationFormat>Widescreen</PresentationFormat>
  <Paragraphs>209</Paragraphs>
  <Slides>20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Aptos</vt:lpstr>
      <vt:lpstr>Century Gothic</vt:lpstr>
      <vt:lpstr>Courier</vt:lpstr>
      <vt:lpstr>Courier New</vt:lpstr>
      <vt:lpstr>Wingdings</vt:lpstr>
      <vt:lpstr>Wingdings 3</vt:lpstr>
      <vt:lpstr>Slice</vt:lpstr>
      <vt:lpstr>Week 3: While Loops</vt:lpstr>
      <vt:lpstr>Outline </vt:lpstr>
      <vt:lpstr>Loops</vt:lpstr>
      <vt:lpstr>Example Loops</vt:lpstr>
      <vt:lpstr>Example 1</vt:lpstr>
      <vt:lpstr>Example 2</vt:lpstr>
      <vt:lpstr>Example 3</vt:lpstr>
      <vt:lpstr>Example 4</vt:lpstr>
      <vt:lpstr>Example 5</vt:lpstr>
      <vt:lpstr>While loop</vt:lpstr>
      <vt:lpstr>Example While loop</vt:lpstr>
      <vt:lpstr>Continue AND Break</vt:lpstr>
      <vt:lpstr>Break Example</vt:lpstr>
      <vt:lpstr>ConTINUE Example</vt:lpstr>
      <vt:lpstr>Example 1</vt:lpstr>
      <vt:lpstr>Example 2</vt:lpstr>
      <vt:lpstr>Example 3</vt:lpstr>
      <vt:lpstr>Example 4</vt:lpstr>
      <vt:lpstr>Example 5</vt:lpstr>
      <vt:lpstr>Outline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Instructions</dc:title>
  <dc:creator>Simona Doboli</dc:creator>
  <cp:lastModifiedBy>Simona Doboli</cp:lastModifiedBy>
  <cp:revision>64</cp:revision>
  <cp:lastPrinted>2025-09-15T14:08:37Z</cp:lastPrinted>
  <dcterms:created xsi:type="dcterms:W3CDTF">2017-01-17T20:23:48Z</dcterms:created>
  <dcterms:modified xsi:type="dcterms:W3CDTF">2025-09-23T22:51:59Z</dcterms:modified>
</cp:coreProperties>
</file>