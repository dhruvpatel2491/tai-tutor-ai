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1"/>
  </p:notesMasterIdLst>
  <p:sldIdLst>
    <p:sldId id="271" r:id="rId2"/>
    <p:sldId id="258" r:id="rId3"/>
    <p:sldId id="282" r:id="rId4"/>
    <p:sldId id="302" r:id="rId5"/>
    <p:sldId id="303" r:id="rId6"/>
    <p:sldId id="304" r:id="rId7"/>
    <p:sldId id="263" r:id="rId8"/>
    <p:sldId id="300" r:id="rId9"/>
    <p:sldId id="298" r:id="rId10"/>
    <p:sldId id="299" r:id="rId11"/>
    <p:sldId id="301" r:id="rId12"/>
    <p:sldId id="275" r:id="rId13"/>
    <p:sldId id="297" r:id="rId14"/>
    <p:sldId id="283" r:id="rId15"/>
    <p:sldId id="285" r:id="rId16"/>
    <p:sldId id="273" r:id="rId17"/>
    <p:sldId id="286" r:id="rId18"/>
    <p:sldId id="287" r:id="rId19"/>
    <p:sldId id="288" r:id="rId20"/>
    <p:sldId id="289" r:id="rId21"/>
    <p:sldId id="290" r:id="rId22"/>
    <p:sldId id="272" r:id="rId23"/>
    <p:sldId id="293" r:id="rId24"/>
    <p:sldId id="294" r:id="rId25"/>
    <p:sldId id="295" r:id="rId26"/>
    <p:sldId id="292" r:id="rId27"/>
    <p:sldId id="274" r:id="rId28"/>
    <p:sldId id="279" r:id="rId29"/>
    <p:sldId id="280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44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8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71D5D-D077-914C-8F1D-23D3A070AA1A}" type="datetimeFigureOut">
              <a:rPr lang="en-US" smtClean="0"/>
              <a:t>9/11/25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5F5398-8748-8440-B1AA-F195E3340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979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5F5398-8748-8440-B1AA-F195E334001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5467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5F5398-8748-8440-B1AA-F195E334001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700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6037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987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175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701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9/11/25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620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9/11/25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85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9/11/25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187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87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809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9/11/25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149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754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984635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6709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384577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3578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0615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972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99468887-D334-5646-9B23-0DD319AE0DA0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8417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211167"/>
            <a:ext cx="8534400" cy="1507067"/>
          </a:xfrm>
        </p:spPr>
        <p:txBody>
          <a:bodyPr/>
          <a:lstStyle/>
          <a:p>
            <a:r>
              <a:rPr lang="en-US" dirty="0"/>
              <a:t>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1972937"/>
            <a:ext cx="11125496" cy="4396865"/>
          </a:xfrm>
        </p:spPr>
        <p:txBody>
          <a:bodyPr anchor="t" anchorCtr="0"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LOOP = block of code that is repeated a number of times</a:t>
            </a:r>
          </a:p>
          <a:p>
            <a:pPr lvl="1"/>
            <a:r>
              <a:rPr lang="en-US" sz="2600" dirty="0">
                <a:solidFill>
                  <a:schemeClr val="bg1"/>
                </a:solidFill>
              </a:rPr>
              <a:t> While value entered is &gt; 0, add it to the sum. </a:t>
            </a:r>
          </a:p>
          <a:p>
            <a:pPr lvl="1"/>
            <a:r>
              <a:rPr lang="en-US" sz="2600" dirty="0">
                <a:solidFill>
                  <a:schemeClr val="bg1"/>
                </a:solidFill>
              </a:rPr>
              <a:t> Compute the sum of the first N positive integer numbers. 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While loops</a:t>
            </a:r>
          </a:p>
          <a:p>
            <a:r>
              <a:rPr lang="en-US" sz="2800" dirty="0">
                <a:solidFill>
                  <a:schemeClr val="bg1"/>
                </a:solidFill>
              </a:rPr>
              <a:t>For loops</a:t>
            </a:r>
          </a:p>
        </p:txBody>
      </p:sp>
    </p:spTree>
    <p:extLst>
      <p:ext uri="{BB962C8B-B14F-4D97-AF65-F5344CB8AC3E}">
        <p14:creationId xmlns:p14="http://schemas.microsoft.com/office/powerpoint/2010/main" val="1067393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973" y="100059"/>
            <a:ext cx="8534400" cy="1507067"/>
          </a:xfrm>
        </p:spPr>
        <p:txBody>
          <a:bodyPr/>
          <a:lstStyle/>
          <a:p>
            <a:r>
              <a:rPr lang="en-US" dirty="0"/>
              <a:t>While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322" y="1809923"/>
            <a:ext cx="6083717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while </a:t>
            </a:r>
            <a:r>
              <a:rPr lang="en-US" sz="2400" b="1" dirty="0" err="1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boolean</a:t>
            </a:r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condition:</a:t>
            </a:r>
          </a:p>
          <a:p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    instruction 1</a:t>
            </a:r>
          </a:p>
          <a:p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    instruction 2</a:t>
            </a:r>
          </a:p>
          <a:p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    </a:t>
            </a:r>
            <a:r>
              <a:rPr lang="is-I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…</a:t>
            </a:r>
          </a:p>
          <a:p>
            <a:r>
              <a:rPr lang="is-I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    update statement</a:t>
            </a:r>
          </a:p>
          <a:p>
            <a:r>
              <a:rPr lang="is-I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    // change boolean condition</a:t>
            </a:r>
            <a:endParaRPr lang="en-US" sz="2400" b="1" dirty="0">
              <a:solidFill>
                <a:srgbClr val="FFFF00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instruction after loop</a:t>
            </a:r>
          </a:p>
        </p:txBody>
      </p:sp>
      <p:sp>
        <p:nvSpPr>
          <p:cNvPr id="8" name="Diamond 7"/>
          <p:cNvSpPr/>
          <p:nvPr/>
        </p:nvSpPr>
        <p:spPr>
          <a:xfrm>
            <a:off x="7946247" y="3470931"/>
            <a:ext cx="2932386" cy="993227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65044" y="3644378"/>
            <a:ext cx="1434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Boolean condition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56590" y="5465845"/>
            <a:ext cx="2736526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Instruction after loop</a:t>
            </a:r>
          </a:p>
          <a:p>
            <a:r>
              <a:rPr lang="is-IS" b="1" dirty="0">
                <a:solidFill>
                  <a:schemeClr val="bg1"/>
                </a:solidFill>
              </a:rPr>
              <a:t>….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28445" y="2594753"/>
            <a:ext cx="2222938" cy="9233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Instruction 1</a:t>
            </a:r>
          </a:p>
          <a:p>
            <a:r>
              <a:rPr lang="en-US" b="1" dirty="0">
                <a:solidFill>
                  <a:schemeClr val="bg1"/>
                </a:solidFill>
              </a:rPr>
              <a:t>Instruction 2</a:t>
            </a:r>
          </a:p>
          <a:p>
            <a:r>
              <a:rPr lang="is-IS" b="1" dirty="0">
                <a:solidFill>
                  <a:schemeClr val="bg1"/>
                </a:solidFill>
              </a:rPr>
              <a:t>….</a:t>
            </a:r>
            <a:endParaRPr lang="en-US" b="1" dirty="0">
              <a:solidFill>
                <a:schemeClr val="bg1"/>
              </a:solidFill>
            </a:endParaRPr>
          </a:p>
        </p:txBody>
      </p:sp>
      <p:cxnSp>
        <p:nvCxnSpPr>
          <p:cNvPr id="13" name="Elbow Connector 12"/>
          <p:cNvCxnSpPr/>
          <p:nvPr/>
        </p:nvCxnSpPr>
        <p:spPr>
          <a:xfrm rot="10800000" flipV="1">
            <a:off x="7539921" y="961778"/>
            <a:ext cx="1649650" cy="460971"/>
          </a:xfrm>
          <a:prstGeom prst="bentConnector3">
            <a:avLst>
              <a:gd name="adj1" fmla="val 99595"/>
            </a:avLst>
          </a:prstGeom>
          <a:ln w="25400">
            <a:solidFill>
              <a:schemeClr val="bg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671532" y="4727114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False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8507" y="4094826"/>
            <a:ext cx="64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True</a:t>
            </a:r>
          </a:p>
        </p:txBody>
      </p:sp>
      <p:sp>
        <p:nvSpPr>
          <p:cNvPr id="16" name="Oval 15"/>
          <p:cNvSpPr/>
          <p:nvPr/>
        </p:nvSpPr>
        <p:spPr>
          <a:xfrm>
            <a:off x="9191141" y="816773"/>
            <a:ext cx="354724" cy="315311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cxnSp>
        <p:nvCxnSpPr>
          <p:cNvPr id="17" name="Straight Arrow Connector 16"/>
          <p:cNvCxnSpPr>
            <a:stCxn id="8" idx="2"/>
          </p:cNvCxnSpPr>
          <p:nvPr/>
        </p:nvCxnSpPr>
        <p:spPr>
          <a:xfrm>
            <a:off x="9412440" y="4464158"/>
            <a:ext cx="0" cy="996432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>
            <a:stCxn id="8" idx="1"/>
            <a:endCxn id="11" idx="2"/>
          </p:cNvCxnSpPr>
          <p:nvPr/>
        </p:nvCxnSpPr>
        <p:spPr>
          <a:xfrm rot="10800000">
            <a:off x="7539915" y="3518083"/>
            <a:ext cx="406333" cy="449462"/>
          </a:xfrm>
          <a:prstGeom prst="bentConnector2">
            <a:avLst/>
          </a:prstGeom>
          <a:ln w="2540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6" idx="4"/>
            <a:endCxn id="8" idx="0"/>
          </p:cNvCxnSpPr>
          <p:nvPr/>
        </p:nvCxnSpPr>
        <p:spPr>
          <a:xfrm>
            <a:off x="9368503" y="1132084"/>
            <a:ext cx="43937" cy="2338847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428445" y="1411241"/>
            <a:ext cx="2222938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Update statement</a:t>
            </a:r>
          </a:p>
        </p:txBody>
      </p:sp>
      <p:cxnSp>
        <p:nvCxnSpPr>
          <p:cNvPr id="48" name="Straight Arrow Connector 47"/>
          <p:cNvCxnSpPr>
            <a:stCxn id="11" idx="0"/>
            <a:endCxn id="39" idx="2"/>
          </p:cNvCxnSpPr>
          <p:nvPr/>
        </p:nvCxnSpPr>
        <p:spPr>
          <a:xfrm flipV="1">
            <a:off x="7539914" y="1780573"/>
            <a:ext cx="0" cy="814180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9345698" y="295727"/>
            <a:ext cx="22805" cy="516180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3584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562" y="-66648"/>
            <a:ext cx="8534400" cy="1507067"/>
          </a:xfrm>
        </p:spPr>
        <p:txBody>
          <a:bodyPr/>
          <a:lstStyle/>
          <a:p>
            <a:r>
              <a:rPr lang="en-US" dirty="0"/>
              <a:t>Example While loop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9" y="1161126"/>
            <a:ext cx="8211002" cy="5586867"/>
          </a:xfrm>
          <a:prstGeom prst="rect">
            <a:avLst/>
          </a:prstGeom>
        </p:spPr>
      </p:pic>
      <p:sp>
        <p:nvSpPr>
          <p:cNvPr id="8" name="Diamond 7"/>
          <p:cNvSpPr/>
          <p:nvPr/>
        </p:nvSpPr>
        <p:spPr>
          <a:xfrm>
            <a:off x="9444410" y="3552427"/>
            <a:ext cx="2747590" cy="993227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008306" y="3725874"/>
            <a:ext cx="17826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temperature</a:t>
            </a:r>
            <a:r>
              <a:rPr lang="en-US" b="1" dirty="0">
                <a:solidFill>
                  <a:schemeClr val="bg1"/>
                </a:solidFill>
              </a:rPr>
              <a:t> &gt; </a:t>
            </a:r>
            <a:r>
              <a:rPr lang="en-US" b="1" dirty="0" err="1">
                <a:solidFill>
                  <a:schemeClr val="bg1"/>
                </a:solidFill>
              </a:rPr>
              <a:t>max_temp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365342" y="5552847"/>
            <a:ext cx="2736526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Instruction after loop</a:t>
            </a:r>
          </a:p>
          <a:p>
            <a:r>
              <a:rPr lang="is-IS" b="1" dirty="0">
                <a:solidFill>
                  <a:schemeClr val="bg1"/>
                </a:solidFill>
              </a:rPr>
              <a:t>….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50177" y="2961600"/>
            <a:ext cx="1506375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print(</a:t>
            </a:r>
            <a:r>
              <a:rPr lang="mr-IN" b="1" dirty="0">
                <a:solidFill>
                  <a:schemeClr val="bg1"/>
                </a:solidFill>
              </a:rPr>
              <a:t>…</a:t>
            </a:r>
            <a:r>
              <a:rPr lang="en-US" b="1" dirty="0">
                <a:solidFill>
                  <a:schemeClr val="bg1"/>
                </a:solidFill>
              </a:rPr>
              <a:t>)</a:t>
            </a:r>
          </a:p>
          <a:p>
            <a:r>
              <a:rPr lang="en-US" b="1" dirty="0">
                <a:solidFill>
                  <a:schemeClr val="bg1"/>
                </a:solidFill>
              </a:rPr>
              <a:t>print (</a:t>
            </a:r>
            <a:r>
              <a:rPr lang="mr-IN" b="1" dirty="0">
                <a:solidFill>
                  <a:schemeClr val="bg1"/>
                </a:solidFill>
              </a:rPr>
              <a:t>…</a:t>
            </a:r>
            <a:r>
              <a:rPr lang="en-US" b="1" dirty="0">
                <a:solidFill>
                  <a:schemeClr val="bg1"/>
                </a:solidFill>
              </a:rPr>
              <a:t>.)</a:t>
            </a:r>
          </a:p>
        </p:txBody>
      </p:sp>
      <p:cxnSp>
        <p:nvCxnSpPr>
          <p:cNvPr id="13" name="Elbow Connector 12"/>
          <p:cNvCxnSpPr>
            <a:stCxn id="16" idx="2"/>
            <a:endCxn id="39" idx="0"/>
          </p:cNvCxnSpPr>
          <p:nvPr/>
        </p:nvCxnSpPr>
        <p:spPr>
          <a:xfrm rot="10800000" flipV="1">
            <a:off x="9503365" y="1054565"/>
            <a:ext cx="1137479" cy="527261"/>
          </a:xfrm>
          <a:prstGeom prst="bentConnector2">
            <a:avLst/>
          </a:prstGeom>
          <a:ln w="25400">
            <a:solidFill>
              <a:schemeClr val="bg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972754" y="4817466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False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44016" y="4124923"/>
            <a:ext cx="64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True</a:t>
            </a:r>
          </a:p>
        </p:txBody>
      </p:sp>
      <p:sp>
        <p:nvSpPr>
          <p:cNvPr id="16" name="Oval 15"/>
          <p:cNvSpPr/>
          <p:nvPr/>
        </p:nvSpPr>
        <p:spPr>
          <a:xfrm>
            <a:off x="10640843" y="896910"/>
            <a:ext cx="354724" cy="315311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cxnSp>
        <p:nvCxnSpPr>
          <p:cNvPr id="17" name="Straight Arrow Connector 16"/>
          <p:cNvCxnSpPr>
            <a:stCxn id="8" idx="2"/>
          </p:cNvCxnSpPr>
          <p:nvPr/>
        </p:nvCxnSpPr>
        <p:spPr>
          <a:xfrm>
            <a:off x="10818205" y="4545654"/>
            <a:ext cx="0" cy="1007193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>
            <a:stCxn id="8" idx="1"/>
          </p:cNvCxnSpPr>
          <p:nvPr/>
        </p:nvCxnSpPr>
        <p:spPr>
          <a:xfrm rot="10800000">
            <a:off x="9286746" y="3606663"/>
            <a:ext cx="157664" cy="442379"/>
          </a:xfrm>
          <a:prstGeom prst="bentConnector2">
            <a:avLst/>
          </a:prstGeom>
          <a:ln w="2540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6" idx="4"/>
            <a:endCxn id="8" idx="0"/>
          </p:cNvCxnSpPr>
          <p:nvPr/>
        </p:nvCxnSpPr>
        <p:spPr>
          <a:xfrm>
            <a:off x="10818205" y="1212221"/>
            <a:ext cx="0" cy="2340206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366253" y="1581827"/>
            <a:ext cx="2274221" cy="9233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Update statement</a:t>
            </a:r>
          </a:p>
          <a:p>
            <a:r>
              <a:rPr lang="en-US" b="1" dirty="0">
                <a:solidFill>
                  <a:srgbClr val="FF0000"/>
                </a:solidFill>
              </a:rPr>
              <a:t>temperature </a:t>
            </a:r>
            <a:r>
              <a:rPr lang="en-US" b="1" dirty="0">
                <a:solidFill>
                  <a:schemeClr val="bg1"/>
                </a:solidFill>
              </a:rPr>
              <a:t>=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input(</a:t>
            </a:r>
            <a:r>
              <a:rPr lang="mr-IN" b="1" dirty="0">
                <a:solidFill>
                  <a:schemeClr val="bg1"/>
                </a:solidFill>
              </a:rPr>
              <a:t>…</a:t>
            </a:r>
            <a:r>
              <a:rPr lang="en-US" b="1" dirty="0">
                <a:solidFill>
                  <a:schemeClr val="bg1"/>
                </a:solidFill>
              </a:rPr>
              <a:t>)</a:t>
            </a:r>
          </a:p>
        </p:txBody>
      </p:sp>
      <p:cxnSp>
        <p:nvCxnSpPr>
          <p:cNvPr id="48" name="Straight Arrow Connector 47"/>
          <p:cNvCxnSpPr>
            <a:stCxn id="11" idx="0"/>
            <a:endCxn id="39" idx="2"/>
          </p:cNvCxnSpPr>
          <p:nvPr/>
        </p:nvCxnSpPr>
        <p:spPr>
          <a:xfrm flipH="1" flipV="1">
            <a:off x="9503364" y="2505157"/>
            <a:ext cx="1" cy="456443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10795400" y="428796"/>
            <a:ext cx="22805" cy="516180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5031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264955"/>
            <a:ext cx="8534400" cy="1507067"/>
          </a:xfrm>
        </p:spPr>
        <p:txBody>
          <a:bodyPr/>
          <a:lstStyle/>
          <a:p>
            <a:r>
              <a:rPr lang="en-US" dirty="0"/>
              <a:t>Continue AND Break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9201" y="1555612"/>
            <a:ext cx="11507788" cy="5123967"/>
          </a:xfrm>
        </p:spPr>
        <p:txBody>
          <a:bodyPr anchor="t" anchorCtr="0">
            <a:noAutofit/>
          </a:bodyPr>
          <a:lstStyle/>
          <a:p>
            <a:pPr lvl="5"/>
            <a:endParaRPr lang="en-US" sz="1800" dirty="0">
              <a:solidFill>
                <a:srgbClr val="FFFF00"/>
              </a:solidFill>
            </a:endParaRPr>
          </a:p>
          <a:p>
            <a:r>
              <a:rPr lang="en-US" sz="2400" dirty="0">
                <a:solidFill>
                  <a:srgbClr val="FFFF00"/>
                </a:solidFill>
              </a:rPr>
              <a:t>continue</a:t>
            </a:r>
            <a:r>
              <a:rPr lang="en-US" sz="2400" dirty="0"/>
              <a:t> inside of a loop </a:t>
            </a:r>
            <a:r>
              <a:rPr lang="en-US" sz="2400" dirty="0">
                <a:sym typeface="Wingdings"/>
              </a:rPr>
              <a:t></a:t>
            </a:r>
            <a:r>
              <a:rPr lang="en-US" sz="2400" dirty="0"/>
              <a:t> jumps to the beginning of the loop (condition)</a:t>
            </a:r>
          </a:p>
          <a:p>
            <a:pPr lvl="6"/>
            <a:r>
              <a:rPr lang="en-US" sz="1800" dirty="0">
                <a:solidFill>
                  <a:srgbClr val="FFFF00"/>
                </a:solidFill>
              </a:rPr>
              <a:t>Skip remaining lines in the loop</a:t>
            </a:r>
          </a:p>
          <a:p>
            <a:r>
              <a:rPr lang="en-US" sz="2400" dirty="0">
                <a:solidFill>
                  <a:srgbClr val="FFFF00"/>
                </a:solidFill>
              </a:rPr>
              <a:t>break</a:t>
            </a:r>
            <a:r>
              <a:rPr lang="en-US" sz="2400" dirty="0"/>
              <a:t> inside of a loop       </a:t>
            </a:r>
            <a:r>
              <a:rPr lang="en-US" sz="2400" dirty="0">
                <a:sym typeface="Wingdings"/>
              </a:rPr>
              <a:t> jumps to the first line after the loop </a:t>
            </a:r>
          </a:p>
          <a:p>
            <a:pPr lvl="4"/>
            <a:r>
              <a:rPr lang="en-US" sz="1800" dirty="0">
                <a:highlight>
                  <a:srgbClr val="FFFF00"/>
                </a:highlight>
                <a:sym typeface="Wingdings"/>
              </a:rPr>
              <a:t>The program exits the loop immediately and continues first line after the loop </a:t>
            </a:r>
          </a:p>
          <a:p>
            <a:r>
              <a:rPr lang="en-US" sz="2200" dirty="0">
                <a:sym typeface="Wingdings"/>
              </a:rPr>
              <a:t>Use </a:t>
            </a:r>
            <a:r>
              <a:rPr lang="en-US" sz="2200" dirty="0">
                <a:solidFill>
                  <a:srgbClr val="FFFF00"/>
                </a:solidFill>
              </a:rPr>
              <a:t>break</a:t>
            </a:r>
            <a:r>
              <a:rPr lang="en-US" sz="2200" dirty="0"/>
              <a:t>  and </a:t>
            </a:r>
            <a:r>
              <a:rPr lang="en-US" sz="2200" dirty="0">
                <a:solidFill>
                  <a:srgbClr val="FFFF00"/>
                </a:solidFill>
              </a:rPr>
              <a:t>continue</a:t>
            </a:r>
            <a:r>
              <a:rPr lang="en-US" sz="2200" dirty="0"/>
              <a:t> </a:t>
            </a:r>
            <a:r>
              <a:rPr lang="en-US" sz="2200" dirty="0">
                <a:sym typeface="Wingdings"/>
              </a:rPr>
              <a:t>only if it improves the readability of your code</a:t>
            </a:r>
          </a:p>
          <a:p>
            <a:pPr lvl="7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545803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777" y="0"/>
            <a:ext cx="8534400" cy="1507067"/>
          </a:xfrm>
        </p:spPr>
        <p:txBody>
          <a:bodyPr/>
          <a:lstStyle/>
          <a:p>
            <a:r>
              <a:rPr lang="en-US" dirty="0"/>
              <a:t>Break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106" y="658223"/>
            <a:ext cx="11507788" cy="4558317"/>
          </a:xfrm>
        </p:spPr>
        <p:txBody>
          <a:bodyPr anchor="t" anchorCtr="0">
            <a:noAutofit/>
          </a:bodyPr>
          <a:lstStyle/>
          <a:p>
            <a:pPr lvl="5"/>
            <a:endParaRPr lang="en-US" sz="1800" dirty="0">
              <a:solidFill>
                <a:srgbClr val="FFFF00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Write a program that prints false if a string contains non-digit numbers and true otherwise. </a:t>
            </a:r>
          </a:p>
          <a:p>
            <a:r>
              <a:rPr lang="en-US" sz="2400" dirty="0">
                <a:solidFill>
                  <a:schemeClr val="tx1"/>
                </a:solidFill>
              </a:rPr>
              <a:t>User cases: 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User enters: ‘1234’    -&gt; Print True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User enters: ‘123ab’ -&gt; Print False</a:t>
            </a:r>
          </a:p>
          <a:p>
            <a:pPr lvl="1"/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59E916-8445-040B-AC0D-7B310AEF0892}"/>
              </a:ext>
            </a:extLst>
          </p:cNvPr>
          <p:cNvSpPr txBox="1"/>
          <p:nvPr/>
        </p:nvSpPr>
        <p:spPr>
          <a:xfrm>
            <a:off x="756646" y="3502962"/>
            <a:ext cx="7437811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FF00"/>
                </a:solidFill>
              </a:rPr>
              <a:t>inp_str</a:t>
            </a:r>
            <a:r>
              <a:rPr lang="en-US" dirty="0">
                <a:solidFill>
                  <a:srgbClr val="FFFF00"/>
                </a:solidFill>
              </a:rPr>
              <a:t> = input(“Enter a number”) # read as a string </a:t>
            </a:r>
          </a:p>
          <a:p>
            <a:endParaRPr lang="en-US" dirty="0">
              <a:solidFill>
                <a:srgbClr val="FFFF00"/>
              </a:solidFill>
            </a:endParaRPr>
          </a:p>
          <a:p>
            <a:pPr marL="342900" indent="-342900">
              <a:buAutoNum type="arabicPeriod"/>
            </a:pPr>
            <a:endParaRPr lang="en-US" sz="1600" dirty="0">
              <a:solidFill>
                <a:srgbClr val="FFFF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BCF357-1C08-1DD3-7184-0DD9F5CF8C5A}"/>
              </a:ext>
            </a:extLst>
          </p:cNvPr>
          <p:cNvSpPr txBox="1"/>
          <p:nvPr/>
        </p:nvSpPr>
        <p:spPr>
          <a:xfrm>
            <a:off x="7298818" y="2438473"/>
            <a:ext cx="40161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Index           </a:t>
            </a:r>
            <a:r>
              <a:rPr lang="en-US" dirty="0">
                <a:solidFill>
                  <a:srgbClr val="FFFF00"/>
                </a:solidFill>
              </a:rPr>
              <a:t>0</a:t>
            </a:r>
            <a:r>
              <a:rPr lang="en-US" dirty="0"/>
              <a:t>   |  1  |  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dirty="0"/>
              <a:t>  |   </a:t>
            </a:r>
            <a:r>
              <a:rPr lang="en-US" dirty="0">
                <a:solidFill>
                  <a:srgbClr val="FFFF00"/>
                </a:solidFill>
              </a:rPr>
              <a:t>3</a:t>
            </a:r>
            <a:r>
              <a:rPr lang="en-US" dirty="0"/>
              <a:t> |</a:t>
            </a:r>
          </a:p>
          <a:p>
            <a:r>
              <a:rPr lang="en-US" dirty="0" err="1"/>
              <a:t>inp_str</a:t>
            </a:r>
            <a:r>
              <a:rPr lang="en-US" dirty="0"/>
              <a:t>  = | ‘1’ |’2’ | ‘3’ | ‘4’ |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042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7371" y="0"/>
            <a:ext cx="8534400" cy="1507067"/>
          </a:xfrm>
        </p:spPr>
        <p:txBody>
          <a:bodyPr/>
          <a:lstStyle/>
          <a:p>
            <a:r>
              <a:rPr lang="en-US" dirty="0" err="1"/>
              <a:t>ConTINUE</a:t>
            </a:r>
            <a:r>
              <a:rPr lang="en-US" dirty="0"/>
              <a:t>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392" y="769252"/>
            <a:ext cx="11507788" cy="5123967"/>
          </a:xfrm>
        </p:spPr>
        <p:txBody>
          <a:bodyPr anchor="t" anchorCtr="0">
            <a:noAutofit/>
          </a:bodyPr>
          <a:lstStyle/>
          <a:p>
            <a:pPr marL="2286000" lvl="5" indent="0">
              <a:buNone/>
            </a:pPr>
            <a:endParaRPr lang="en-US" sz="1800" dirty="0">
              <a:solidFill>
                <a:srgbClr val="FFFF00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Write a program that extracts the non-alpha characters from a string and prints the resulting string:</a:t>
            </a:r>
          </a:p>
          <a:p>
            <a:r>
              <a:rPr lang="en-US" sz="2400" dirty="0">
                <a:solidFill>
                  <a:schemeClr val="tx1"/>
                </a:solidFill>
              </a:rPr>
              <a:t>Use cases: 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User enters: ‘john85’  program displays: ‘john’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User enters: ‘45 apples’ program displays ‘apples’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9DAC10-1201-73A3-4892-A5D709FBBBB7}"/>
              </a:ext>
            </a:extLst>
          </p:cNvPr>
          <p:cNvSpPr txBox="1"/>
          <p:nvPr/>
        </p:nvSpPr>
        <p:spPr>
          <a:xfrm>
            <a:off x="459820" y="3542934"/>
            <a:ext cx="767985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rgbClr val="FFFF00"/>
                </a:solidFill>
              </a:rPr>
              <a:t>inp_str</a:t>
            </a:r>
            <a:r>
              <a:rPr lang="en-US" sz="2000" dirty="0">
                <a:solidFill>
                  <a:srgbClr val="FFFF00"/>
                </a:solidFill>
              </a:rPr>
              <a:t> = input(“Enter a number”) # read as a string </a:t>
            </a:r>
          </a:p>
          <a:p>
            <a:endParaRPr lang="en-US" sz="2000" dirty="0">
              <a:solidFill>
                <a:srgbClr val="FFFF00"/>
              </a:solidFill>
            </a:endParaRPr>
          </a:p>
          <a:p>
            <a:endParaRPr lang="en-US" sz="2000" dirty="0">
              <a:solidFill>
                <a:srgbClr val="FFFF00"/>
              </a:solidFill>
            </a:endParaRPr>
          </a:p>
          <a:p>
            <a:endParaRPr lang="en-US" sz="1600" dirty="0">
              <a:solidFill>
                <a:srgbClr val="FFFF00"/>
              </a:solidFill>
            </a:endParaRPr>
          </a:p>
          <a:p>
            <a:r>
              <a:rPr lang="en-US" sz="1600" dirty="0">
                <a:solidFill>
                  <a:srgbClr val="FFFF00"/>
                </a:solidFill>
              </a:rPr>
              <a:t> </a:t>
            </a:r>
          </a:p>
          <a:p>
            <a:pPr marL="342900" indent="-342900">
              <a:buAutoNum type="arabicPeriod"/>
            </a:pPr>
            <a:endParaRPr lang="en-US" sz="16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1219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488731"/>
            <a:ext cx="8534400" cy="1312041"/>
          </a:xfrm>
        </p:spPr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1800772"/>
            <a:ext cx="10761554" cy="2260589"/>
          </a:xfrm>
        </p:spPr>
        <p:txBody>
          <a:bodyPr anchor="t" anchorCtr="0">
            <a:normAutofit/>
          </a:bodyPr>
          <a:lstStyle/>
          <a:p>
            <a:r>
              <a:rPr lang="en-US" dirty="0"/>
              <a:t>Write a while loop that reads an integer value </a:t>
            </a:r>
            <a:r>
              <a:rPr lang="en-US" dirty="0" err="1">
                <a:solidFill>
                  <a:srgbClr val="FFFF00"/>
                </a:solidFill>
              </a:rPr>
              <a:t>v_int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/>
              <a:t>from the keyboard until the value entered is 0. </a:t>
            </a:r>
          </a:p>
          <a:p>
            <a:r>
              <a:rPr lang="en-US" dirty="0">
                <a:solidFill>
                  <a:srgbClr val="FFC000"/>
                </a:solidFill>
              </a:rPr>
              <a:t>User enters: 0 -&gt; body while loop does not run condition is false the first time is evaluated</a:t>
            </a:r>
          </a:p>
          <a:p>
            <a:r>
              <a:rPr lang="en-US" dirty="0">
                <a:solidFill>
                  <a:srgbClr val="FFC000"/>
                </a:solidFill>
              </a:rPr>
              <a:t>User enters: 1,2,3,0 -&gt; while loop body runs three times, for values 1,2, and 3, then stops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764748-5742-8539-3980-340F4A2F9063}"/>
              </a:ext>
            </a:extLst>
          </p:cNvPr>
          <p:cNvSpPr txBox="1"/>
          <p:nvPr/>
        </p:nvSpPr>
        <p:spPr>
          <a:xfrm>
            <a:off x="1508165" y="4037610"/>
            <a:ext cx="91677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code </a:t>
            </a:r>
          </a:p>
          <a:p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before while loop</a:t>
            </a:r>
          </a:p>
          <a:p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v_int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int(input(“Enter an int value, 0 to stop”))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while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v_int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0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#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condition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# body - empty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#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 statement</a:t>
            </a:r>
          </a:p>
          <a:p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v_int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int(input(“Enter an int value, 0 to stop”))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6339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488731"/>
            <a:ext cx="8534400" cy="1312041"/>
          </a:xfrm>
        </p:spPr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1800772"/>
            <a:ext cx="10761554" cy="3448122"/>
          </a:xfrm>
        </p:spPr>
        <p:txBody>
          <a:bodyPr anchor="t" anchorCtr="0"/>
          <a:lstStyle/>
          <a:p>
            <a:r>
              <a:rPr lang="en-US" dirty="0"/>
              <a:t>Write a loop that reads an integer value </a:t>
            </a:r>
            <a:r>
              <a:rPr lang="en-US" dirty="0" err="1">
                <a:solidFill>
                  <a:srgbClr val="FFFF00"/>
                </a:solidFill>
              </a:rPr>
              <a:t>v_int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/>
              <a:t>from the keyboard until the value is greater than 0.  (execute the loop while </a:t>
            </a:r>
            <a:r>
              <a:rPr lang="en-US" dirty="0" err="1"/>
              <a:t>v_int</a:t>
            </a:r>
            <a:r>
              <a:rPr lang="en-US" dirty="0"/>
              <a:t> is less than 0)</a:t>
            </a:r>
          </a:p>
          <a:p>
            <a:r>
              <a:rPr lang="en-US" dirty="0"/>
              <a:t>User enters: 0	-&gt;  exits the loop</a:t>
            </a:r>
          </a:p>
          <a:p>
            <a:r>
              <a:rPr lang="en-US" dirty="0"/>
              <a:t>User enters: -1,0  -&gt; run the loop once</a:t>
            </a:r>
          </a:p>
          <a:p>
            <a:r>
              <a:rPr lang="en-US" dirty="0"/>
              <a:t>User enters 2,3,0 -&gt; exits the loop at 2. </a:t>
            </a:r>
          </a:p>
        </p:txBody>
      </p:sp>
    </p:spTree>
    <p:extLst>
      <p:ext uri="{BB962C8B-B14F-4D97-AF65-F5344CB8AC3E}">
        <p14:creationId xmlns:p14="http://schemas.microsoft.com/office/powerpoint/2010/main" val="2454635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488731"/>
            <a:ext cx="8534400" cy="1312041"/>
          </a:xfrm>
        </p:spPr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1800772"/>
            <a:ext cx="10761554" cy="1820969"/>
          </a:xfrm>
        </p:spPr>
        <p:txBody>
          <a:bodyPr anchor="t" anchorCtr="0">
            <a:normAutofit fontScale="85000" lnSpcReduction="20000"/>
          </a:bodyPr>
          <a:lstStyle/>
          <a:p>
            <a:r>
              <a:rPr lang="en-US" dirty="0"/>
              <a:t>Write a while loop that reads an integer value </a:t>
            </a:r>
            <a:r>
              <a:rPr lang="en-US" dirty="0" err="1">
                <a:solidFill>
                  <a:srgbClr val="FFFF00"/>
                </a:solidFill>
              </a:rPr>
              <a:t>v_int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/>
              <a:t>from the keyboard until the value entered is between 0 and 10. (negate until to while the value entered is less than 0 or greater than 10)</a:t>
            </a:r>
          </a:p>
          <a:p>
            <a:r>
              <a:rPr lang="en-US" dirty="0"/>
              <a:t>Use cases: </a:t>
            </a:r>
          </a:p>
          <a:p>
            <a:pPr lvl="1"/>
            <a:r>
              <a:rPr lang="en-US" dirty="0"/>
              <a:t>User enters: 9 -&gt; while stops</a:t>
            </a:r>
          </a:p>
          <a:p>
            <a:pPr lvl="1"/>
            <a:r>
              <a:rPr lang="en-US" dirty="0"/>
              <a:t>User enters: -1, 10 -&gt; while stops</a:t>
            </a:r>
          </a:p>
          <a:p>
            <a:pPr lvl="1"/>
            <a:r>
              <a:rPr lang="en-US" dirty="0"/>
              <a:t>User enters: 20, 15, -1, 5 -&gt; while stops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1AC59B-4C63-722F-9886-9BADC5410BDF}"/>
              </a:ext>
            </a:extLst>
          </p:cNvPr>
          <p:cNvSpPr txBox="1"/>
          <p:nvPr/>
        </p:nvSpPr>
        <p:spPr>
          <a:xfrm>
            <a:off x="1113718" y="3544550"/>
            <a:ext cx="998458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v_int</a:t>
            </a:r>
            <a:r>
              <a:rPr lang="en-US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int(input(“Enter a value between 0 and 10”))</a:t>
            </a:r>
          </a:p>
          <a:p>
            <a:endParaRPr lang="en-US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num_tries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  <a:p>
            <a:r>
              <a:rPr lang="en-US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</a:t>
            </a:r>
            <a:r>
              <a:rPr lang="en-US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v_int</a:t>
            </a:r>
            <a:r>
              <a:rPr lang="en-US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0 or </a:t>
            </a:r>
            <a:r>
              <a:rPr lang="en-US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v_int</a:t>
            </a:r>
            <a:r>
              <a:rPr lang="en-US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10: #condition	</a:t>
            </a:r>
          </a:p>
          <a:p>
            <a:r>
              <a:rPr lang="en-US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print(’Incorrect’)</a:t>
            </a:r>
          </a:p>
          <a:p>
            <a:r>
              <a:rPr lang="en-US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num_tries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&gt;= 3:</a:t>
            </a:r>
          </a:p>
          <a:p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print(’Sorry no more tries’)</a:t>
            </a:r>
          </a:p>
          <a:p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break</a:t>
            </a:r>
          </a:p>
          <a:p>
            <a:r>
              <a:rPr lang="en-US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num_tries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+= 1</a:t>
            </a:r>
          </a:p>
          <a:p>
            <a:r>
              <a:rPr lang="en-US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# update statement</a:t>
            </a:r>
          </a:p>
          <a:p>
            <a:r>
              <a:rPr lang="en-US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v_int</a:t>
            </a:r>
            <a:r>
              <a:rPr lang="en-US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int(input(“Enter a value between 0 and 10”))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5436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488731"/>
            <a:ext cx="8534400" cy="1312041"/>
          </a:xfrm>
        </p:spPr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1800772"/>
            <a:ext cx="10761554" cy="784773"/>
          </a:xfrm>
        </p:spPr>
        <p:txBody>
          <a:bodyPr anchor="t" anchorCtr="0"/>
          <a:lstStyle/>
          <a:p>
            <a:r>
              <a:rPr lang="en-US" dirty="0"/>
              <a:t>Write a while loop that reads an integer value </a:t>
            </a:r>
            <a:r>
              <a:rPr lang="en-US" dirty="0" err="1">
                <a:solidFill>
                  <a:srgbClr val="FFFF00"/>
                </a:solidFill>
              </a:rPr>
              <a:t>v_int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/>
              <a:t>from the keyboard until the value entered is even or it is 1. </a:t>
            </a:r>
          </a:p>
        </p:txBody>
      </p:sp>
    </p:spTree>
    <p:extLst>
      <p:ext uri="{BB962C8B-B14F-4D97-AF65-F5344CB8AC3E}">
        <p14:creationId xmlns:p14="http://schemas.microsoft.com/office/powerpoint/2010/main" val="272531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488731"/>
            <a:ext cx="8534400" cy="1312041"/>
          </a:xfrm>
        </p:spPr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1800772"/>
            <a:ext cx="10761554" cy="784773"/>
          </a:xfrm>
        </p:spPr>
        <p:txBody>
          <a:bodyPr anchor="t" anchorCtr="0"/>
          <a:lstStyle/>
          <a:p>
            <a:r>
              <a:rPr lang="en-US" dirty="0"/>
              <a:t>Write a while loop that computes the sum of positive even numbers up to and including a max value entered by the user. </a:t>
            </a:r>
          </a:p>
        </p:txBody>
      </p:sp>
    </p:spTree>
    <p:extLst>
      <p:ext uri="{BB962C8B-B14F-4D97-AF65-F5344CB8AC3E}">
        <p14:creationId xmlns:p14="http://schemas.microsoft.com/office/powerpoint/2010/main" val="38690137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488731"/>
            <a:ext cx="8534400" cy="1312041"/>
          </a:xfrm>
        </p:spPr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1800772"/>
            <a:ext cx="10761554" cy="784773"/>
          </a:xfrm>
        </p:spPr>
        <p:txBody>
          <a:bodyPr anchor="t" anchorCtr="0"/>
          <a:lstStyle/>
          <a:p>
            <a:r>
              <a:rPr lang="en-US" dirty="0"/>
              <a:t>Write a while loop that computes the average of a series of  integer values (</a:t>
            </a:r>
            <a:r>
              <a:rPr lang="en-US" dirty="0" err="1">
                <a:solidFill>
                  <a:srgbClr val="FFFF00"/>
                </a:solidFill>
              </a:rPr>
              <a:t>vInt</a:t>
            </a:r>
            <a:r>
              <a:rPr lang="en-US" dirty="0"/>
              <a:t>) entered by the user. The loop stops when user enters 0 or a negative number.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4746" y="2815471"/>
            <a:ext cx="457725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!!!Avoid dividing by 0</a:t>
            </a:r>
          </a:p>
          <a:p>
            <a:endParaRPr lang="en-US" sz="2000" dirty="0">
              <a:solidFill>
                <a:srgbClr val="FF0000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en-US" sz="2000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!!!Average is a real number, don’t cut the decimal part.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1338" y="2815471"/>
            <a:ext cx="3355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// Enter your code here</a:t>
            </a:r>
          </a:p>
        </p:txBody>
      </p:sp>
    </p:spTree>
    <p:extLst>
      <p:ext uri="{BB962C8B-B14F-4D97-AF65-F5344CB8AC3E}">
        <p14:creationId xmlns:p14="http://schemas.microsoft.com/office/powerpoint/2010/main" val="3043087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488731"/>
            <a:ext cx="8534400" cy="1312041"/>
          </a:xfrm>
        </p:spPr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1800772"/>
            <a:ext cx="10761554" cy="784773"/>
          </a:xfrm>
        </p:spPr>
        <p:txBody>
          <a:bodyPr anchor="t" anchorCtr="0"/>
          <a:lstStyle/>
          <a:p>
            <a:r>
              <a:rPr lang="en-US" dirty="0"/>
              <a:t>Write a loop that reads a character </a:t>
            </a:r>
            <a:r>
              <a:rPr lang="en-US" dirty="0" err="1">
                <a:solidFill>
                  <a:srgbClr val="FFFF00"/>
                </a:solidFill>
              </a:rPr>
              <a:t>ch</a:t>
            </a:r>
            <a:r>
              <a:rPr lang="en-US" dirty="0"/>
              <a:t> from the keyboard until that character is either 'q' or 'Q'.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64989" y="3112813"/>
            <a:ext cx="56815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Use De Morgan’s rule to write</a:t>
            </a:r>
          </a:p>
          <a:p>
            <a:r>
              <a:rPr lang="en-US" sz="2000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the </a:t>
            </a:r>
            <a:r>
              <a:rPr lang="en-US" sz="2000" dirty="0" err="1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boolean</a:t>
            </a:r>
            <a:r>
              <a:rPr lang="en-US" sz="2000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 condition: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1326A1-DEA9-5EC5-5EFD-FD027A65551B}"/>
              </a:ext>
            </a:extLst>
          </p:cNvPr>
          <p:cNvSpPr txBox="1"/>
          <p:nvPr/>
        </p:nvSpPr>
        <p:spPr>
          <a:xfrm>
            <a:off x="1057526" y="2851329"/>
            <a:ext cx="3355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// Enter your code here</a:t>
            </a:r>
          </a:p>
        </p:txBody>
      </p:sp>
    </p:spTree>
    <p:extLst>
      <p:ext uri="{BB962C8B-B14F-4D97-AF65-F5344CB8AC3E}">
        <p14:creationId xmlns:p14="http://schemas.microsoft.com/office/powerpoint/2010/main" val="24419106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384" y="109571"/>
            <a:ext cx="8534400" cy="1507067"/>
          </a:xfrm>
        </p:spPr>
        <p:txBody>
          <a:bodyPr/>
          <a:lstStyle/>
          <a:p>
            <a:r>
              <a:rPr lang="en-US" dirty="0"/>
              <a:t>For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7684" y="1601544"/>
            <a:ext cx="516199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for </a:t>
            </a:r>
            <a:r>
              <a:rPr lang="en-US" sz="2400" dirty="0" err="1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var</a:t>
            </a:r>
            <a:r>
              <a:rPr lang="en-US" sz="24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in [val1, val2, </a:t>
            </a:r>
            <a:r>
              <a:rPr lang="mr-IN" sz="24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…</a:t>
            </a:r>
            <a:r>
              <a:rPr lang="en-US" sz="24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]:</a:t>
            </a:r>
          </a:p>
          <a:p>
            <a:r>
              <a:rPr lang="en-US" sz="24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    instruction 1</a:t>
            </a:r>
          </a:p>
          <a:p>
            <a:r>
              <a:rPr lang="en-US" sz="24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    instruction 2</a:t>
            </a:r>
          </a:p>
          <a:p>
            <a:r>
              <a:rPr lang="en-US" sz="24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    </a:t>
            </a:r>
            <a:r>
              <a:rPr lang="is-IS" sz="24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…</a:t>
            </a:r>
            <a:r>
              <a:rPr lang="en-US" sz="24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</a:p>
          <a:p>
            <a:r>
              <a:rPr lang="en-US" sz="24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Instruction after loop</a:t>
            </a:r>
          </a:p>
        </p:txBody>
      </p:sp>
      <p:sp>
        <p:nvSpPr>
          <p:cNvPr id="8" name="Diamond 7"/>
          <p:cNvSpPr/>
          <p:nvPr/>
        </p:nvSpPr>
        <p:spPr>
          <a:xfrm>
            <a:off x="8245792" y="3655305"/>
            <a:ext cx="2932385" cy="1283083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064589" y="4002201"/>
            <a:ext cx="16615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</a:rPr>
              <a:t>var</a:t>
            </a:r>
            <a:r>
              <a:rPr lang="en-US" b="1" dirty="0">
                <a:solidFill>
                  <a:schemeClr val="bg1"/>
                </a:solidFill>
              </a:rPr>
              <a:t> in [ val1, val2, </a:t>
            </a:r>
            <a:r>
              <a:rPr lang="mr-IN" b="1" dirty="0">
                <a:solidFill>
                  <a:schemeClr val="bg1"/>
                </a:solidFill>
              </a:rPr>
              <a:t>…</a:t>
            </a:r>
            <a:r>
              <a:rPr lang="en-US" b="1" dirty="0">
                <a:solidFill>
                  <a:schemeClr val="bg1"/>
                </a:solidFill>
              </a:rPr>
              <a:t>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56134" y="5650219"/>
            <a:ext cx="2522043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Instruction after loop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13153" y="2815848"/>
            <a:ext cx="2222938" cy="9233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Instruction 1</a:t>
            </a:r>
          </a:p>
          <a:p>
            <a:r>
              <a:rPr lang="en-US" b="1" dirty="0">
                <a:solidFill>
                  <a:schemeClr val="bg1"/>
                </a:solidFill>
              </a:rPr>
              <a:t>Instruction 2</a:t>
            </a:r>
          </a:p>
          <a:p>
            <a:r>
              <a:rPr lang="is-IS" b="1" dirty="0">
                <a:solidFill>
                  <a:schemeClr val="bg1"/>
                </a:solidFill>
              </a:rPr>
              <a:t>….</a:t>
            </a:r>
            <a:endParaRPr lang="en-US" b="1" dirty="0">
              <a:solidFill>
                <a:schemeClr val="bg1"/>
              </a:solidFill>
            </a:endParaRPr>
          </a:p>
        </p:txBody>
      </p:sp>
      <p:cxnSp>
        <p:nvCxnSpPr>
          <p:cNvPr id="13" name="Elbow Connector 12"/>
          <p:cNvCxnSpPr>
            <a:endCxn id="11" idx="0"/>
          </p:cNvCxnSpPr>
          <p:nvPr/>
        </p:nvCxnSpPr>
        <p:spPr>
          <a:xfrm rot="10800000" flipV="1">
            <a:off x="7824623" y="1147206"/>
            <a:ext cx="1690141" cy="1668641"/>
          </a:xfrm>
          <a:prstGeom prst="bentConnector2">
            <a:avLst/>
          </a:prstGeom>
          <a:ln w="25400">
            <a:solidFill>
              <a:schemeClr val="bg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971077" y="4911488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False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8052" y="4279200"/>
            <a:ext cx="64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True</a:t>
            </a:r>
          </a:p>
        </p:txBody>
      </p:sp>
      <p:sp>
        <p:nvSpPr>
          <p:cNvPr id="16" name="Oval 15"/>
          <p:cNvSpPr/>
          <p:nvPr/>
        </p:nvSpPr>
        <p:spPr>
          <a:xfrm>
            <a:off x="9490686" y="1001147"/>
            <a:ext cx="354724" cy="315311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cxnSp>
        <p:nvCxnSpPr>
          <p:cNvPr id="17" name="Straight Arrow Connector 16"/>
          <p:cNvCxnSpPr>
            <a:stCxn id="8" idx="2"/>
          </p:cNvCxnSpPr>
          <p:nvPr/>
        </p:nvCxnSpPr>
        <p:spPr>
          <a:xfrm>
            <a:off x="9711985" y="4938388"/>
            <a:ext cx="0" cy="706576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>
            <a:stCxn id="8" idx="1"/>
            <a:endCxn id="11" idx="2"/>
          </p:cNvCxnSpPr>
          <p:nvPr/>
        </p:nvCxnSpPr>
        <p:spPr>
          <a:xfrm rot="10800000">
            <a:off x="7824622" y="3739179"/>
            <a:ext cx="421170" cy="557669"/>
          </a:xfrm>
          <a:prstGeom prst="bentConnector2">
            <a:avLst/>
          </a:prstGeom>
          <a:ln w="2540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6" idx="4"/>
            <a:endCxn id="8" idx="0"/>
          </p:cNvCxnSpPr>
          <p:nvPr/>
        </p:nvCxnSpPr>
        <p:spPr>
          <a:xfrm>
            <a:off x="9668048" y="1316458"/>
            <a:ext cx="43937" cy="2338847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556579" y="380987"/>
            <a:ext cx="2053614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Start statement</a:t>
            </a: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9666383" y="750319"/>
            <a:ext cx="3329" cy="262956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9919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384" y="109571"/>
            <a:ext cx="8534400" cy="1507067"/>
          </a:xfrm>
        </p:spPr>
        <p:txBody>
          <a:bodyPr/>
          <a:lstStyle/>
          <a:p>
            <a:r>
              <a:rPr lang="en-US" dirty="0"/>
              <a:t>For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7684" y="1601544"/>
            <a:ext cx="5161991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for </a:t>
            </a:r>
            <a:r>
              <a:rPr lang="en-US" sz="2400" dirty="0" err="1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var</a:t>
            </a:r>
            <a:r>
              <a:rPr lang="en-US" sz="24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in </a:t>
            </a:r>
            <a:r>
              <a:rPr lang="en-US" sz="2400" b="1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[val1, val2, </a:t>
            </a:r>
            <a:r>
              <a:rPr lang="mr-IN" sz="2400" b="1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…</a:t>
            </a:r>
            <a:r>
              <a:rPr lang="en-US" sz="2400" b="1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]:</a:t>
            </a:r>
          </a:p>
          <a:p>
            <a:r>
              <a:rPr lang="en-US" sz="24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{</a:t>
            </a:r>
          </a:p>
          <a:p>
            <a:r>
              <a:rPr lang="en-US" sz="24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    instruction 1</a:t>
            </a:r>
          </a:p>
          <a:p>
            <a:r>
              <a:rPr lang="en-US" sz="24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    instruction 2</a:t>
            </a:r>
          </a:p>
          <a:p>
            <a:r>
              <a:rPr lang="en-US" sz="24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    </a:t>
            </a:r>
            <a:r>
              <a:rPr lang="is-IS" sz="24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…</a:t>
            </a:r>
          </a:p>
          <a:p>
            <a:r>
              <a:rPr lang="is-IS" sz="24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}</a:t>
            </a:r>
            <a:r>
              <a:rPr lang="en-US" sz="24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</a:p>
          <a:p>
            <a:r>
              <a:rPr lang="en-US" sz="24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Instruction after loop</a:t>
            </a:r>
          </a:p>
        </p:txBody>
      </p:sp>
      <p:sp>
        <p:nvSpPr>
          <p:cNvPr id="8" name="Diamond 7"/>
          <p:cNvSpPr/>
          <p:nvPr/>
        </p:nvSpPr>
        <p:spPr>
          <a:xfrm>
            <a:off x="8245792" y="3655305"/>
            <a:ext cx="2932386" cy="993227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56134" y="5650219"/>
            <a:ext cx="2522043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Instruction after loop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13153" y="2815848"/>
            <a:ext cx="2222938" cy="9233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Instruction 1</a:t>
            </a:r>
          </a:p>
          <a:p>
            <a:r>
              <a:rPr lang="en-US" b="1" dirty="0">
                <a:solidFill>
                  <a:schemeClr val="bg1"/>
                </a:solidFill>
              </a:rPr>
              <a:t>Instruction 2</a:t>
            </a:r>
          </a:p>
          <a:p>
            <a:r>
              <a:rPr lang="is-IS" b="1" dirty="0">
                <a:solidFill>
                  <a:schemeClr val="bg1"/>
                </a:solidFill>
              </a:rPr>
              <a:t>….</a:t>
            </a:r>
            <a:endParaRPr lang="en-US" b="1" dirty="0">
              <a:solidFill>
                <a:schemeClr val="bg1"/>
              </a:solidFill>
            </a:endParaRPr>
          </a:p>
        </p:txBody>
      </p:sp>
      <p:cxnSp>
        <p:nvCxnSpPr>
          <p:cNvPr id="13" name="Elbow Connector 12"/>
          <p:cNvCxnSpPr>
            <a:endCxn id="11" idx="0"/>
          </p:cNvCxnSpPr>
          <p:nvPr/>
        </p:nvCxnSpPr>
        <p:spPr>
          <a:xfrm rot="10800000" flipV="1">
            <a:off x="7824623" y="1147206"/>
            <a:ext cx="1690141" cy="1668641"/>
          </a:xfrm>
          <a:prstGeom prst="bentConnector2">
            <a:avLst/>
          </a:prstGeom>
          <a:ln w="25400">
            <a:solidFill>
              <a:schemeClr val="bg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971077" y="4911488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False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8052" y="4279200"/>
            <a:ext cx="64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True</a:t>
            </a:r>
          </a:p>
        </p:txBody>
      </p:sp>
      <p:sp>
        <p:nvSpPr>
          <p:cNvPr id="16" name="Oval 15"/>
          <p:cNvSpPr/>
          <p:nvPr/>
        </p:nvSpPr>
        <p:spPr>
          <a:xfrm>
            <a:off x="9490686" y="1001147"/>
            <a:ext cx="354724" cy="315311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cxnSp>
        <p:nvCxnSpPr>
          <p:cNvPr id="17" name="Straight Arrow Connector 16"/>
          <p:cNvCxnSpPr>
            <a:stCxn id="8" idx="2"/>
          </p:cNvCxnSpPr>
          <p:nvPr/>
        </p:nvCxnSpPr>
        <p:spPr>
          <a:xfrm>
            <a:off x="9711985" y="4648532"/>
            <a:ext cx="0" cy="996432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>
            <a:stCxn id="8" idx="1"/>
            <a:endCxn id="11" idx="2"/>
          </p:cNvCxnSpPr>
          <p:nvPr/>
        </p:nvCxnSpPr>
        <p:spPr>
          <a:xfrm rot="10800000">
            <a:off x="7824622" y="3739179"/>
            <a:ext cx="421170" cy="412741"/>
          </a:xfrm>
          <a:prstGeom prst="bentConnector2">
            <a:avLst/>
          </a:prstGeom>
          <a:ln w="2540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6" idx="4"/>
            <a:endCxn id="8" idx="0"/>
          </p:cNvCxnSpPr>
          <p:nvPr/>
        </p:nvCxnSpPr>
        <p:spPr>
          <a:xfrm>
            <a:off x="9668048" y="1316458"/>
            <a:ext cx="43937" cy="2338847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556579" y="380987"/>
            <a:ext cx="2053614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Start statement</a:t>
            </a: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9666383" y="750319"/>
            <a:ext cx="3329" cy="262956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 flipH="1">
            <a:off x="2353772" y="4911488"/>
            <a:ext cx="4629624" cy="89255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</a:rPr>
              <a:t>What is different between for and while loops?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4643" y="3861108"/>
            <a:ext cx="16615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</a:rPr>
              <a:t>var</a:t>
            </a:r>
            <a:r>
              <a:rPr lang="en-US" b="1" dirty="0">
                <a:solidFill>
                  <a:schemeClr val="bg1"/>
                </a:solidFill>
              </a:rPr>
              <a:t> in [ val1, val2, </a:t>
            </a:r>
            <a:r>
              <a:rPr lang="mr-IN" b="1" dirty="0">
                <a:solidFill>
                  <a:schemeClr val="bg1"/>
                </a:solidFill>
              </a:rPr>
              <a:t>…</a:t>
            </a:r>
            <a:r>
              <a:rPr lang="en-US" b="1" dirty="0">
                <a:solidFill>
                  <a:schemeClr val="bg1"/>
                </a:solidFill>
              </a:rPr>
              <a:t>]</a:t>
            </a:r>
          </a:p>
        </p:txBody>
      </p:sp>
      <p:sp>
        <p:nvSpPr>
          <p:cNvPr id="3" name="Rounded Rectangular Callout 2"/>
          <p:cNvSpPr/>
          <p:nvPr/>
        </p:nvSpPr>
        <p:spPr>
          <a:xfrm>
            <a:off x="4410897" y="706554"/>
            <a:ext cx="2483305" cy="681439"/>
          </a:xfrm>
          <a:prstGeom prst="wedgeRoundRectCallout">
            <a:avLst>
              <a:gd name="adj1" fmla="val -80484"/>
              <a:gd name="adj2" fmla="val 9640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LIST data type 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5115814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089" y="14074"/>
            <a:ext cx="8715751" cy="1507067"/>
          </a:xfrm>
        </p:spPr>
        <p:txBody>
          <a:bodyPr/>
          <a:lstStyle/>
          <a:p>
            <a:r>
              <a:rPr lang="en-US" dirty="0"/>
              <a:t>For loop </a:t>
            </a:r>
            <a:r>
              <a:rPr lang="mr-IN" dirty="0"/>
              <a:t>–</a:t>
            </a:r>
            <a:r>
              <a:rPr lang="en-US" dirty="0"/>
              <a:t> 1</a:t>
            </a:r>
            <a:r>
              <a:rPr lang="en-US" baseline="30000" dirty="0"/>
              <a:t>st</a:t>
            </a:r>
            <a:r>
              <a:rPr lang="en-US" dirty="0"/>
              <a:t> iteration (repetition)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785" y="1316458"/>
            <a:ext cx="7528554" cy="2040798"/>
          </a:xfrm>
          <a:prstGeom prst="rect">
            <a:avLst/>
          </a:prstGeom>
        </p:spPr>
      </p:pic>
      <p:sp>
        <p:nvSpPr>
          <p:cNvPr id="8" name="Diamond 7"/>
          <p:cNvSpPr/>
          <p:nvPr/>
        </p:nvSpPr>
        <p:spPr>
          <a:xfrm>
            <a:off x="8991750" y="4052347"/>
            <a:ext cx="2932386" cy="993227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402092" y="6047261"/>
            <a:ext cx="2522043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Instruction after loop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28416" y="3209209"/>
            <a:ext cx="1681049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 print (</a:t>
            </a:r>
            <a:r>
              <a:rPr lang="en-US" b="1" dirty="0">
                <a:solidFill>
                  <a:srgbClr val="FF0000"/>
                </a:solidFill>
              </a:rPr>
              <a:t>1</a:t>
            </a:r>
            <a:r>
              <a:rPr lang="en-US" b="1" dirty="0">
                <a:solidFill>
                  <a:schemeClr val="bg1"/>
                </a:solidFill>
              </a:rPr>
              <a:t>)</a:t>
            </a:r>
          </a:p>
        </p:txBody>
      </p:sp>
      <p:cxnSp>
        <p:nvCxnSpPr>
          <p:cNvPr id="13" name="Elbow Connector 12"/>
          <p:cNvCxnSpPr>
            <a:stCxn id="16" idx="2"/>
            <a:endCxn id="11" idx="0"/>
          </p:cNvCxnSpPr>
          <p:nvPr/>
        </p:nvCxnSpPr>
        <p:spPr>
          <a:xfrm rot="10800000" flipV="1">
            <a:off x="8668942" y="1555845"/>
            <a:ext cx="1567703" cy="1653364"/>
          </a:xfrm>
          <a:prstGeom prst="bentConnector2">
            <a:avLst/>
          </a:prstGeom>
          <a:ln w="25400">
            <a:solidFill>
              <a:schemeClr val="bg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717035" y="5308530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False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4010" y="4676242"/>
            <a:ext cx="64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True</a:t>
            </a:r>
          </a:p>
        </p:txBody>
      </p:sp>
      <p:sp>
        <p:nvSpPr>
          <p:cNvPr id="16" name="Oval 15"/>
          <p:cNvSpPr/>
          <p:nvPr/>
        </p:nvSpPr>
        <p:spPr>
          <a:xfrm>
            <a:off x="10236644" y="1398189"/>
            <a:ext cx="354724" cy="315311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cxnSp>
        <p:nvCxnSpPr>
          <p:cNvPr id="17" name="Straight Arrow Connector 16"/>
          <p:cNvCxnSpPr>
            <a:stCxn id="8" idx="2"/>
          </p:cNvCxnSpPr>
          <p:nvPr/>
        </p:nvCxnSpPr>
        <p:spPr>
          <a:xfrm>
            <a:off x="10457943" y="5045574"/>
            <a:ext cx="0" cy="996432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>
            <a:stCxn id="8" idx="1"/>
            <a:endCxn id="11" idx="2"/>
          </p:cNvCxnSpPr>
          <p:nvPr/>
        </p:nvCxnSpPr>
        <p:spPr>
          <a:xfrm rot="10800000">
            <a:off x="8668942" y="3578541"/>
            <a:ext cx="322809" cy="970420"/>
          </a:xfrm>
          <a:prstGeom prst="bentConnector2">
            <a:avLst/>
          </a:prstGeom>
          <a:ln w="2540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6" idx="4"/>
            <a:endCxn id="8" idx="0"/>
          </p:cNvCxnSpPr>
          <p:nvPr/>
        </p:nvCxnSpPr>
        <p:spPr>
          <a:xfrm>
            <a:off x="10414006" y="1713500"/>
            <a:ext cx="43937" cy="2338847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385534" y="805040"/>
            <a:ext cx="2053614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Start statement</a:t>
            </a: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10412341" y="1147361"/>
            <a:ext cx="3329" cy="262956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634875" y="4364294"/>
            <a:ext cx="2007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</a:t>
            </a:r>
            <a:r>
              <a:rPr lang="en-US" b="1" dirty="0">
                <a:solidFill>
                  <a:schemeClr val="bg1"/>
                </a:solidFill>
              </a:rPr>
              <a:t>  in [1,3,5, 7,9]</a:t>
            </a:r>
          </a:p>
        </p:txBody>
      </p:sp>
      <p:sp>
        <p:nvSpPr>
          <p:cNvPr id="26" name="Alternate Process 25"/>
          <p:cNvSpPr/>
          <p:nvPr/>
        </p:nvSpPr>
        <p:spPr>
          <a:xfrm>
            <a:off x="9802853" y="2492380"/>
            <a:ext cx="1636295" cy="445614"/>
          </a:xfrm>
          <a:prstGeom prst="flowChartAlternateProcess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num</a:t>
            </a:r>
            <a:r>
              <a:rPr lang="en-US" dirty="0"/>
              <a:t> = 1 </a:t>
            </a:r>
          </a:p>
        </p:txBody>
      </p:sp>
    </p:spTree>
    <p:extLst>
      <p:ext uri="{BB962C8B-B14F-4D97-AF65-F5344CB8AC3E}">
        <p14:creationId xmlns:p14="http://schemas.microsoft.com/office/powerpoint/2010/main" val="1781690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089" y="14074"/>
            <a:ext cx="8883747" cy="1507067"/>
          </a:xfrm>
        </p:spPr>
        <p:txBody>
          <a:bodyPr/>
          <a:lstStyle/>
          <a:p>
            <a:r>
              <a:rPr lang="en-US" dirty="0"/>
              <a:t>For loop </a:t>
            </a:r>
            <a:r>
              <a:rPr lang="mr-IN" dirty="0"/>
              <a:t>–</a:t>
            </a:r>
            <a:r>
              <a:rPr lang="en-US" dirty="0"/>
              <a:t> 2</a:t>
            </a:r>
            <a:r>
              <a:rPr lang="en-US" baseline="30000" dirty="0"/>
              <a:t>nd</a:t>
            </a:r>
            <a:r>
              <a:rPr lang="en-US" dirty="0"/>
              <a:t> iteration (repetition)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785" y="1316458"/>
            <a:ext cx="7528554" cy="2040798"/>
          </a:xfrm>
          <a:prstGeom prst="rect">
            <a:avLst/>
          </a:prstGeom>
        </p:spPr>
      </p:pic>
      <p:sp>
        <p:nvSpPr>
          <p:cNvPr id="8" name="Diamond 7"/>
          <p:cNvSpPr/>
          <p:nvPr/>
        </p:nvSpPr>
        <p:spPr>
          <a:xfrm>
            <a:off x="8991750" y="4052347"/>
            <a:ext cx="2932386" cy="993227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402092" y="6047261"/>
            <a:ext cx="2522043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Instruction after loop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28416" y="3209209"/>
            <a:ext cx="1681049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 print (</a:t>
            </a:r>
            <a:r>
              <a:rPr lang="en-US" b="1" dirty="0">
                <a:solidFill>
                  <a:srgbClr val="FF0000"/>
                </a:solidFill>
              </a:rPr>
              <a:t>3</a:t>
            </a:r>
            <a:r>
              <a:rPr lang="en-US" b="1" dirty="0">
                <a:solidFill>
                  <a:schemeClr val="bg1"/>
                </a:solidFill>
              </a:rPr>
              <a:t>)</a:t>
            </a:r>
          </a:p>
        </p:txBody>
      </p:sp>
      <p:cxnSp>
        <p:nvCxnSpPr>
          <p:cNvPr id="13" name="Elbow Connector 12"/>
          <p:cNvCxnSpPr>
            <a:stCxn id="16" idx="2"/>
            <a:endCxn id="11" idx="0"/>
          </p:cNvCxnSpPr>
          <p:nvPr/>
        </p:nvCxnSpPr>
        <p:spPr>
          <a:xfrm rot="10800000" flipV="1">
            <a:off x="8668942" y="1555845"/>
            <a:ext cx="1567703" cy="1653364"/>
          </a:xfrm>
          <a:prstGeom prst="bentConnector2">
            <a:avLst/>
          </a:prstGeom>
          <a:ln w="25400">
            <a:solidFill>
              <a:schemeClr val="bg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717035" y="5308530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False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4010" y="4676242"/>
            <a:ext cx="64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True</a:t>
            </a:r>
          </a:p>
        </p:txBody>
      </p:sp>
      <p:sp>
        <p:nvSpPr>
          <p:cNvPr id="16" name="Oval 15"/>
          <p:cNvSpPr/>
          <p:nvPr/>
        </p:nvSpPr>
        <p:spPr>
          <a:xfrm>
            <a:off x="10236644" y="1398189"/>
            <a:ext cx="354724" cy="315311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cxnSp>
        <p:nvCxnSpPr>
          <p:cNvPr id="17" name="Straight Arrow Connector 16"/>
          <p:cNvCxnSpPr>
            <a:stCxn id="8" idx="2"/>
          </p:cNvCxnSpPr>
          <p:nvPr/>
        </p:nvCxnSpPr>
        <p:spPr>
          <a:xfrm>
            <a:off x="10457943" y="5045574"/>
            <a:ext cx="0" cy="996432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>
            <a:stCxn id="8" idx="1"/>
            <a:endCxn id="11" idx="2"/>
          </p:cNvCxnSpPr>
          <p:nvPr/>
        </p:nvCxnSpPr>
        <p:spPr>
          <a:xfrm rot="10800000">
            <a:off x="8668942" y="3578541"/>
            <a:ext cx="322809" cy="970420"/>
          </a:xfrm>
          <a:prstGeom prst="bentConnector2">
            <a:avLst/>
          </a:prstGeom>
          <a:ln w="2540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6" idx="4"/>
            <a:endCxn id="8" idx="0"/>
          </p:cNvCxnSpPr>
          <p:nvPr/>
        </p:nvCxnSpPr>
        <p:spPr>
          <a:xfrm>
            <a:off x="10414006" y="1713500"/>
            <a:ext cx="43937" cy="2338847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385534" y="805040"/>
            <a:ext cx="2053614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Start statement</a:t>
            </a: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10412341" y="1147361"/>
            <a:ext cx="3329" cy="262956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627176" y="4355530"/>
            <a:ext cx="1811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3</a:t>
            </a:r>
            <a:r>
              <a:rPr lang="en-US" b="1" dirty="0">
                <a:solidFill>
                  <a:schemeClr val="bg1"/>
                </a:solidFill>
              </a:rPr>
              <a:t>  in [1,3,5,7,9]</a:t>
            </a:r>
          </a:p>
        </p:txBody>
      </p:sp>
      <p:sp>
        <p:nvSpPr>
          <p:cNvPr id="26" name="Alternate Process 25"/>
          <p:cNvSpPr/>
          <p:nvPr/>
        </p:nvSpPr>
        <p:spPr>
          <a:xfrm>
            <a:off x="9802853" y="2492380"/>
            <a:ext cx="1636295" cy="445614"/>
          </a:xfrm>
          <a:prstGeom prst="flowChartAlternateProcess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num</a:t>
            </a:r>
            <a:r>
              <a:rPr lang="en-US" dirty="0"/>
              <a:t> = 3 </a:t>
            </a:r>
          </a:p>
        </p:txBody>
      </p:sp>
    </p:spTree>
    <p:extLst>
      <p:ext uri="{BB962C8B-B14F-4D97-AF65-F5344CB8AC3E}">
        <p14:creationId xmlns:p14="http://schemas.microsoft.com/office/powerpoint/2010/main" val="12129730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089" y="14074"/>
            <a:ext cx="8883747" cy="1507067"/>
          </a:xfrm>
        </p:spPr>
        <p:txBody>
          <a:bodyPr/>
          <a:lstStyle/>
          <a:p>
            <a:r>
              <a:rPr lang="en-US" dirty="0"/>
              <a:t>For loop </a:t>
            </a:r>
            <a:r>
              <a:rPr lang="mr-IN" dirty="0"/>
              <a:t>–</a:t>
            </a:r>
            <a:r>
              <a:rPr lang="en-US" dirty="0"/>
              <a:t> 3</a:t>
            </a:r>
            <a:r>
              <a:rPr lang="en-US" baseline="30000" dirty="0"/>
              <a:t>rd</a:t>
            </a:r>
            <a:r>
              <a:rPr lang="en-US" dirty="0"/>
              <a:t> iteration (repetition)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785" y="1316458"/>
            <a:ext cx="7528554" cy="2040798"/>
          </a:xfrm>
          <a:prstGeom prst="rect">
            <a:avLst/>
          </a:prstGeom>
        </p:spPr>
      </p:pic>
      <p:sp>
        <p:nvSpPr>
          <p:cNvPr id="8" name="Diamond 7"/>
          <p:cNvSpPr/>
          <p:nvPr/>
        </p:nvSpPr>
        <p:spPr>
          <a:xfrm>
            <a:off x="8991750" y="4052347"/>
            <a:ext cx="2932386" cy="993227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402092" y="6047261"/>
            <a:ext cx="2522043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Instruction after loop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28416" y="3209209"/>
            <a:ext cx="1681049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 print (</a:t>
            </a:r>
            <a:r>
              <a:rPr lang="en-US" b="1" dirty="0">
                <a:solidFill>
                  <a:srgbClr val="FF0000"/>
                </a:solidFill>
              </a:rPr>
              <a:t>5</a:t>
            </a:r>
            <a:r>
              <a:rPr lang="en-US" b="1" dirty="0">
                <a:solidFill>
                  <a:schemeClr val="bg1"/>
                </a:solidFill>
              </a:rPr>
              <a:t>)</a:t>
            </a:r>
          </a:p>
        </p:txBody>
      </p:sp>
      <p:cxnSp>
        <p:nvCxnSpPr>
          <p:cNvPr id="13" name="Elbow Connector 12"/>
          <p:cNvCxnSpPr>
            <a:stCxn id="16" idx="2"/>
            <a:endCxn id="11" idx="0"/>
          </p:cNvCxnSpPr>
          <p:nvPr/>
        </p:nvCxnSpPr>
        <p:spPr>
          <a:xfrm rot="10800000" flipV="1">
            <a:off x="8668942" y="1555845"/>
            <a:ext cx="1567703" cy="1653364"/>
          </a:xfrm>
          <a:prstGeom prst="bentConnector2">
            <a:avLst/>
          </a:prstGeom>
          <a:ln w="25400">
            <a:solidFill>
              <a:schemeClr val="bg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717035" y="5308530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False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4010" y="4676242"/>
            <a:ext cx="64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True</a:t>
            </a:r>
          </a:p>
        </p:txBody>
      </p:sp>
      <p:sp>
        <p:nvSpPr>
          <p:cNvPr id="16" name="Oval 15"/>
          <p:cNvSpPr/>
          <p:nvPr/>
        </p:nvSpPr>
        <p:spPr>
          <a:xfrm>
            <a:off x="10236644" y="1398189"/>
            <a:ext cx="354724" cy="315311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cxnSp>
        <p:nvCxnSpPr>
          <p:cNvPr id="17" name="Straight Arrow Connector 16"/>
          <p:cNvCxnSpPr>
            <a:stCxn id="8" idx="2"/>
          </p:cNvCxnSpPr>
          <p:nvPr/>
        </p:nvCxnSpPr>
        <p:spPr>
          <a:xfrm>
            <a:off x="10457943" y="5045574"/>
            <a:ext cx="0" cy="996432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>
            <a:stCxn id="8" idx="1"/>
            <a:endCxn id="11" idx="2"/>
          </p:cNvCxnSpPr>
          <p:nvPr/>
        </p:nvCxnSpPr>
        <p:spPr>
          <a:xfrm rot="10800000">
            <a:off x="8668942" y="3578541"/>
            <a:ext cx="322809" cy="970420"/>
          </a:xfrm>
          <a:prstGeom prst="bentConnector2">
            <a:avLst/>
          </a:prstGeom>
          <a:ln w="2540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6" idx="4"/>
            <a:endCxn id="8" idx="0"/>
          </p:cNvCxnSpPr>
          <p:nvPr/>
        </p:nvCxnSpPr>
        <p:spPr>
          <a:xfrm>
            <a:off x="10414006" y="1713500"/>
            <a:ext cx="43937" cy="2338847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385534" y="805040"/>
            <a:ext cx="2053614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Start statement</a:t>
            </a: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10412341" y="1147361"/>
            <a:ext cx="3329" cy="262956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627176" y="4355530"/>
            <a:ext cx="1811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5 </a:t>
            </a:r>
            <a:r>
              <a:rPr lang="en-US" b="1" dirty="0">
                <a:solidFill>
                  <a:schemeClr val="bg1"/>
                </a:solidFill>
              </a:rPr>
              <a:t>in [1,3,5,7,9]</a:t>
            </a:r>
          </a:p>
        </p:txBody>
      </p:sp>
      <p:sp>
        <p:nvSpPr>
          <p:cNvPr id="26" name="Alternate Process 25"/>
          <p:cNvSpPr/>
          <p:nvPr/>
        </p:nvSpPr>
        <p:spPr>
          <a:xfrm>
            <a:off x="9802853" y="2492380"/>
            <a:ext cx="1636295" cy="445614"/>
          </a:xfrm>
          <a:prstGeom prst="flowChartAlternateProcess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num</a:t>
            </a:r>
            <a:r>
              <a:rPr lang="en-US" dirty="0"/>
              <a:t> = 5 </a:t>
            </a:r>
          </a:p>
        </p:txBody>
      </p:sp>
    </p:spTree>
    <p:extLst>
      <p:ext uri="{BB962C8B-B14F-4D97-AF65-F5344CB8AC3E}">
        <p14:creationId xmlns:p14="http://schemas.microsoft.com/office/powerpoint/2010/main" val="1035044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089" y="14074"/>
            <a:ext cx="8883747" cy="1507067"/>
          </a:xfrm>
        </p:spPr>
        <p:txBody>
          <a:bodyPr/>
          <a:lstStyle/>
          <a:p>
            <a:r>
              <a:rPr lang="en-US" dirty="0"/>
              <a:t>For loop </a:t>
            </a:r>
            <a:r>
              <a:rPr lang="mr-IN" dirty="0"/>
              <a:t>–</a:t>
            </a:r>
            <a:r>
              <a:rPr lang="en-US" dirty="0"/>
              <a:t> 4</a:t>
            </a:r>
            <a:r>
              <a:rPr lang="en-US" baseline="30000" dirty="0"/>
              <a:t>th</a:t>
            </a:r>
            <a:r>
              <a:rPr lang="en-US" dirty="0"/>
              <a:t> iteration (repetition)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785" y="1316458"/>
            <a:ext cx="7528554" cy="2040798"/>
          </a:xfrm>
          <a:prstGeom prst="rect">
            <a:avLst/>
          </a:prstGeom>
        </p:spPr>
      </p:pic>
      <p:sp>
        <p:nvSpPr>
          <p:cNvPr id="8" name="Diamond 7"/>
          <p:cNvSpPr/>
          <p:nvPr/>
        </p:nvSpPr>
        <p:spPr>
          <a:xfrm>
            <a:off x="8991750" y="4052347"/>
            <a:ext cx="2932386" cy="993227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402092" y="6047261"/>
            <a:ext cx="2522043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Instruction after loop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28416" y="3209209"/>
            <a:ext cx="1681049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 print (</a:t>
            </a:r>
            <a:r>
              <a:rPr lang="en-US" b="1" dirty="0">
                <a:solidFill>
                  <a:srgbClr val="FF0000"/>
                </a:solidFill>
              </a:rPr>
              <a:t>7</a:t>
            </a:r>
            <a:r>
              <a:rPr lang="en-US" b="1" dirty="0">
                <a:solidFill>
                  <a:schemeClr val="bg1"/>
                </a:solidFill>
              </a:rPr>
              <a:t>)</a:t>
            </a:r>
          </a:p>
        </p:txBody>
      </p:sp>
      <p:cxnSp>
        <p:nvCxnSpPr>
          <p:cNvPr id="13" name="Elbow Connector 12"/>
          <p:cNvCxnSpPr>
            <a:stCxn id="16" idx="2"/>
            <a:endCxn id="11" idx="0"/>
          </p:cNvCxnSpPr>
          <p:nvPr/>
        </p:nvCxnSpPr>
        <p:spPr>
          <a:xfrm rot="10800000" flipV="1">
            <a:off x="8668942" y="1555845"/>
            <a:ext cx="1567703" cy="1653364"/>
          </a:xfrm>
          <a:prstGeom prst="bentConnector2">
            <a:avLst/>
          </a:prstGeom>
          <a:ln w="25400">
            <a:solidFill>
              <a:schemeClr val="bg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717035" y="5308530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False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4010" y="4676242"/>
            <a:ext cx="64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True</a:t>
            </a:r>
          </a:p>
        </p:txBody>
      </p:sp>
      <p:sp>
        <p:nvSpPr>
          <p:cNvPr id="16" name="Oval 15"/>
          <p:cNvSpPr/>
          <p:nvPr/>
        </p:nvSpPr>
        <p:spPr>
          <a:xfrm>
            <a:off x="10236644" y="1398189"/>
            <a:ext cx="354724" cy="315311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cxnSp>
        <p:nvCxnSpPr>
          <p:cNvPr id="17" name="Straight Arrow Connector 16"/>
          <p:cNvCxnSpPr>
            <a:stCxn id="8" idx="2"/>
          </p:cNvCxnSpPr>
          <p:nvPr/>
        </p:nvCxnSpPr>
        <p:spPr>
          <a:xfrm>
            <a:off x="10457943" y="5045574"/>
            <a:ext cx="0" cy="996432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>
            <a:stCxn id="8" idx="1"/>
            <a:endCxn id="11" idx="2"/>
          </p:cNvCxnSpPr>
          <p:nvPr/>
        </p:nvCxnSpPr>
        <p:spPr>
          <a:xfrm rot="10800000">
            <a:off x="8668942" y="3578541"/>
            <a:ext cx="322809" cy="970420"/>
          </a:xfrm>
          <a:prstGeom prst="bentConnector2">
            <a:avLst/>
          </a:prstGeom>
          <a:ln w="2540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6" idx="4"/>
            <a:endCxn id="8" idx="0"/>
          </p:cNvCxnSpPr>
          <p:nvPr/>
        </p:nvCxnSpPr>
        <p:spPr>
          <a:xfrm>
            <a:off x="10414006" y="1713500"/>
            <a:ext cx="43937" cy="2338847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385534" y="805040"/>
            <a:ext cx="2053614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Start statement</a:t>
            </a: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10412341" y="1147361"/>
            <a:ext cx="3329" cy="262956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627176" y="4355530"/>
            <a:ext cx="1811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7 </a:t>
            </a:r>
            <a:r>
              <a:rPr lang="en-US" b="1" dirty="0">
                <a:solidFill>
                  <a:schemeClr val="bg1"/>
                </a:solidFill>
              </a:rPr>
              <a:t>in [1,3,5,7,9]</a:t>
            </a:r>
          </a:p>
        </p:txBody>
      </p:sp>
      <p:sp>
        <p:nvSpPr>
          <p:cNvPr id="26" name="Alternate Process 25"/>
          <p:cNvSpPr/>
          <p:nvPr/>
        </p:nvSpPr>
        <p:spPr>
          <a:xfrm>
            <a:off x="9802853" y="2492380"/>
            <a:ext cx="1636295" cy="445614"/>
          </a:xfrm>
          <a:prstGeom prst="flowChartAlternateProcess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num</a:t>
            </a:r>
            <a:r>
              <a:rPr lang="en-US" dirty="0"/>
              <a:t> = 7 </a:t>
            </a:r>
          </a:p>
        </p:txBody>
      </p:sp>
    </p:spTree>
    <p:extLst>
      <p:ext uri="{BB962C8B-B14F-4D97-AF65-F5344CB8AC3E}">
        <p14:creationId xmlns:p14="http://schemas.microsoft.com/office/powerpoint/2010/main" val="13717380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089" y="14074"/>
            <a:ext cx="8883747" cy="1507067"/>
          </a:xfrm>
        </p:spPr>
        <p:txBody>
          <a:bodyPr/>
          <a:lstStyle/>
          <a:p>
            <a:r>
              <a:rPr lang="en-US" dirty="0"/>
              <a:t>For loop </a:t>
            </a:r>
            <a:r>
              <a:rPr lang="mr-IN" dirty="0"/>
              <a:t>–</a:t>
            </a:r>
            <a:r>
              <a:rPr lang="en-US" dirty="0"/>
              <a:t> 4</a:t>
            </a:r>
            <a:r>
              <a:rPr lang="en-US" baseline="30000" dirty="0"/>
              <a:t>th</a:t>
            </a:r>
            <a:r>
              <a:rPr lang="en-US" dirty="0"/>
              <a:t> iteration (repetition)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785" y="1316458"/>
            <a:ext cx="7528554" cy="2040798"/>
          </a:xfrm>
          <a:prstGeom prst="rect">
            <a:avLst/>
          </a:prstGeom>
        </p:spPr>
      </p:pic>
      <p:sp>
        <p:nvSpPr>
          <p:cNvPr id="8" name="Diamond 7"/>
          <p:cNvSpPr/>
          <p:nvPr/>
        </p:nvSpPr>
        <p:spPr>
          <a:xfrm>
            <a:off x="8991750" y="4052347"/>
            <a:ext cx="2932386" cy="993227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402092" y="6047261"/>
            <a:ext cx="2522043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Instruction after loop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28416" y="3209209"/>
            <a:ext cx="1681049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 print (</a:t>
            </a:r>
            <a:r>
              <a:rPr lang="en-US" b="1" dirty="0">
                <a:solidFill>
                  <a:srgbClr val="FF0000"/>
                </a:solidFill>
              </a:rPr>
              <a:t>9</a:t>
            </a:r>
            <a:r>
              <a:rPr lang="en-US" b="1" dirty="0">
                <a:solidFill>
                  <a:schemeClr val="bg1"/>
                </a:solidFill>
              </a:rPr>
              <a:t>)</a:t>
            </a:r>
          </a:p>
        </p:txBody>
      </p:sp>
      <p:cxnSp>
        <p:nvCxnSpPr>
          <p:cNvPr id="13" name="Elbow Connector 12"/>
          <p:cNvCxnSpPr>
            <a:stCxn id="16" idx="2"/>
            <a:endCxn id="11" idx="0"/>
          </p:cNvCxnSpPr>
          <p:nvPr/>
        </p:nvCxnSpPr>
        <p:spPr>
          <a:xfrm rot="10800000" flipV="1">
            <a:off x="8668942" y="1555845"/>
            <a:ext cx="1567703" cy="1653364"/>
          </a:xfrm>
          <a:prstGeom prst="bentConnector2">
            <a:avLst/>
          </a:prstGeom>
          <a:ln w="25400">
            <a:solidFill>
              <a:schemeClr val="bg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717035" y="5308530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False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4010" y="4676242"/>
            <a:ext cx="64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True</a:t>
            </a:r>
          </a:p>
        </p:txBody>
      </p:sp>
      <p:sp>
        <p:nvSpPr>
          <p:cNvPr id="16" name="Oval 15"/>
          <p:cNvSpPr/>
          <p:nvPr/>
        </p:nvSpPr>
        <p:spPr>
          <a:xfrm>
            <a:off x="10236644" y="1398189"/>
            <a:ext cx="354724" cy="315311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cxnSp>
        <p:nvCxnSpPr>
          <p:cNvPr id="17" name="Straight Arrow Connector 16"/>
          <p:cNvCxnSpPr>
            <a:stCxn id="8" idx="2"/>
          </p:cNvCxnSpPr>
          <p:nvPr/>
        </p:nvCxnSpPr>
        <p:spPr>
          <a:xfrm>
            <a:off x="10457943" y="5045574"/>
            <a:ext cx="0" cy="996432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>
            <a:stCxn id="8" idx="1"/>
            <a:endCxn id="11" idx="2"/>
          </p:cNvCxnSpPr>
          <p:nvPr/>
        </p:nvCxnSpPr>
        <p:spPr>
          <a:xfrm rot="10800000">
            <a:off x="8668942" y="3578541"/>
            <a:ext cx="322809" cy="970420"/>
          </a:xfrm>
          <a:prstGeom prst="bentConnector2">
            <a:avLst/>
          </a:prstGeom>
          <a:ln w="2540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6" idx="4"/>
            <a:endCxn id="8" idx="0"/>
          </p:cNvCxnSpPr>
          <p:nvPr/>
        </p:nvCxnSpPr>
        <p:spPr>
          <a:xfrm>
            <a:off x="10414006" y="1713500"/>
            <a:ext cx="43937" cy="2338847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385534" y="805040"/>
            <a:ext cx="2053614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Start statement</a:t>
            </a: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10412341" y="1147361"/>
            <a:ext cx="3329" cy="262956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627176" y="4355530"/>
            <a:ext cx="1811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9 </a:t>
            </a:r>
            <a:r>
              <a:rPr lang="en-US" b="1" dirty="0">
                <a:solidFill>
                  <a:schemeClr val="bg1"/>
                </a:solidFill>
              </a:rPr>
              <a:t>in [1,3,5,7,9]</a:t>
            </a:r>
          </a:p>
        </p:txBody>
      </p:sp>
      <p:sp>
        <p:nvSpPr>
          <p:cNvPr id="26" name="Alternate Process 25"/>
          <p:cNvSpPr/>
          <p:nvPr/>
        </p:nvSpPr>
        <p:spPr>
          <a:xfrm>
            <a:off x="9802853" y="2492380"/>
            <a:ext cx="1636295" cy="445614"/>
          </a:xfrm>
          <a:prstGeom prst="flowChartAlternateProcess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num</a:t>
            </a:r>
            <a:r>
              <a:rPr lang="en-US" dirty="0"/>
              <a:t> = 9 </a:t>
            </a:r>
          </a:p>
        </p:txBody>
      </p:sp>
    </p:spTree>
    <p:extLst>
      <p:ext uri="{BB962C8B-B14F-4D97-AF65-F5344CB8AC3E}">
        <p14:creationId xmlns:p14="http://schemas.microsoft.com/office/powerpoint/2010/main" val="4458890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089" y="14074"/>
            <a:ext cx="8883747" cy="1507067"/>
          </a:xfrm>
        </p:spPr>
        <p:txBody>
          <a:bodyPr/>
          <a:lstStyle/>
          <a:p>
            <a:r>
              <a:rPr lang="en-US" dirty="0"/>
              <a:t>For loop </a:t>
            </a:r>
            <a:r>
              <a:rPr lang="mr-IN" dirty="0"/>
              <a:t>–</a:t>
            </a:r>
            <a:r>
              <a:rPr lang="en-US" dirty="0"/>
              <a:t> end iteration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785" y="1316458"/>
            <a:ext cx="7528554" cy="2040798"/>
          </a:xfrm>
          <a:prstGeom prst="rect">
            <a:avLst/>
          </a:prstGeom>
        </p:spPr>
      </p:pic>
      <p:sp>
        <p:nvSpPr>
          <p:cNvPr id="8" name="Diamond 7"/>
          <p:cNvSpPr/>
          <p:nvPr/>
        </p:nvSpPr>
        <p:spPr>
          <a:xfrm>
            <a:off x="8991750" y="4052347"/>
            <a:ext cx="2932386" cy="993227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402092" y="6047261"/>
            <a:ext cx="2522043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Instruction after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28416" y="3209209"/>
            <a:ext cx="1681049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 print (</a:t>
            </a:r>
            <a:r>
              <a:rPr lang="en-US" b="1" dirty="0" err="1">
                <a:solidFill>
                  <a:srgbClr val="FF0000"/>
                </a:solidFill>
              </a:rPr>
              <a:t>num</a:t>
            </a:r>
            <a:r>
              <a:rPr lang="en-US" b="1" dirty="0">
                <a:solidFill>
                  <a:schemeClr val="bg1"/>
                </a:solidFill>
              </a:rPr>
              <a:t>)</a:t>
            </a:r>
          </a:p>
        </p:txBody>
      </p:sp>
      <p:cxnSp>
        <p:nvCxnSpPr>
          <p:cNvPr id="13" name="Elbow Connector 12"/>
          <p:cNvCxnSpPr>
            <a:stCxn id="16" idx="2"/>
            <a:endCxn id="11" idx="0"/>
          </p:cNvCxnSpPr>
          <p:nvPr/>
        </p:nvCxnSpPr>
        <p:spPr>
          <a:xfrm rot="10800000" flipV="1">
            <a:off x="8668942" y="1555845"/>
            <a:ext cx="1567703" cy="1653364"/>
          </a:xfrm>
          <a:prstGeom prst="bentConnector2">
            <a:avLst/>
          </a:prstGeom>
          <a:ln w="25400">
            <a:solidFill>
              <a:schemeClr val="bg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717035" y="5308530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4010" y="4676242"/>
            <a:ext cx="64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True</a:t>
            </a:r>
          </a:p>
        </p:txBody>
      </p:sp>
      <p:sp>
        <p:nvSpPr>
          <p:cNvPr id="16" name="Oval 15"/>
          <p:cNvSpPr/>
          <p:nvPr/>
        </p:nvSpPr>
        <p:spPr>
          <a:xfrm>
            <a:off x="10236644" y="1398189"/>
            <a:ext cx="354724" cy="315311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cxnSp>
        <p:nvCxnSpPr>
          <p:cNvPr id="17" name="Straight Arrow Connector 16"/>
          <p:cNvCxnSpPr>
            <a:stCxn id="8" idx="2"/>
          </p:cNvCxnSpPr>
          <p:nvPr/>
        </p:nvCxnSpPr>
        <p:spPr>
          <a:xfrm>
            <a:off x="10457943" y="5045574"/>
            <a:ext cx="0" cy="996432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>
            <a:stCxn id="8" idx="1"/>
            <a:endCxn id="11" idx="2"/>
          </p:cNvCxnSpPr>
          <p:nvPr/>
        </p:nvCxnSpPr>
        <p:spPr>
          <a:xfrm rot="10800000">
            <a:off x="8668942" y="3578541"/>
            <a:ext cx="322809" cy="970420"/>
          </a:xfrm>
          <a:prstGeom prst="bentConnector2">
            <a:avLst/>
          </a:prstGeom>
          <a:ln w="2540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6" idx="4"/>
            <a:endCxn id="8" idx="0"/>
          </p:cNvCxnSpPr>
          <p:nvPr/>
        </p:nvCxnSpPr>
        <p:spPr>
          <a:xfrm>
            <a:off x="10414006" y="1713500"/>
            <a:ext cx="43937" cy="2338847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385534" y="805040"/>
            <a:ext cx="2053614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Start statement</a:t>
            </a: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10412341" y="1147361"/>
            <a:ext cx="3329" cy="262956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627175" y="4355530"/>
            <a:ext cx="2103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num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in [1,3,5,7,9]</a:t>
            </a:r>
          </a:p>
        </p:txBody>
      </p:sp>
      <p:sp>
        <p:nvSpPr>
          <p:cNvPr id="26" name="Alternate Process 25"/>
          <p:cNvSpPr/>
          <p:nvPr/>
        </p:nvSpPr>
        <p:spPr>
          <a:xfrm>
            <a:off x="9802853" y="2492380"/>
            <a:ext cx="2121282" cy="558280"/>
          </a:xfrm>
          <a:prstGeom prst="flowChartAlternateProcess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end list </a:t>
            </a:r>
            <a:r>
              <a:rPr lang="en-US" dirty="0"/>
              <a:t>of </a:t>
            </a:r>
            <a:r>
              <a:rPr lang="en-US"/>
              <a:t>values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1329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488731"/>
            <a:ext cx="8534400" cy="1312041"/>
          </a:xfrm>
        </p:spPr>
        <p:txBody>
          <a:bodyPr/>
          <a:lstStyle/>
          <a:p>
            <a:r>
              <a:rPr lang="en-US" dirty="0"/>
              <a:t>Range function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28590" y="1600200"/>
            <a:ext cx="10890167" cy="3922294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How to generate a longer list of values without enumerating all values?</a:t>
            </a:r>
          </a:p>
          <a:p>
            <a:r>
              <a:rPr lang="en-US" sz="2400" dirty="0">
                <a:solidFill>
                  <a:schemeClr val="bg1"/>
                </a:solidFill>
              </a:rPr>
              <a:t>Examples: </a:t>
            </a:r>
          </a:p>
          <a:p>
            <a:pPr lvl="1"/>
            <a:r>
              <a:rPr lang="en-US" sz="2200" dirty="0">
                <a:solidFill>
                  <a:schemeClr val="bg1"/>
                </a:solidFill>
              </a:rPr>
              <a:t>List of all positive integers from 1 to the value stored variable last.</a:t>
            </a:r>
          </a:p>
          <a:p>
            <a:pPr lvl="1"/>
            <a:r>
              <a:rPr lang="en-US" sz="2200" dirty="0">
                <a:solidFill>
                  <a:schemeClr val="bg1"/>
                </a:solidFill>
              </a:rPr>
              <a:t>List of all positive integers from values in first and last. </a:t>
            </a:r>
          </a:p>
          <a:p>
            <a:pPr lvl="1"/>
            <a:r>
              <a:rPr lang="en-US" sz="2200" dirty="0">
                <a:solidFill>
                  <a:schemeClr val="bg1"/>
                </a:solidFill>
              </a:rPr>
              <a:t>List of all odd numbers from 1 to a value stored in last.</a:t>
            </a:r>
          </a:p>
        </p:txBody>
      </p:sp>
    </p:spTree>
    <p:extLst>
      <p:ext uri="{BB962C8B-B14F-4D97-AF65-F5344CB8AC3E}">
        <p14:creationId xmlns:p14="http://schemas.microsoft.com/office/powerpoint/2010/main" val="1644844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488731"/>
            <a:ext cx="8534400" cy="1312041"/>
          </a:xfrm>
        </p:spPr>
        <p:txBody>
          <a:bodyPr/>
          <a:lstStyle/>
          <a:p>
            <a:r>
              <a:rPr lang="en-US" dirty="0"/>
              <a:t>Range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1692487"/>
            <a:ext cx="11050588" cy="46240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</a:rPr>
              <a:t>range(</a:t>
            </a:r>
            <a:r>
              <a:rPr lang="en-US" sz="2400" b="1" dirty="0" err="1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</a:rPr>
              <a:t>starting_value</a:t>
            </a:r>
            <a:r>
              <a:rPr lang="en-US" sz="2400" b="1" dirty="0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</a:rPr>
              <a:t>, </a:t>
            </a:r>
            <a:r>
              <a:rPr lang="en-US" sz="2400" b="1" dirty="0" err="1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</a:rPr>
              <a:t>ending_value</a:t>
            </a:r>
            <a:r>
              <a:rPr lang="en-US" sz="2400" b="1" dirty="0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</a:rPr>
              <a:t>, </a:t>
            </a:r>
            <a:r>
              <a:rPr lang="en-US" sz="2400" b="1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[step] </a:t>
            </a:r>
            <a:r>
              <a:rPr lang="en-US" sz="2400" b="1" dirty="0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</a:rPr>
              <a:t>)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  <a:latin typeface="Courier New" charset="0"/>
                <a:ea typeface="Courier New" charset="0"/>
                <a:cs typeface="Courier New" charset="0"/>
              </a:rPr>
              <a:t>	= generates a range of values from </a:t>
            </a:r>
            <a:r>
              <a:rPr lang="en-US" sz="2400" b="1" dirty="0" err="1">
                <a:solidFill>
                  <a:srgbClr val="002060"/>
                </a:solidFill>
                <a:latin typeface="Courier New" charset="0"/>
                <a:ea typeface="Courier New" charset="0"/>
                <a:cs typeface="Courier New" charset="0"/>
              </a:rPr>
              <a:t>starting_value</a:t>
            </a:r>
            <a:r>
              <a:rPr lang="en-US" sz="2400" b="1" dirty="0">
                <a:solidFill>
                  <a:srgbClr val="002060"/>
                </a:solidFill>
                <a:latin typeface="Courier New" charset="0"/>
                <a:ea typeface="Courier New" charset="0"/>
                <a:cs typeface="Courier New" charset="0"/>
              </a:rPr>
              <a:t> to (just less than) </a:t>
            </a:r>
            <a:r>
              <a:rPr lang="en-US" sz="2400" b="1" dirty="0" err="1">
                <a:solidFill>
                  <a:srgbClr val="002060"/>
                </a:solidFill>
                <a:latin typeface="Courier New" charset="0"/>
                <a:ea typeface="Courier New" charset="0"/>
                <a:cs typeface="Courier New" charset="0"/>
              </a:rPr>
              <a:t>ending_value</a:t>
            </a:r>
            <a:r>
              <a:rPr lang="en-US" sz="2400" b="1" dirty="0">
                <a:solidFill>
                  <a:srgbClr val="002060"/>
                </a:solidFill>
                <a:latin typeface="Courier New" charset="0"/>
                <a:ea typeface="Courier New" charset="0"/>
                <a:cs typeface="Courier New" charset="0"/>
              </a:rPr>
              <a:t> with an increment = step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Examples: </a:t>
            </a:r>
            <a:endParaRPr lang="en-US" sz="2400" b="1" dirty="0">
              <a:solidFill>
                <a:schemeClr val="bg1"/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pPr lvl="1"/>
            <a:r>
              <a:rPr lang="en-US" sz="2400" b="1" dirty="0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</a:rPr>
              <a:t>list(range(1,5))       </a:t>
            </a:r>
            <a:r>
              <a:rPr lang="en-US" sz="2400" b="1" dirty="0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  <a:sym typeface="Wingdings"/>
              </a:rPr>
              <a:t> [1,2,3,4]</a:t>
            </a:r>
          </a:p>
          <a:p>
            <a:pPr lvl="1"/>
            <a:r>
              <a:rPr lang="en-US" sz="2400" b="1" dirty="0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  <a:sym typeface="Wingdings"/>
              </a:rPr>
              <a:t>list(range(1,5,2))      [1,3]</a:t>
            </a:r>
          </a:p>
          <a:p>
            <a:pPr lvl="1"/>
            <a:r>
              <a:rPr lang="en-US" sz="2400" b="1" dirty="0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  <a:sym typeface="Wingdings"/>
              </a:rPr>
              <a:t>list(range(0,-5,-1)    -&gt; [0, -1, -2, -3, -4]</a:t>
            </a:r>
          </a:p>
          <a:p>
            <a:pPr lvl="1"/>
            <a:r>
              <a:rPr lang="en-US" sz="2400" b="1" dirty="0">
                <a:solidFill>
                  <a:srgbClr val="002060"/>
                </a:solidFill>
                <a:latin typeface="Courier New" charset="0"/>
                <a:ea typeface="Courier New" charset="0"/>
                <a:cs typeface="Courier New" charset="0"/>
                <a:sym typeface="Wingdings"/>
              </a:rPr>
              <a:t>list</a:t>
            </a:r>
            <a:r>
              <a:rPr lang="en-US" sz="2400" b="1" dirty="0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  <a:sym typeface="Wingdings"/>
              </a:rPr>
              <a:t>(range(0, -5)) ?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5" name="Rounded Rectangular Callout 4"/>
          <p:cNvSpPr/>
          <p:nvPr/>
        </p:nvSpPr>
        <p:spPr>
          <a:xfrm>
            <a:off x="8275853" y="7468"/>
            <a:ext cx="3370716" cy="1203756"/>
          </a:xfrm>
          <a:prstGeom prst="wedgeRoundRectCallout">
            <a:avLst>
              <a:gd name="adj1" fmla="val -61027"/>
              <a:gd name="adj2" fmla="val 115848"/>
              <a:gd name="adj3" fmla="val 16667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bg1"/>
                </a:solidFill>
              </a:rPr>
              <a:t>Optional</a:t>
            </a:r>
          </a:p>
          <a:p>
            <a:pPr algn="ctr"/>
            <a:r>
              <a:rPr lang="en-US" sz="2200" dirty="0">
                <a:solidFill>
                  <a:schemeClr val="bg1"/>
                </a:solidFill>
              </a:rPr>
              <a:t>Default value = 1</a:t>
            </a:r>
          </a:p>
        </p:txBody>
      </p:sp>
      <p:sp>
        <p:nvSpPr>
          <p:cNvPr id="4" name="Rounded Rectangular Callout 3"/>
          <p:cNvSpPr/>
          <p:nvPr/>
        </p:nvSpPr>
        <p:spPr>
          <a:xfrm>
            <a:off x="58569" y="6100011"/>
            <a:ext cx="3923883" cy="553452"/>
          </a:xfrm>
          <a:prstGeom prst="wedgeRoundRectCallout">
            <a:avLst>
              <a:gd name="adj1" fmla="val -4762"/>
              <a:gd name="adj2" fmla="val -8748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list() = generates a list type [ </a:t>
            </a:r>
            <a:r>
              <a:rPr lang="mr-IN" dirty="0"/>
              <a:t>…</a:t>
            </a:r>
            <a:r>
              <a:rPr lang="en-US" dirty="0"/>
              <a:t>] </a:t>
            </a:r>
          </a:p>
        </p:txBody>
      </p:sp>
    </p:spTree>
    <p:extLst>
      <p:ext uri="{BB962C8B-B14F-4D97-AF65-F5344CB8AC3E}">
        <p14:creationId xmlns:p14="http://schemas.microsoft.com/office/powerpoint/2010/main" val="3302504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488731"/>
            <a:ext cx="8534400" cy="1312041"/>
          </a:xfrm>
        </p:spPr>
        <p:txBody>
          <a:bodyPr/>
          <a:lstStyle/>
          <a:p>
            <a:r>
              <a:rPr lang="en-US" dirty="0"/>
              <a:t>Range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1692487"/>
            <a:ext cx="11050588" cy="46240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</a:rPr>
              <a:t>range(</a:t>
            </a:r>
            <a:r>
              <a:rPr lang="en-US" sz="2400" b="1" dirty="0" err="1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</a:rPr>
              <a:t>starting_value</a:t>
            </a:r>
            <a:r>
              <a:rPr lang="en-US" sz="2400" b="1" dirty="0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</a:rPr>
              <a:t>, </a:t>
            </a:r>
            <a:r>
              <a:rPr lang="en-US" sz="2400" b="1" dirty="0" err="1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</a:rPr>
              <a:t>ending_value</a:t>
            </a:r>
            <a:r>
              <a:rPr lang="en-US" sz="2400" b="1" dirty="0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</a:rPr>
              <a:t>, </a:t>
            </a:r>
            <a:r>
              <a:rPr lang="en-US" sz="2400" b="1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[step] </a:t>
            </a:r>
            <a:r>
              <a:rPr lang="en-US" sz="2400" b="1" dirty="0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</a:rPr>
              <a:t>)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</a:rPr>
              <a:t>	</a:t>
            </a:r>
            <a:r>
              <a:rPr lang="en-US" sz="2400" dirty="0">
                <a:solidFill>
                  <a:schemeClr val="bg1"/>
                </a:solidFill>
              </a:rPr>
              <a:t>Examples: </a:t>
            </a:r>
          </a:p>
          <a:p>
            <a:pPr lvl="1"/>
            <a:r>
              <a:rPr lang="en-US" sz="2200" dirty="0">
                <a:solidFill>
                  <a:schemeClr val="bg1"/>
                </a:solidFill>
              </a:rPr>
              <a:t>List of all positive integers from 1 to the value stored variable last.</a:t>
            </a:r>
          </a:p>
          <a:p>
            <a:pPr marL="457200" lvl="1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		</a:t>
            </a:r>
            <a:r>
              <a:rPr lang="en-US" sz="2000" b="1" dirty="0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</a:rPr>
              <a:t>range(    ,     )</a:t>
            </a:r>
            <a:endParaRPr lang="en-US" sz="2200" dirty="0">
              <a:solidFill>
                <a:schemeClr val="bg1"/>
              </a:solidFill>
            </a:endParaRPr>
          </a:p>
          <a:p>
            <a:pPr lvl="1"/>
            <a:r>
              <a:rPr lang="en-US" sz="2200" dirty="0">
                <a:solidFill>
                  <a:schemeClr val="bg1"/>
                </a:solidFill>
              </a:rPr>
              <a:t>List of all positive integers from values in first and last. </a:t>
            </a:r>
          </a:p>
          <a:p>
            <a:pPr marL="457200" lvl="1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		</a:t>
            </a:r>
            <a:r>
              <a:rPr lang="en-US" sz="2000" b="1" dirty="0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</a:rPr>
              <a:t>range(     ,    )</a:t>
            </a:r>
            <a:endParaRPr lang="en-US" sz="2200" dirty="0">
              <a:solidFill>
                <a:schemeClr val="bg1"/>
              </a:solidFill>
            </a:endParaRPr>
          </a:p>
          <a:p>
            <a:pPr lvl="1"/>
            <a:r>
              <a:rPr lang="en-US" sz="2200" dirty="0">
                <a:solidFill>
                  <a:schemeClr val="bg1"/>
                </a:solidFill>
              </a:rPr>
              <a:t>List of all odd numbers from 1 to a value stored in last.</a:t>
            </a:r>
          </a:p>
          <a:p>
            <a:pPr marL="457200" lvl="1" indent="0">
              <a:buNone/>
            </a:pPr>
            <a:r>
              <a:rPr lang="en-US" sz="2000" b="1" dirty="0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</a:rPr>
              <a:t>		range(     ,    )</a:t>
            </a:r>
            <a:endParaRPr lang="en-US" sz="22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bg1"/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5449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708" y="264248"/>
            <a:ext cx="9819356" cy="1492363"/>
          </a:xfrm>
        </p:spPr>
        <p:txBody>
          <a:bodyPr/>
          <a:lstStyle/>
          <a:p>
            <a:r>
              <a:rPr lang="en-US" dirty="0"/>
              <a:t>Augmented </a:t>
            </a:r>
            <a:r>
              <a:rPr lang="en-US"/>
              <a:t>assignment operators</a:t>
            </a:r>
          </a:p>
        </p:txBody>
      </p:sp>
      <p:pic>
        <p:nvPicPr>
          <p:cNvPr id="4" name="Content Placeholder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5454" y="2378912"/>
            <a:ext cx="10889250" cy="2686383"/>
          </a:xfrm>
        </p:spPr>
      </p:pic>
    </p:spTree>
    <p:extLst>
      <p:ext uri="{BB962C8B-B14F-4D97-AF65-F5344CB8AC3E}">
        <p14:creationId xmlns:p14="http://schemas.microsoft.com/office/powerpoint/2010/main" val="18701119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488731"/>
            <a:ext cx="8534400" cy="1312041"/>
          </a:xfrm>
        </p:spPr>
        <p:txBody>
          <a:bodyPr/>
          <a:lstStyle/>
          <a:p>
            <a:r>
              <a:rPr lang="en-US" dirty="0"/>
              <a:t>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1897025"/>
            <a:ext cx="10619664" cy="1953081"/>
          </a:xfrm>
        </p:spPr>
        <p:txBody>
          <a:bodyPr anchor="t" anchorCtr="0">
            <a:normAutofit/>
          </a:bodyPr>
          <a:lstStyle/>
          <a:p>
            <a:endParaRPr lang="en-US" dirty="0"/>
          </a:p>
          <a:p>
            <a:r>
              <a:rPr lang="en-US" sz="2200" dirty="0">
                <a:solidFill>
                  <a:schemeClr val="bg1"/>
                </a:solidFill>
              </a:rPr>
              <a:t>Use while loop when you don’t know how many times the loop will repeat.</a:t>
            </a:r>
          </a:p>
          <a:p>
            <a:r>
              <a:rPr lang="en-US" sz="2200" dirty="0">
                <a:solidFill>
                  <a:schemeClr val="bg1"/>
                </a:solidFill>
              </a:rPr>
              <a:t>If you know the number of times a loop will repeat, use for loop. </a:t>
            </a:r>
          </a:p>
        </p:txBody>
      </p:sp>
    </p:spTree>
    <p:extLst>
      <p:ext uri="{BB962C8B-B14F-4D97-AF65-F5344CB8AC3E}">
        <p14:creationId xmlns:p14="http://schemas.microsoft.com/office/powerpoint/2010/main" val="8261698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488731"/>
            <a:ext cx="8534400" cy="1312041"/>
          </a:xfrm>
        </p:spPr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1800772"/>
            <a:ext cx="10761554" cy="579821"/>
          </a:xfrm>
        </p:spPr>
        <p:txBody>
          <a:bodyPr anchor="t" anchorCtr="0"/>
          <a:lstStyle/>
          <a:p>
            <a:r>
              <a:rPr lang="en-US" dirty="0"/>
              <a:t>Write a for loop that adds all odd numbers from 1 to 51.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1338" y="2815471"/>
            <a:ext cx="3355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// Enter your code here</a:t>
            </a:r>
            <a:endParaRPr lang="en-US" dirty="0">
              <a:solidFill>
                <a:srgbClr val="FFFF00"/>
              </a:solidFill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10456" y="2740033"/>
            <a:ext cx="568154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 v += expr  is equivalent with </a:t>
            </a:r>
          </a:p>
          <a:p>
            <a:r>
              <a:rPr lang="en-US" sz="2000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 v = v + expr </a:t>
            </a:r>
          </a:p>
          <a:p>
            <a:endParaRPr lang="en-US" sz="2000" dirty="0">
              <a:solidFill>
                <a:srgbClr val="FF0000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en-US" sz="2000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Write the loop without an if inside</a:t>
            </a:r>
          </a:p>
        </p:txBody>
      </p:sp>
    </p:spTree>
    <p:extLst>
      <p:ext uri="{BB962C8B-B14F-4D97-AF65-F5344CB8AC3E}">
        <p14:creationId xmlns:p14="http://schemas.microsoft.com/office/powerpoint/2010/main" val="17696444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488731"/>
            <a:ext cx="8534400" cy="1312041"/>
          </a:xfrm>
        </p:spPr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1800772"/>
            <a:ext cx="10761554" cy="1014699"/>
          </a:xfrm>
        </p:spPr>
        <p:txBody>
          <a:bodyPr anchor="t" anchorCtr="0">
            <a:normAutofit/>
          </a:bodyPr>
          <a:lstStyle/>
          <a:p>
            <a:r>
              <a:rPr lang="en-US" dirty="0"/>
              <a:t>Write a for loop that adds odd numbers and subtracts even ones (1 - 2+ 3- 4 +5 - ...), up to 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1338" y="2815471"/>
            <a:ext cx="3355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// Enter your code here</a:t>
            </a:r>
            <a:endParaRPr lang="en-US" dirty="0">
              <a:solidFill>
                <a:srgbClr val="FFFF00"/>
              </a:solidFill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11333" y="2784693"/>
            <a:ext cx="59015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sz="200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Try not to use </a:t>
            </a:r>
            <a:r>
              <a:rPr lang="en-US" sz="2000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an if inside the loop</a:t>
            </a:r>
          </a:p>
        </p:txBody>
      </p:sp>
    </p:spTree>
    <p:extLst>
      <p:ext uri="{BB962C8B-B14F-4D97-AF65-F5344CB8AC3E}">
        <p14:creationId xmlns:p14="http://schemas.microsoft.com/office/powerpoint/2010/main" val="3671608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264955"/>
            <a:ext cx="8534400" cy="1507067"/>
          </a:xfrm>
        </p:spPr>
        <p:txBody>
          <a:bodyPr/>
          <a:lstStyle/>
          <a:p>
            <a:r>
              <a:rPr lang="en-US" dirty="0"/>
              <a:t>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9201" y="1555612"/>
            <a:ext cx="11507788" cy="5123967"/>
          </a:xfrm>
        </p:spPr>
        <p:txBody>
          <a:bodyPr anchor="t" anchorCtr="0">
            <a:noAutofit/>
          </a:bodyPr>
          <a:lstStyle/>
          <a:p>
            <a:r>
              <a:rPr lang="en-US" sz="2400" dirty="0"/>
              <a:t>Know when to use while or for loops</a:t>
            </a:r>
          </a:p>
          <a:p>
            <a:pPr lvl="5"/>
            <a:endParaRPr lang="en-US" sz="1800" dirty="0">
              <a:solidFill>
                <a:srgbClr val="FFFF00"/>
              </a:solidFill>
            </a:endParaRPr>
          </a:p>
          <a:p>
            <a:r>
              <a:rPr lang="en-US" sz="2400" dirty="0">
                <a:solidFill>
                  <a:srgbClr val="FFFF00"/>
                </a:solidFill>
              </a:rPr>
              <a:t>continue</a:t>
            </a:r>
            <a:r>
              <a:rPr lang="en-US" sz="2400" dirty="0"/>
              <a:t> inside of a loop </a:t>
            </a:r>
            <a:r>
              <a:rPr lang="en-US" sz="2400" dirty="0">
                <a:sym typeface="Wingdings"/>
              </a:rPr>
              <a:t></a:t>
            </a:r>
            <a:r>
              <a:rPr lang="en-US" sz="2400" dirty="0"/>
              <a:t> jump to the beginning of the loop (condition)</a:t>
            </a:r>
          </a:p>
          <a:p>
            <a:pPr lvl="6"/>
            <a:endParaRPr lang="en-US" sz="1800" dirty="0">
              <a:solidFill>
                <a:srgbClr val="FFFF00"/>
              </a:solidFill>
            </a:endParaRPr>
          </a:p>
          <a:p>
            <a:r>
              <a:rPr lang="en-US" sz="2400" dirty="0">
                <a:solidFill>
                  <a:srgbClr val="FFFF00"/>
                </a:solidFill>
              </a:rPr>
              <a:t>break</a:t>
            </a:r>
            <a:r>
              <a:rPr lang="en-US" sz="2400" dirty="0"/>
              <a:t> inside of a loop       </a:t>
            </a:r>
            <a:r>
              <a:rPr lang="en-US" sz="2400" dirty="0">
                <a:sym typeface="Wingdings"/>
              </a:rPr>
              <a:t> jumps to the first line after the loop </a:t>
            </a:r>
          </a:p>
          <a:p>
            <a:pPr lvl="1"/>
            <a:r>
              <a:rPr lang="en-US" sz="2200" dirty="0">
                <a:sym typeface="Wingdings"/>
              </a:rPr>
              <a:t>Use </a:t>
            </a:r>
            <a:r>
              <a:rPr lang="en-US" sz="2200" dirty="0">
                <a:solidFill>
                  <a:srgbClr val="FFFF00"/>
                </a:solidFill>
              </a:rPr>
              <a:t>break</a:t>
            </a:r>
            <a:r>
              <a:rPr lang="en-US" sz="2200" dirty="0"/>
              <a:t>  and </a:t>
            </a:r>
            <a:r>
              <a:rPr lang="en-US" sz="2200" dirty="0">
                <a:solidFill>
                  <a:srgbClr val="FFFF00"/>
                </a:solidFill>
              </a:rPr>
              <a:t>continue</a:t>
            </a:r>
            <a:r>
              <a:rPr lang="en-US" sz="2200" dirty="0"/>
              <a:t> </a:t>
            </a:r>
            <a:r>
              <a:rPr lang="en-US" sz="2200" dirty="0">
                <a:sym typeface="Wingdings"/>
              </a:rPr>
              <a:t>only if it improves the readability of your code</a:t>
            </a:r>
          </a:p>
          <a:p>
            <a:pPr lvl="7"/>
            <a:endParaRPr lang="en-US" sz="1800" dirty="0"/>
          </a:p>
          <a:p>
            <a:r>
              <a:rPr lang="en-US" sz="2400" dirty="0"/>
              <a:t>Avoid nesting of loops when possible</a:t>
            </a:r>
          </a:p>
          <a:p>
            <a:pPr lvl="5"/>
            <a:endParaRPr lang="en-US" sz="1800" dirty="0"/>
          </a:p>
          <a:p>
            <a:r>
              <a:rPr lang="en-US" sz="2400" dirty="0"/>
              <a:t>Use clear, positive (if possible) </a:t>
            </a:r>
            <a:r>
              <a:rPr lang="en-US" sz="2400" dirty="0" err="1"/>
              <a:t>boolean</a:t>
            </a:r>
            <a:r>
              <a:rPr lang="en-US" sz="2400" dirty="0"/>
              <a:t> conditions (no more than 2 connected with logical operator and or not)</a:t>
            </a:r>
          </a:p>
        </p:txBody>
      </p:sp>
    </p:spTree>
    <p:extLst>
      <p:ext uri="{BB962C8B-B14F-4D97-AF65-F5344CB8AC3E}">
        <p14:creationId xmlns:p14="http://schemas.microsoft.com/office/powerpoint/2010/main" val="540893691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39090</TotalTime>
  <Words>1539</Words>
  <Application>Microsoft Macintosh PowerPoint</Application>
  <PresentationFormat>Widescreen</PresentationFormat>
  <Paragraphs>244</Paragraphs>
  <Slides>29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Aptos</vt:lpstr>
      <vt:lpstr>Century Gothic</vt:lpstr>
      <vt:lpstr>Courier</vt:lpstr>
      <vt:lpstr>Courier New</vt:lpstr>
      <vt:lpstr>Wingdings</vt:lpstr>
      <vt:lpstr>Wingdings 3</vt:lpstr>
      <vt:lpstr>Slice</vt:lpstr>
      <vt:lpstr>Loops</vt:lpstr>
      <vt:lpstr>While loop</vt:lpstr>
      <vt:lpstr>Example While loop</vt:lpstr>
      <vt:lpstr>Continue AND Break</vt:lpstr>
      <vt:lpstr>Break Example</vt:lpstr>
      <vt:lpstr>ConTINUE Example</vt:lpstr>
      <vt:lpstr>Examples</vt:lpstr>
      <vt:lpstr>Examples</vt:lpstr>
      <vt:lpstr>Examples</vt:lpstr>
      <vt:lpstr>Examples</vt:lpstr>
      <vt:lpstr>Examples</vt:lpstr>
      <vt:lpstr>Examples</vt:lpstr>
      <vt:lpstr>Examples</vt:lpstr>
      <vt:lpstr>For loop</vt:lpstr>
      <vt:lpstr>For loop</vt:lpstr>
      <vt:lpstr>For loop – 1st iteration (repetition)</vt:lpstr>
      <vt:lpstr>For loop – 2nd iteration (repetition)</vt:lpstr>
      <vt:lpstr>For loop – 3rd iteration (repetition)</vt:lpstr>
      <vt:lpstr>For loop – 4th iteration (repetition)</vt:lpstr>
      <vt:lpstr>For loop – 4th iteration (repetition)</vt:lpstr>
      <vt:lpstr>For loop – end iteration </vt:lpstr>
      <vt:lpstr>Range function</vt:lpstr>
      <vt:lpstr>Range function</vt:lpstr>
      <vt:lpstr>Range function</vt:lpstr>
      <vt:lpstr>Augmented assignment operators</vt:lpstr>
      <vt:lpstr>Observations</vt:lpstr>
      <vt:lpstr>Examples</vt:lpstr>
      <vt:lpstr>Examples</vt:lpstr>
      <vt:lpstr>review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Instructions</dc:title>
  <dc:creator>Simona Doboli</dc:creator>
  <cp:lastModifiedBy>Simona Doboli</cp:lastModifiedBy>
  <cp:revision>59</cp:revision>
  <dcterms:created xsi:type="dcterms:W3CDTF">2017-01-17T20:23:48Z</dcterms:created>
  <dcterms:modified xsi:type="dcterms:W3CDTF">2025-09-11T18:48:17Z</dcterms:modified>
</cp:coreProperties>
</file>