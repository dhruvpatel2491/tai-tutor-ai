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305" r:id="rId2"/>
    <p:sldId id="306" r:id="rId3"/>
    <p:sldId id="283" r:id="rId4"/>
    <p:sldId id="307" r:id="rId5"/>
    <p:sldId id="308" r:id="rId6"/>
    <p:sldId id="273" r:id="rId7"/>
    <p:sldId id="286" r:id="rId8"/>
    <p:sldId id="287" r:id="rId9"/>
    <p:sldId id="288" r:id="rId10"/>
    <p:sldId id="289" r:id="rId11"/>
    <p:sldId id="290" r:id="rId12"/>
    <p:sldId id="293" r:id="rId13"/>
    <p:sldId id="272" r:id="rId14"/>
    <p:sldId id="294" r:id="rId15"/>
    <p:sldId id="292" r:id="rId16"/>
    <p:sldId id="274" r:id="rId17"/>
    <p:sldId id="279" r:id="rId18"/>
    <p:sldId id="309" r:id="rId19"/>
    <p:sldId id="310" r:id="rId20"/>
    <p:sldId id="295" r:id="rId21"/>
    <p:sldId id="280" r:id="rId22"/>
    <p:sldId id="31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28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71D5D-D077-914C-8F1D-23D3A070AA1A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F5398-8748-8440-B1AA-F195E3340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79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037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87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7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0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20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5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8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0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4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5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8463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670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8457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57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61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7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9468887-D334-5646-9B23-0DD319AE0DA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41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B1F616-8E3F-5AC4-1134-34123A53F9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Week 4 - For Loops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A0AC9EB-3A2E-64D6-56DD-3F206F987A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564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1BC8-FCF6-C3E1-E5CD-88C8268D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6590"/>
            <a:ext cx="8534400" cy="1507067"/>
          </a:xfrm>
        </p:spPr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5E5EF-3DF4-D30F-A82A-F5C4F097B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336470"/>
            <a:ext cx="8534400" cy="3615267"/>
          </a:xfrm>
        </p:spPr>
        <p:txBody>
          <a:bodyPr>
            <a:normAutofit/>
          </a:bodyPr>
          <a:lstStyle/>
          <a:p>
            <a:r>
              <a:rPr lang="en-US" sz="2400" b="1" dirty="0"/>
              <a:t>What are for loops?</a:t>
            </a:r>
          </a:p>
          <a:p>
            <a:r>
              <a:rPr lang="en-US" sz="2400" b="1" dirty="0"/>
              <a:t>What is the relationship between for and while loops?</a:t>
            </a:r>
          </a:p>
          <a:p>
            <a:r>
              <a:rPr lang="en-US" sz="2400" b="1" dirty="0"/>
              <a:t>For loops with lists (and strings – works the same)</a:t>
            </a:r>
          </a:p>
          <a:p>
            <a:r>
              <a:rPr lang="en-US" sz="2400" b="1" dirty="0"/>
              <a:t>What is the range function</a:t>
            </a:r>
          </a:p>
          <a:p>
            <a:r>
              <a:rPr lang="en-US" sz="2400" b="1" dirty="0"/>
              <a:t>For loops with range</a:t>
            </a:r>
          </a:p>
          <a:p>
            <a:r>
              <a:rPr lang="en-US" sz="2400" b="1" dirty="0"/>
              <a:t>When should we use for loops or while loops</a:t>
            </a:r>
          </a:p>
        </p:txBody>
      </p:sp>
    </p:spTree>
    <p:extLst>
      <p:ext uri="{BB962C8B-B14F-4D97-AF65-F5344CB8AC3E}">
        <p14:creationId xmlns:p14="http://schemas.microsoft.com/office/powerpoint/2010/main" val="101728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384" y="109571"/>
            <a:ext cx="8534400" cy="1507067"/>
          </a:xfrm>
        </p:spPr>
        <p:txBody>
          <a:bodyPr/>
          <a:lstStyle/>
          <a:p>
            <a:r>
              <a:rPr lang="en-US" b="1" dirty="0"/>
              <a:t>For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813" y="1490008"/>
            <a:ext cx="516199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for </a:t>
            </a:r>
            <a:r>
              <a:rPr lang="en-US" sz="2400" b="1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var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in [val1, val2, </a:t>
            </a:r>
            <a:r>
              <a:rPr lang="mr-IN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]: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1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2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Instruction after loop</a:t>
            </a:r>
          </a:p>
        </p:txBody>
      </p:sp>
      <p:sp>
        <p:nvSpPr>
          <p:cNvPr id="8" name="Diamond 7"/>
          <p:cNvSpPr/>
          <p:nvPr/>
        </p:nvSpPr>
        <p:spPr>
          <a:xfrm>
            <a:off x="7257820" y="3791941"/>
            <a:ext cx="2932385" cy="1283083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00945" y="4138837"/>
            <a:ext cx="2113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if var in [ val1, val2, </a:t>
            </a:r>
            <a:r>
              <a:rPr lang="mr-IN" b="1" dirty="0">
                <a:solidFill>
                  <a:schemeClr val="bg1"/>
                </a:solidFill>
              </a:rPr>
              <a:t>…</a:t>
            </a:r>
            <a:r>
              <a:rPr lang="en-US" b="1" dirty="0">
                <a:solidFill>
                  <a:schemeClr val="bg1"/>
                </a:solidFill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8162" y="5786855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Instruction after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25181" y="2952484"/>
            <a:ext cx="2222938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1</a:t>
            </a:r>
          </a:p>
          <a:p>
            <a:r>
              <a:rPr lang="en-US" b="1" dirty="0">
                <a:solidFill>
                  <a:schemeClr val="bg1"/>
                </a:solidFill>
              </a:rPr>
              <a:t>Instruction 2</a:t>
            </a:r>
          </a:p>
          <a:p>
            <a:r>
              <a:rPr lang="is-IS" b="1" dirty="0">
                <a:solidFill>
                  <a:schemeClr val="bg1"/>
                </a:solidFill>
              </a:rPr>
              <a:t>….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3" name="Elbow Connector 12"/>
          <p:cNvCxnSpPr>
            <a:cxnSpLocks/>
            <a:stCxn id="16" idx="1"/>
          </p:cNvCxnSpPr>
          <p:nvPr/>
        </p:nvCxnSpPr>
        <p:spPr>
          <a:xfrm rot="16200000" flipH="1" flipV="1">
            <a:off x="7618576" y="1257441"/>
            <a:ext cx="163316" cy="1708817"/>
          </a:xfrm>
          <a:prstGeom prst="bentConnector4">
            <a:avLst>
              <a:gd name="adj1" fmla="val 19997"/>
              <a:gd name="adj2" fmla="val 99471"/>
            </a:avLst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83105" y="5048124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0080" y="4415836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8502694" y="1984016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8724013" y="5075024"/>
            <a:ext cx="0" cy="70657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cxnSpLocks/>
            <a:stCxn id="8" idx="1"/>
            <a:endCxn id="11" idx="2"/>
          </p:cNvCxnSpPr>
          <p:nvPr/>
        </p:nvCxnSpPr>
        <p:spPr>
          <a:xfrm rot="10800000">
            <a:off x="6836650" y="3875815"/>
            <a:ext cx="421170" cy="557669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68162" y="357792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for loop</a:t>
            </a:r>
          </a:p>
        </p:txBody>
      </p:sp>
      <p:cxnSp>
        <p:nvCxnSpPr>
          <p:cNvPr id="31" name="Straight Arrow Connector 30"/>
          <p:cNvCxnSpPr>
            <a:cxnSpLocks/>
            <a:stCxn id="30" idx="2"/>
            <a:endCxn id="36" idx="0"/>
          </p:cNvCxnSpPr>
          <p:nvPr/>
        </p:nvCxnSpPr>
        <p:spPr>
          <a:xfrm flipH="1">
            <a:off x="8680056" y="727124"/>
            <a:ext cx="14913" cy="34689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B6E2B7C-C377-B830-D6A9-578B08BB24B9}"/>
              </a:ext>
            </a:extLst>
          </p:cNvPr>
          <p:cNvSpPr txBox="1"/>
          <p:nvPr/>
        </p:nvSpPr>
        <p:spPr>
          <a:xfrm>
            <a:off x="5579051" y="2215176"/>
            <a:ext cx="249773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var = next value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62D2EBD-575A-6336-11D1-AF9A1A824059}"/>
              </a:ext>
            </a:extLst>
          </p:cNvPr>
          <p:cNvCxnSpPr>
            <a:cxnSpLocks/>
            <a:stCxn id="11" idx="0"/>
            <a:endCxn id="3" idx="2"/>
          </p:cNvCxnSpPr>
          <p:nvPr/>
        </p:nvCxnSpPr>
        <p:spPr>
          <a:xfrm flipH="1" flipV="1">
            <a:off x="6827919" y="2584508"/>
            <a:ext cx="8731" cy="36797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085E0D5-9950-E752-6C34-1A6C62A44A6C}"/>
              </a:ext>
            </a:extLst>
          </p:cNvPr>
          <p:cNvCxnSpPr>
            <a:cxnSpLocks/>
            <a:stCxn id="16" idx="4"/>
            <a:endCxn id="8" idx="0"/>
          </p:cNvCxnSpPr>
          <p:nvPr/>
        </p:nvCxnSpPr>
        <p:spPr>
          <a:xfrm>
            <a:off x="8680056" y="2299327"/>
            <a:ext cx="43957" cy="1492614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6ABCC7F-44E1-0582-BE1C-FBE469719FCD}"/>
              </a:ext>
            </a:extLst>
          </p:cNvPr>
          <p:cNvSpPr txBox="1"/>
          <p:nvPr/>
        </p:nvSpPr>
        <p:spPr>
          <a:xfrm>
            <a:off x="7856616" y="1074020"/>
            <a:ext cx="164687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var = val1 (1)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176EC99-2430-342E-DF4E-9D2EECC647D7}"/>
              </a:ext>
            </a:extLst>
          </p:cNvPr>
          <p:cNvCxnSpPr>
            <a:cxnSpLocks/>
            <a:stCxn id="36" idx="2"/>
            <a:endCxn id="16" idx="0"/>
          </p:cNvCxnSpPr>
          <p:nvPr/>
        </p:nvCxnSpPr>
        <p:spPr>
          <a:xfrm>
            <a:off x="8680056" y="1443352"/>
            <a:ext cx="0" cy="540664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18EBF0-1BEE-B6C0-5A55-1E6E1635D489}"/>
              </a:ext>
            </a:extLst>
          </p:cNvPr>
          <p:cNvSpPr txBox="1"/>
          <p:nvPr/>
        </p:nvSpPr>
        <p:spPr>
          <a:xfrm>
            <a:off x="401384" y="3791024"/>
            <a:ext cx="4351193" cy="2677656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lst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= [1,2,3]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for var in print(var)</a:t>
            </a:r>
          </a:p>
          <a:p>
            <a:r>
              <a:rPr lang="en-US" sz="2400" b="1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lst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-------------------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4991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779" y="-70858"/>
            <a:ext cx="11132329" cy="862614"/>
          </a:xfrm>
        </p:spPr>
        <p:txBody>
          <a:bodyPr>
            <a:normAutofit/>
          </a:bodyPr>
          <a:lstStyle/>
          <a:p>
            <a:r>
              <a:rPr lang="en-US" b="1" dirty="0"/>
              <a:t>	        While 			vs			For </a:t>
            </a:r>
          </a:p>
        </p:txBody>
      </p:sp>
      <p:sp>
        <p:nvSpPr>
          <p:cNvPr id="8" name="Diamond 7"/>
          <p:cNvSpPr/>
          <p:nvPr/>
        </p:nvSpPr>
        <p:spPr>
          <a:xfrm>
            <a:off x="7536343" y="3895466"/>
            <a:ext cx="2932385" cy="1283083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79468" y="4242362"/>
            <a:ext cx="2113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if var in [ val1, val2, </a:t>
            </a:r>
            <a:r>
              <a:rPr lang="mr-IN" b="1" dirty="0">
                <a:solidFill>
                  <a:srgbClr val="FF0000"/>
                </a:solidFill>
              </a:rPr>
              <a:t>…</a:t>
            </a:r>
            <a:r>
              <a:rPr lang="en-US" b="1" dirty="0">
                <a:solidFill>
                  <a:srgbClr val="FF0000"/>
                </a:solidFill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46685" y="5890380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Instruction after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03704" y="3056009"/>
            <a:ext cx="2222938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1</a:t>
            </a:r>
          </a:p>
          <a:p>
            <a:r>
              <a:rPr lang="en-US" b="1" dirty="0">
                <a:solidFill>
                  <a:schemeClr val="bg1"/>
                </a:solidFill>
              </a:rPr>
              <a:t>Instruction 2</a:t>
            </a:r>
          </a:p>
          <a:p>
            <a:r>
              <a:rPr lang="is-IS" b="1" dirty="0">
                <a:solidFill>
                  <a:schemeClr val="bg1"/>
                </a:solidFill>
              </a:rPr>
              <a:t>….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3" name="Elbow Connector 12"/>
          <p:cNvCxnSpPr>
            <a:cxnSpLocks/>
            <a:stCxn id="16" idx="1"/>
          </p:cNvCxnSpPr>
          <p:nvPr/>
        </p:nvCxnSpPr>
        <p:spPr>
          <a:xfrm rot="16200000" flipH="1" flipV="1">
            <a:off x="7897099" y="1360966"/>
            <a:ext cx="163316" cy="1708817"/>
          </a:xfrm>
          <a:prstGeom prst="bentConnector4">
            <a:avLst>
              <a:gd name="adj1" fmla="val 19997"/>
              <a:gd name="adj2" fmla="val 99471"/>
            </a:avLst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61628" y="5151649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603" y="4519361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8781217" y="2087541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9002536" y="5178549"/>
            <a:ext cx="0" cy="70657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cxnSpLocks/>
            <a:stCxn id="8" idx="1"/>
            <a:endCxn id="11" idx="2"/>
          </p:cNvCxnSpPr>
          <p:nvPr/>
        </p:nvCxnSpPr>
        <p:spPr>
          <a:xfrm rot="10800000">
            <a:off x="7115173" y="3979340"/>
            <a:ext cx="421170" cy="557669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31771" y="586876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for loop</a:t>
            </a:r>
          </a:p>
        </p:txBody>
      </p:sp>
      <p:cxnSp>
        <p:nvCxnSpPr>
          <p:cNvPr id="31" name="Straight Arrow Connector 30"/>
          <p:cNvCxnSpPr>
            <a:cxnSpLocks/>
            <a:stCxn id="30" idx="2"/>
            <a:endCxn id="36" idx="0"/>
          </p:cNvCxnSpPr>
          <p:nvPr/>
        </p:nvCxnSpPr>
        <p:spPr>
          <a:xfrm>
            <a:off x="8958578" y="956208"/>
            <a:ext cx="1" cy="389644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B6E2B7C-C377-B830-D6A9-578B08BB24B9}"/>
              </a:ext>
            </a:extLst>
          </p:cNvPr>
          <p:cNvSpPr txBox="1"/>
          <p:nvPr/>
        </p:nvSpPr>
        <p:spPr>
          <a:xfrm>
            <a:off x="6003397" y="2297033"/>
            <a:ext cx="222293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var = next value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62D2EBD-575A-6336-11D1-AF9A1A824059}"/>
              </a:ext>
            </a:extLst>
          </p:cNvPr>
          <p:cNvCxnSpPr>
            <a:cxnSpLocks/>
            <a:stCxn id="11" idx="0"/>
            <a:endCxn id="3" idx="2"/>
          </p:cNvCxnSpPr>
          <p:nvPr/>
        </p:nvCxnSpPr>
        <p:spPr>
          <a:xfrm flipH="1" flipV="1">
            <a:off x="7114866" y="2666365"/>
            <a:ext cx="307" cy="389644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085E0D5-9950-E752-6C34-1A6C62A44A6C}"/>
              </a:ext>
            </a:extLst>
          </p:cNvPr>
          <p:cNvCxnSpPr>
            <a:cxnSpLocks/>
            <a:stCxn id="16" idx="4"/>
            <a:endCxn id="8" idx="0"/>
          </p:cNvCxnSpPr>
          <p:nvPr/>
        </p:nvCxnSpPr>
        <p:spPr>
          <a:xfrm>
            <a:off x="8958579" y="2402852"/>
            <a:ext cx="43957" cy="1492614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6ABCC7F-44E1-0582-BE1C-FBE469719FCD}"/>
              </a:ext>
            </a:extLst>
          </p:cNvPr>
          <p:cNvSpPr txBox="1"/>
          <p:nvPr/>
        </p:nvSpPr>
        <p:spPr>
          <a:xfrm>
            <a:off x="8135139" y="1345852"/>
            <a:ext cx="164687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var = val1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176EC99-2430-342E-DF4E-9D2EECC647D7}"/>
              </a:ext>
            </a:extLst>
          </p:cNvPr>
          <p:cNvCxnSpPr>
            <a:cxnSpLocks/>
            <a:stCxn id="36" idx="2"/>
            <a:endCxn id="16" idx="0"/>
          </p:cNvCxnSpPr>
          <p:nvPr/>
        </p:nvCxnSpPr>
        <p:spPr>
          <a:xfrm>
            <a:off x="8958579" y="1715184"/>
            <a:ext cx="0" cy="37235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iamond 3">
            <a:extLst>
              <a:ext uri="{FF2B5EF4-FFF2-40B4-BE49-F238E27FC236}">
                <a16:creationId xmlns:a16="http://schemas.microsoft.com/office/drawing/2014/main" id="{B67E559D-4C6B-FF07-CB1C-E148E7D198D4}"/>
              </a:ext>
            </a:extLst>
          </p:cNvPr>
          <p:cNvSpPr/>
          <p:nvPr/>
        </p:nvSpPr>
        <p:spPr>
          <a:xfrm>
            <a:off x="1890345" y="3722019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9BA662-2EE2-53A6-C708-45D108584AC9}"/>
              </a:ext>
            </a:extLst>
          </p:cNvPr>
          <p:cNvSpPr txBox="1"/>
          <p:nvPr/>
        </p:nvSpPr>
        <p:spPr>
          <a:xfrm>
            <a:off x="2709142" y="3895466"/>
            <a:ext cx="1434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Boolean condition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4BD89B-A5E6-3E2E-88DC-C961052814FD}"/>
              </a:ext>
            </a:extLst>
          </p:cNvPr>
          <p:cNvSpPr txBox="1"/>
          <p:nvPr/>
        </p:nvSpPr>
        <p:spPr>
          <a:xfrm>
            <a:off x="2300688" y="5716933"/>
            <a:ext cx="27365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after loop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7B1E0D-707C-B4CA-45AA-BD53247BC57C}"/>
              </a:ext>
            </a:extLst>
          </p:cNvPr>
          <p:cNvSpPr txBox="1"/>
          <p:nvPr/>
        </p:nvSpPr>
        <p:spPr>
          <a:xfrm>
            <a:off x="372543" y="2845841"/>
            <a:ext cx="2222938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1</a:t>
            </a:r>
          </a:p>
          <a:p>
            <a:r>
              <a:rPr lang="en-US" b="1" dirty="0">
                <a:solidFill>
                  <a:schemeClr val="bg1"/>
                </a:solidFill>
              </a:rPr>
              <a:t>Instruction 2</a:t>
            </a:r>
          </a:p>
          <a:p>
            <a:r>
              <a:rPr lang="is-IS" b="1" dirty="0">
                <a:solidFill>
                  <a:schemeClr val="bg1"/>
                </a:solidFill>
              </a:rPr>
              <a:t>….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E0A363F6-6A2E-6456-F357-976C42C9F0B1}"/>
              </a:ext>
            </a:extLst>
          </p:cNvPr>
          <p:cNvCxnSpPr>
            <a:cxnSpLocks/>
            <a:stCxn id="23" idx="2"/>
          </p:cNvCxnSpPr>
          <p:nvPr/>
        </p:nvCxnSpPr>
        <p:spPr>
          <a:xfrm rot="10800000" flipV="1">
            <a:off x="1507070" y="1889545"/>
            <a:ext cx="1626602" cy="168983"/>
          </a:xfrm>
          <a:prstGeom prst="bentConnector3">
            <a:avLst>
              <a:gd name="adj1" fmla="val 99108"/>
            </a:avLst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732E8E0-9458-3803-74D2-A5F24F08FD44}"/>
              </a:ext>
            </a:extLst>
          </p:cNvPr>
          <p:cNvSpPr txBox="1"/>
          <p:nvPr/>
        </p:nvSpPr>
        <p:spPr>
          <a:xfrm>
            <a:off x="2615630" y="4978202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CF9FBE-04FE-6B0A-C35B-690413CBE671}"/>
              </a:ext>
            </a:extLst>
          </p:cNvPr>
          <p:cNvSpPr txBox="1"/>
          <p:nvPr/>
        </p:nvSpPr>
        <p:spPr>
          <a:xfrm>
            <a:off x="1372605" y="4345914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A3CE5CF-9093-0CD7-5829-8328891ACACA}"/>
              </a:ext>
            </a:extLst>
          </p:cNvPr>
          <p:cNvSpPr/>
          <p:nvPr/>
        </p:nvSpPr>
        <p:spPr>
          <a:xfrm>
            <a:off x="3133672" y="1731890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A33B6E1-2D16-DB27-56E2-05186F31776F}"/>
              </a:ext>
            </a:extLst>
          </p:cNvPr>
          <p:cNvCxnSpPr>
            <a:stCxn id="4" idx="2"/>
          </p:cNvCxnSpPr>
          <p:nvPr/>
        </p:nvCxnSpPr>
        <p:spPr>
          <a:xfrm>
            <a:off x="3356538" y="4715246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3D95219A-1E94-1216-6B06-E7E628B3235B}"/>
              </a:ext>
            </a:extLst>
          </p:cNvPr>
          <p:cNvCxnSpPr>
            <a:stCxn id="4" idx="1"/>
            <a:endCxn id="18" idx="2"/>
          </p:cNvCxnSpPr>
          <p:nvPr/>
        </p:nvCxnSpPr>
        <p:spPr>
          <a:xfrm rot="10800000">
            <a:off x="1484013" y="3769171"/>
            <a:ext cx="406333" cy="449462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7B8E63E-B1B5-ED7B-F331-23670B4A3386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3311031" y="2064682"/>
            <a:ext cx="45507" cy="165733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B626BF5-C612-3F5A-2C96-18D046D75C5E}"/>
              </a:ext>
            </a:extLst>
          </p:cNvPr>
          <p:cNvSpPr txBox="1"/>
          <p:nvPr/>
        </p:nvSpPr>
        <p:spPr>
          <a:xfrm>
            <a:off x="388253" y="2060530"/>
            <a:ext cx="222293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Update statement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E5BA083-97FE-CA86-6526-0244149D5BD3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1484012" y="2402852"/>
            <a:ext cx="0" cy="442989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55DD96-1747-EF54-4B70-0388BBF3B50D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3322433" y="1510738"/>
            <a:ext cx="11351" cy="257818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5D3E85A-0E74-373C-ABDD-B3FD9C456128}"/>
              </a:ext>
            </a:extLst>
          </p:cNvPr>
          <p:cNvSpPr txBox="1"/>
          <p:nvPr/>
        </p:nvSpPr>
        <p:spPr>
          <a:xfrm>
            <a:off x="2306977" y="864407"/>
            <a:ext cx="2053614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Initialize vars in  bool condition</a:t>
            </a:r>
          </a:p>
        </p:txBody>
      </p:sp>
    </p:spTree>
    <p:extLst>
      <p:ext uri="{BB962C8B-B14F-4D97-AF65-F5344CB8AC3E}">
        <p14:creationId xmlns:p14="http://schemas.microsoft.com/office/powerpoint/2010/main" val="1847420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3769" y="299811"/>
            <a:ext cx="8534400" cy="862614"/>
          </a:xfrm>
        </p:spPr>
        <p:txBody>
          <a:bodyPr>
            <a:normAutofit/>
          </a:bodyPr>
          <a:lstStyle/>
          <a:p>
            <a:r>
              <a:rPr lang="en-US" sz="4400" b="1" dirty="0"/>
              <a:t>While vs For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54C2A6-A8C8-3CF7-F219-0CE7C1AB52FE}"/>
              </a:ext>
            </a:extLst>
          </p:cNvPr>
          <p:cNvSpPr txBox="1"/>
          <p:nvPr/>
        </p:nvSpPr>
        <p:spPr>
          <a:xfrm>
            <a:off x="249040" y="1432660"/>
            <a:ext cx="6268063" cy="2308324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Initialize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vars in bool condition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while </a:t>
            </a:r>
            <a:r>
              <a:rPr lang="en-US" sz="24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bool condition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1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2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</a:p>
          <a:p>
            <a:r>
              <a:rPr lang="is-IS" sz="2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is-IS" sz="2400" b="1" dirty="0">
                <a:latin typeface="Courier" charset="0"/>
                <a:ea typeface="Courier" charset="0"/>
                <a:cs typeface="Courier" charset="0"/>
              </a:rPr>
              <a:t>update statement</a:t>
            </a:r>
            <a:endParaRPr lang="en-US" sz="2400" b="1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0CE7D7-5AE1-7D4B-7BD2-FA23A0359C29}"/>
              </a:ext>
            </a:extLst>
          </p:cNvPr>
          <p:cNvSpPr txBox="1"/>
          <p:nvPr/>
        </p:nvSpPr>
        <p:spPr>
          <a:xfrm>
            <a:off x="6913488" y="1465705"/>
            <a:ext cx="5161991" cy="1569660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for </a:t>
            </a:r>
            <a:r>
              <a:rPr lang="en-US" sz="2400" b="1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var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in [val1, val2, </a:t>
            </a:r>
            <a:r>
              <a:rPr lang="mr-IN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]: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1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2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711C13-4633-2140-A89C-95DE94104DAF}"/>
              </a:ext>
            </a:extLst>
          </p:cNvPr>
          <p:cNvSpPr txBox="1"/>
          <p:nvPr/>
        </p:nvSpPr>
        <p:spPr>
          <a:xfrm>
            <a:off x="654441" y="4265259"/>
            <a:ext cx="4351193" cy="2308324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lst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= [1,2,3]</a:t>
            </a:r>
          </a:p>
          <a:p>
            <a:r>
              <a:rPr lang="en-US" sz="2400" b="1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ind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= 0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while  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print(var)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</a:t>
            </a:r>
          </a:p>
          <a:p>
            <a:endParaRPr lang="en-US" sz="2400" b="1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5EF4E7-D7A2-5AA5-79A2-A2BE258585E6}"/>
              </a:ext>
            </a:extLst>
          </p:cNvPr>
          <p:cNvSpPr txBox="1"/>
          <p:nvPr/>
        </p:nvSpPr>
        <p:spPr>
          <a:xfrm>
            <a:off x="7318888" y="4110316"/>
            <a:ext cx="4351193" cy="2677656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lst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= [1,2,3]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for var in </a:t>
            </a:r>
            <a:r>
              <a:rPr lang="en-US" sz="2400" b="1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lst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print(‘var=‘,var)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-------------------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var = 1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var = 2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var = 3</a:t>
            </a:r>
          </a:p>
        </p:txBody>
      </p:sp>
      <p:sp>
        <p:nvSpPr>
          <p:cNvPr id="40" name="Left-Right Arrow 39">
            <a:extLst>
              <a:ext uri="{FF2B5EF4-FFF2-40B4-BE49-F238E27FC236}">
                <a16:creationId xmlns:a16="http://schemas.microsoft.com/office/drawing/2014/main" id="{6ABC50AA-4204-42DD-BC4A-CFB1156F4A9E}"/>
              </a:ext>
            </a:extLst>
          </p:cNvPr>
          <p:cNvSpPr/>
          <p:nvPr/>
        </p:nvSpPr>
        <p:spPr>
          <a:xfrm>
            <a:off x="5026262" y="4908305"/>
            <a:ext cx="2292626" cy="540839"/>
          </a:xfrm>
          <a:prstGeom prst="left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27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089" y="14074"/>
            <a:ext cx="8715751" cy="1507067"/>
          </a:xfrm>
        </p:spPr>
        <p:txBody>
          <a:bodyPr/>
          <a:lstStyle/>
          <a:p>
            <a:r>
              <a:rPr lang="en-US" dirty="0"/>
              <a:t>For loop </a:t>
            </a:r>
            <a:r>
              <a:rPr lang="mr-IN" dirty="0"/>
              <a:t>–</a:t>
            </a:r>
            <a:r>
              <a:rPr lang="en-US" dirty="0"/>
              <a:t> 1</a:t>
            </a:r>
            <a:r>
              <a:rPr lang="en-US" baseline="30000" dirty="0"/>
              <a:t>st</a:t>
            </a:r>
            <a:r>
              <a:rPr lang="en-US" dirty="0"/>
              <a:t> iteration (repetition)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5" y="1316458"/>
            <a:ext cx="7528554" cy="2040798"/>
          </a:xfrm>
          <a:prstGeom prst="rect">
            <a:avLst/>
          </a:prstGeom>
        </p:spPr>
      </p:pic>
      <p:sp>
        <p:nvSpPr>
          <p:cNvPr id="8" name="Diamond 7"/>
          <p:cNvSpPr/>
          <p:nvPr/>
        </p:nvSpPr>
        <p:spPr>
          <a:xfrm>
            <a:off x="8991750" y="4052347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02092" y="6047261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Instruction after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28416" y="3209209"/>
            <a:ext cx="168104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print (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3" name="Elbow Connector 12"/>
          <p:cNvCxnSpPr>
            <a:stCxn id="16" idx="2"/>
            <a:endCxn id="11" idx="0"/>
          </p:cNvCxnSpPr>
          <p:nvPr/>
        </p:nvCxnSpPr>
        <p:spPr>
          <a:xfrm rot="10800000" flipV="1">
            <a:off x="8668942" y="1555845"/>
            <a:ext cx="1567703" cy="1653364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17035" y="530853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4010" y="4676242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10236644" y="1398189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10457943" y="5045574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8668942" y="3578541"/>
            <a:ext cx="322809" cy="970420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10414006" y="1713500"/>
            <a:ext cx="43937" cy="233884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85534" y="805040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statement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412341" y="1147361"/>
            <a:ext cx="3329" cy="26295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34875" y="4364294"/>
            <a:ext cx="200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b="1" dirty="0">
                <a:solidFill>
                  <a:schemeClr val="bg1"/>
                </a:solidFill>
              </a:rPr>
              <a:t>  in [1,3,5, 7,9]</a:t>
            </a:r>
          </a:p>
        </p:txBody>
      </p:sp>
      <p:sp>
        <p:nvSpPr>
          <p:cNvPr id="26" name="Alternate Process 25"/>
          <p:cNvSpPr/>
          <p:nvPr/>
        </p:nvSpPr>
        <p:spPr>
          <a:xfrm>
            <a:off x="9802853" y="2492380"/>
            <a:ext cx="1636295" cy="445614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num</a:t>
            </a:r>
            <a:r>
              <a:rPr lang="en-US" dirty="0"/>
              <a:t> = 1 </a:t>
            </a:r>
          </a:p>
        </p:txBody>
      </p:sp>
    </p:spTree>
    <p:extLst>
      <p:ext uri="{BB962C8B-B14F-4D97-AF65-F5344CB8AC3E}">
        <p14:creationId xmlns:p14="http://schemas.microsoft.com/office/powerpoint/2010/main" val="178169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089" y="14074"/>
            <a:ext cx="8883747" cy="1507067"/>
          </a:xfrm>
        </p:spPr>
        <p:txBody>
          <a:bodyPr/>
          <a:lstStyle/>
          <a:p>
            <a:r>
              <a:rPr lang="en-US" dirty="0"/>
              <a:t>For loop </a:t>
            </a:r>
            <a:r>
              <a:rPr lang="mr-IN" dirty="0"/>
              <a:t>–</a:t>
            </a:r>
            <a:r>
              <a:rPr lang="en-US" dirty="0"/>
              <a:t> 2</a:t>
            </a:r>
            <a:r>
              <a:rPr lang="en-US" baseline="30000" dirty="0"/>
              <a:t>nd</a:t>
            </a:r>
            <a:r>
              <a:rPr lang="en-US" dirty="0"/>
              <a:t> iteration (repetition)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5" y="1316458"/>
            <a:ext cx="7528554" cy="2040798"/>
          </a:xfrm>
          <a:prstGeom prst="rect">
            <a:avLst/>
          </a:prstGeom>
        </p:spPr>
      </p:pic>
      <p:sp>
        <p:nvSpPr>
          <p:cNvPr id="8" name="Diamond 7"/>
          <p:cNvSpPr/>
          <p:nvPr/>
        </p:nvSpPr>
        <p:spPr>
          <a:xfrm>
            <a:off x="8991750" y="4052347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02092" y="6047261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Instruction after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28416" y="3209209"/>
            <a:ext cx="168104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print (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3" name="Elbow Connector 12"/>
          <p:cNvCxnSpPr>
            <a:stCxn id="16" idx="2"/>
            <a:endCxn id="11" idx="0"/>
          </p:cNvCxnSpPr>
          <p:nvPr/>
        </p:nvCxnSpPr>
        <p:spPr>
          <a:xfrm rot="10800000" flipV="1">
            <a:off x="8668942" y="1555845"/>
            <a:ext cx="1567703" cy="1653364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17035" y="530853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4010" y="4676242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10236644" y="1398189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10457943" y="5045574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8668942" y="3578541"/>
            <a:ext cx="322809" cy="970420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10414006" y="1713500"/>
            <a:ext cx="43937" cy="233884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85534" y="805040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statement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412341" y="1147361"/>
            <a:ext cx="3329" cy="26295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27176" y="4355530"/>
            <a:ext cx="181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b="1" dirty="0">
                <a:solidFill>
                  <a:schemeClr val="bg1"/>
                </a:solidFill>
              </a:rPr>
              <a:t>  in [1,3,5,7,9]</a:t>
            </a:r>
          </a:p>
        </p:txBody>
      </p:sp>
      <p:sp>
        <p:nvSpPr>
          <p:cNvPr id="26" name="Alternate Process 25"/>
          <p:cNvSpPr/>
          <p:nvPr/>
        </p:nvSpPr>
        <p:spPr>
          <a:xfrm>
            <a:off x="9802853" y="2492380"/>
            <a:ext cx="1636295" cy="445614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num</a:t>
            </a:r>
            <a:r>
              <a:rPr lang="en-US" dirty="0"/>
              <a:t> = 3 </a:t>
            </a:r>
          </a:p>
        </p:txBody>
      </p:sp>
    </p:spTree>
    <p:extLst>
      <p:ext uri="{BB962C8B-B14F-4D97-AF65-F5344CB8AC3E}">
        <p14:creationId xmlns:p14="http://schemas.microsoft.com/office/powerpoint/2010/main" val="121297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089" y="14074"/>
            <a:ext cx="8883747" cy="1507067"/>
          </a:xfrm>
        </p:spPr>
        <p:txBody>
          <a:bodyPr/>
          <a:lstStyle/>
          <a:p>
            <a:r>
              <a:rPr lang="en-US" dirty="0"/>
              <a:t>For loop </a:t>
            </a:r>
            <a:r>
              <a:rPr lang="mr-IN" dirty="0"/>
              <a:t>–</a:t>
            </a:r>
            <a:r>
              <a:rPr lang="en-US" dirty="0"/>
              <a:t> 3</a:t>
            </a:r>
            <a:r>
              <a:rPr lang="en-US" baseline="30000" dirty="0"/>
              <a:t>rd</a:t>
            </a:r>
            <a:r>
              <a:rPr lang="en-US" dirty="0"/>
              <a:t> iteration (repetition)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5" y="1316458"/>
            <a:ext cx="7528554" cy="2040798"/>
          </a:xfrm>
          <a:prstGeom prst="rect">
            <a:avLst/>
          </a:prstGeom>
        </p:spPr>
      </p:pic>
      <p:sp>
        <p:nvSpPr>
          <p:cNvPr id="8" name="Diamond 7"/>
          <p:cNvSpPr/>
          <p:nvPr/>
        </p:nvSpPr>
        <p:spPr>
          <a:xfrm>
            <a:off x="8991750" y="4052347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02092" y="6047261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Instruction after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28416" y="3209209"/>
            <a:ext cx="168104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print (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3" name="Elbow Connector 12"/>
          <p:cNvCxnSpPr>
            <a:stCxn id="16" idx="2"/>
            <a:endCxn id="11" idx="0"/>
          </p:cNvCxnSpPr>
          <p:nvPr/>
        </p:nvCxnSpPr>
        <p:spPr>
          <a:xfrm rot="10800000" flipV="1">
            <a:off x="8668942" y="1555845"/>
            <a:ext cx="1567703" cy="1653364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17035" y="530853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4010" y="4676242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10236644" y="1398189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10457943" y="5045574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8668942" y="3578541"/>
            <a:ext cx="322809" cy="970420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10414006" y="1713500"/>
            <a:ext cx="43937" cy="233884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85534" y="805040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statement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412341" y="1147361"/>
            <a:ext cx="3329" cy="26295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27176" y="4355530"/>
            <a:ext cx="181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 </a:t>
            </a:r>
            <a:r>
              <a:rPr lang="en-US" b="1" dirty="0">
                <a:solidFill>
                  <a:schemeClr val="bg1"/>
                </a:solidFill>
              </a:rPr>
              <a:t>in [1,3,5,7,9]</a:t>
            </a:r>
          </a:p>
        </p:txBody>
      </p:sp>
      <p:sp>
        <p:nvSpPr>
          <p:cNvPr id="26" name="Alternate Process 25"/>
          <p:cNvSpPr/>
          <p:nvPr/>
        </p:nvSpPr>
        <p:spPr>
          <a:xfrm>
            <a:off x="9802853" y="2492380"/>
            <a:ext cx="1636295" cy="445614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num</a:t>
            </a:r>
            <a:r>
              <a:rPr lang="en-US" dirty="0"/>
              <a:t> = 5 </a:t>
            </a:r>
          </a:p>
        </p:txBody>
      </p:sp>
    </p:spTree>
    <p:extLst>
      <p:ext uri="{BB962C8B-B14F-4D97-AF65-F5344CB8AC3E}">
        <p14:creationId xmlns:p14="http://schemas.microsoft.com/office/powerpoint/2010/main" val="103504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089" y="14074"/>
            <a:ext cx="8883747" cy="1507067"/>
          </a:xfrm>
        </p:spPr>
        <p:txBody>
          <a:bodyPr/>
          <a:lstStyle/>
          <a:p>
            <a:r>
              <a:rPr lang="en-US" dirty="0"/>
              <a:t>For loop </a:t>
            </a:r>
            <a:r>
              <a:rPr lang="mr-IN" dirty="0"/>
              <a:t>–</a:t>
            </a:r>
            <a:r>
              <a:rPr lang="en-US" dirty="0"/>
              <a:t> 4</a:t>
            </a:r>
            <a:r>
              <a:rPr lang="en-US" baseline="30000" dirty="0"/>
              <a:t>th</a:t>
            </a:r>
            <a:r>
              <a:rPr lang="en-US" dirty="0"/>
              <a:t> iteration (repetition)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5" y="1316458"/>
            <a:ext cx="7528554" cy="2040798"/>
          </a:xfrm>
          <a:prstGeom prst="rect">
            <a:avLst/>
          </a:prstGeom>
        </p:spPr>
      </p:pic>
      <p:sp>
        <p:nvSpPr>
          <p:cNvPr id="8" name="Diamond 7"/>
          <p:cNvSpPr/>
          <p:nvPr/>
        </p:nvSpPr>
        <p:spPr>
          <a:xfrm>
            <a:off x="8991750" y="4052347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02092" y="6047261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Instruction after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28416" y="3209209"/>
            <a:ext cx="168104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print (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3" name="Elbow Connector 12"/>
          <p:cNvCxnSpPr>
            <a:stCxn id="16" idx="2"/>
            <a:endCxn id="11" idx="0"/>
          </p:cNvCxnSpPr>
          <p:nvPr/>
        </p:nvCxnSpPr>
        <p:spPr>
          <a:xfrm rot="10800000" flipV="1">
            <a:off x="8668942" y="1555845"/>
            <a:ext cx="1567703" cy="1653364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17035" y="530853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4010" y="4676242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10236644" y="1398189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10457943" y="5045574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8668942" y="3578541"/>
            <a:ext cx="322809" cy="970420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10414006" y="1713500"/>
            <a:ext cx="43937" cy="233884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85534" y="805040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statement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412341" y="1147361"/>
            <a:ext cx="3329" cy="26295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27176" y="4355530"/>
            <a:ext cx="181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7 </a:t>
            </a:r>
            <a:r>
              <a:rPr lang="en-US" b="1" dirty="0">
                <a:solidFill>
                  <a:schemeClr val="bg1"/>
                </a:solidFill>
              </a:rPr>
              <a:t>in [1,3,5,7,9]</a:t>
            </a:r>
          </a:p>
        </p:txBody>
      </p:sp>
      <p:sp>
        <p:nvSpPr>
          <p:cNvPr id="26" name="Alternate Process 25"/>
          <p:cNvSpPr/>
          <p:nvPr/>
        </p:nvSpPr>
        <p:spPr>
          <a:xfrm>
            <a:off x="9802853" y="2492380"/>
            <a:ext cx="1636295" cy="445614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num</a:t>
            </a:r>
            <a:r>
              <a:rPr lang="en-US" dirty="0"/>
              <a:t> = 7 </a:t>
            </a:r>
          </a:p>
        </p:txBody>
      </p:sp>
    </p:spTree>
    <p:extLst>
      <p:ext uri="{BB962C8B-B14F-4D97-AF65-F5344CB8AC3E}">
        <p14:creationId xmlns:p14="http://schemas.microsoft.com/office/powerpoint/2010/main" val="1371738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089" y="14074"/>
            <a:ext cx="8883747" cy="1507067"/>
          </a:xfrm>
        </p:spPr>
        <p:txBody>
          <a:bodyPr/>
          <a:lstStyle/>
          <a:p>
            <a:r>
              <a:rPr lang="en-US" dirty="0"/>
              <a:t>For loop </a:t>
            </a:r>
            <a:r>
              <a:rPr lang="mr-IN" dirty="0"/>
              <a:t>–</a:t>
            </a:r>
            <a:r>
              <a:rPr lang="en-US" dirty="0"/>
              <a:t> 4</a:t>
            </a:r>
            <a:r>
              <a:rPr lang="en-US" baseline="30000" dirty="0"/>
              <a:t>th</a:t>
            </a:r>
            <a:r>
              <a:rPr lang="en-US" dirty="0"/>
              <a:t> iteration (repetition)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5" y="1316458"/>
            <a:ext cx="7528554" cy="2040798"/>
          </a:xfrm>
          <a:prstGeom prst="rect">
            <a:avLst/>
          </a:prstGeom>
        </p:spPr>
      </p:pic>
      <p:sp>
        <p:nvSpPr>
          <p:cNvPr id="8" name="Diamond 7"/>
          <p:cNvSpPr/>
          <p:nvPr/>
        </p:nvSpPr>
        <p:spPr>
          <a:xfrm>
            <a:off x="8991750" y="4052347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02092" y="6047261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Instruction after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28416" y="3209209"/>
            <a:ext cx="168104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print (</a:t>
            </a:r>
            <a:r>
              <a:rPr lang="en-US" b="1" dirty="0">
                <a:solidFill>
                  <a:srgbClr val="FF0000"/>
                </a:solidFill>
              </a:rPr>
              <a:t>9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3" name="Elbow Connector 12"/>
          <p:cNvCxnSpPr>
            <a:stCxn id="16" idx="2"/>
            <a:endCxn id="11" idx="0"/>
          </p:cNvCxnSpPr>
          <p:nvPr/>
        </p:nvCxnSpPr>
        <p:spPr>
          <a:xfrm rot="10800000" flipV="1">
            <a:off x="8668942" y="1555845"/>
            <a:ext cx="1567703" cy="1653364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17035" y="530853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4010" y="4676242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10236644" y="1398189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10457943" y="5045574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8668942" y="3578541"/>
            <a:ext cx="322809" cy="970420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10414006" y="1713500"/>
            <a:ext cx="43937" cy="233884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85534" y="805040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statement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412341" y="1147361"/>
            <a:ext cx="3329" cy="26295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27176" y="4355530"/>
            <a:ext cx="181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9 </a:t>
            </a:r>
            <a:r>
              <a:rPr lang="en-US" b="1" dirty="0">
                <a:solidFill>
                  <a:schemeClr val="bg1"/>
                </a:solidFill>
              </a:rPr>
              <a:t>in [1,3,5,7,9]</a:t>
            </a:r>
          </a:p>
        </p:txBody>
      </p:sp>
      <p:sp>
        <p:nvSpPr>
          <p:cNvPr id="26" name="Alternate Process 25"/>
          <p:cNvSpPr/>
          <p:nvPr/>
        </p:nvSpPr>
        <p:spPr>
          <a:xfrm>
            <a:off x="9802853" y="2492380"/>
            <a:ext cx="1636295" cy="445614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num</a:t>
            </a:r>
            <a:r>
              <a:rPr lang="en-US" dirty="0"/>
              <a:t> = 9 </a:t>
            </a:r>
          </a:p>
        </p:txBody>
      </p:sp>
    </p:spTree>
    <p:extLst>
      <p:ext uri="{BB962C8B-B14F-4D97-AF65-F5344CB8AC3E}">
        <p14:creationId xmlns:p14="http://schemas.microsoft.com/office/powerpoint/2010/main" val="445889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089" y="14074"/>
            <a:ext cx="8883747" cy="1507067"/>
          </a:xfrm>
        </p:spPr>
        <p:txBody>
          <a:bodyPr/>
          <a:lstStyle/>
          <a:p>
            <a:r>
              <a:rPr lang="en-US" dirty="0"/>
              <a:t>For loop </a:t>
            </a:r>
            <a:r>
              <a:rPr lang="mr-IN" dirty="0"/>
              <a:t>–</a:t>
            </a:r>
            <a:r>
              <a:rPr lang="en-US" dirty="0"/>
              <a:t> end iteration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5" y="1316458"/>
            <a:ext cx="7528554" cy="2040798"/>
          </a:xfrm>
          <a:prstGeom prst="rect">
            <a:avLst/>
          </a:prstGeom>
        </p:spPr>
      </p:pic>
      <p:sp>
        <p:nvSpPr>
          <p:cNvPr id="8" name="Diamond 7"/>
          <p:cNvSpPr/>
          <p:nvPr/>
        </p:nvSpPr>
        <p:spPr>
          <a:xfrm>
            <a:off x="8991750" y="4052347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02092" y="6047261"/>
            <a:ext cx="252204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Instruction after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8416" y="3209209"/>
            <a:ext cx="168104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print (</a:t>
            </a:r>
            <a:r>
              <a:rPr lang="en-US" b="1" dirty="0" err="1">
                <a:solidFill>
                  <a:srgbClr val="FF0000"/>
                </a:solidFill>
              </a:rPr>
              <a:t>num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3" name="Elbow Connector 12"/>
          <p:cNvCxnSpPr>
            <a:stCxn id="16" idx="2"/>
            <a:endCxn id="11" idx="0"/>
          </p:cNvCxnSpPr>
          <p:nvPr/>
        </p:nvCxnSpPr>
        <p:spPr>
          <a:xfrm rot="10800000" flipV="1">
            <a:off x="8668942" y="1555845"/>
            <a:ext cx="1567703" cy="1653364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17035" y="530853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4010" y="4676242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10236644" y="1398189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10457943" y="5045574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8668942" y="3578541"/>
            <a:ext cx="322809" cy="970420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10414006" y="1713500"/>
            <a:ext cx="43937" cy="2338847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85534" y="805040"/>
            <a:ext cx="20536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Start statement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0412341" y="1147361"/>
            <a:ext cx="3329" cy="26295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27175" y="4355530"/>
            <a:ext cx="2103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num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in [1,3,5,7,9]</a:t>
            </a:r>
          </a:p>
        </p:txBody>
      </p:sp>
      <p:sp>
        <p:nvSpPr>
          <p:cNvPr id="26" name="Alternate Process 25"/>
          <p:cNvSpPr/>
          <p:nvPr/>
        </p:nvSpPr>
        <p:spPr>
          <a:xfrm>
            <a:off x="9802853" y="2492380"/>
            <a:ext cx="2121282" cy="558280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end list </a:t>
            </a:r>
            <a:r>
              <a:rPr lang="en-US" dirty="0"/>
              <a:t>of </a:t>
            </a:r>
            <a:r>
              <a:rPr lang="en-US"/>
              <a:t>values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132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b="1" dirty="0"/>
              <a:t>Range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211225"/>
            <a:ext cx="11050588" cy="5105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range(</a:t>
            </a:r>
            <a:r>
              <a:rPr lang="en-US" sz="2400" b="1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starting_value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en-US" sz="2400" b="1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ending_value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[step] 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ourier New" charset="0"/>
                <a:ea typeface="Courier New" charset="0"/>
                <a:cs typeface="Courier New" charset="0"/>
              </a:rPr>
              <a:t>- generates a range of values from </a:t>
            </a:r>
            <a:r>
              <a:rPr lang="en-US" sz="2400" b="1" dirty="0" err="1">
                <a:solidFill>
                  <a:srgbClr val="002060"/>
                </a:solidFill>
                <a:latin typeface="Courier New" charset="0"/>
                <a:ea typeface="Courier New" charset="0"/>
                <a:cs typeface="Courier New" charset="0"/>
              </a:rPr>
              <a:t>starting_value</a:t>
            </a:r>
            <a:r>
              <a:rPr lang="en-US" sz="2400" b="1" dirty="0">
                <a:solidFill>
                  <a:srgbClr val="002060"/>
                </a:solidFill>
                <a:latin typeface="Courier New" charset="0"/>
                <a:ea typeface="Courier New" charset="0"/>
                <a:cs typeface="Courier New" charset="0"/>
              </a:rPr>
              <a:t> to (just less than) </a:t>
            </a:r>
            <a:r>
              <a:rPr lang="en-US" sz="2400" b="1" dirty="0" err="1">
                <a:solidFill>
                  <a:srgbClr val="002060"/>
                </a:solidFill>
                <a:latin typeface="Courier New" charset="0"/>
                <a:ea typeface="Courier New" charset="0"/>
                <a:cs typeface="Courier New" charset="0"/>
              </a:rPr>
              <a:t>ending_value</a:t>
            </a:r>
            <a:r>
              <a:rPr lang="en-US" sz="2400" b="1" dirty="0">
                <a:solidFill>
                  <a:srgbClr val="002060"/>
                </a:solidFill>
                <a:latin typeface="Courier New" charset="0"/>
                <a:ea typeface="Courier New" charset="0"/>
                <a:cs typeface="Courier New" charset="0"/>
              </a:rPr>
              <a:t> with an increment = step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Examples: </a:t>
            </a:r>
            <a:endParaRPr lang="en-US" sz="2400" b="1" dirty="0">
              <a:solidFill>
                <a:schemeClr val="bg1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lvl="1"/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list(range(1,5))       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  <a:sym typeface="Wingdings"/>
              </a:rPr>
              <a:t> [1,2,3,4]</a:t>
            </a:r>
          </a:p>
          <a:p>
            <a:pPr lvl="1"/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  <a:sym typeface="Wingdings"/>
              </a:rPr>
              <a:t>list(range(1,5,2))      [1,3]</a:t>
            </a:r>
          </a:p>
          <a:p>
            <a:pPr lvl="1"/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  <a:sym typeface="Wingdings"/>
              </a:rPr>
              <a:t>list(range(0,-5,-1)    -&gt; [0, -1, -2, -3, -4]</a:t>
            </a:r>
          </a:p>
          <a:p>
            <a:pPr lvl="1"/>
            <a:r>
              <a:rPr lang="en-US" sz="2400" b="1" dirty="0">
                <a:solidFill>
                  <a:srgbClr val="002060"/>
                </a:solidFill>
                <a:latin typeface="Courier New" charset="0"/>
                <a:ea typeface="Courier New" charset="0"/>
                <a:cs typeface="Courier New" charset="0"/>
                <a:sym typeface="Wingdings"/>
              </a:rPr>
              <a:t>list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  <a:sym typeface="Wingdings"/>
              </a:rPr>
              <a:t>(range(0, -5)) ?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8275853" y="7468"/>
            <a:ext cx="3370716" cy="1203756"/>
          </a:xfrm>
          <a:prstGeom prst="wedgeRoundRectCallout">
            <a:avLst>
              <a:gd name="adj1" fmla="val -61027"/>
              <a:gd name="adj2" fmla="val 115848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Optional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Default value = 1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58569" y="6100011"/>
            <a:ext cx="3923883" cy="553452"/>
          </a:xfrm>
          <a:prstGeom prst="wedgeRoundRectCallout">
            <a:avLst>
              <a:gd name="adj1" fmla="val -4762"/>
              <a:gd name="adj2" fmla="val -8748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list() = generates a list type [ </a:t>
            </a:r>
            <a:r>
              <a:rPr lang="mr-IN" dirty="0"/>
              <a:t>…</a:t>
            </a:r>
            <a:r>
              <a:rPr lang="en-US" dirty="0"/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330250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b="1" dirty="0"/>
              <a:t>Range function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28590" y="1600200"/>
            <a:ext cx="10890167" cy="392229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How to generate a longer list of values without enumerating all values?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Examples: 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List of all positive integers from 1 to the value stored variable last.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List of all positive integers from values in first and last. 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List of all odd numbers from 1 to a value stored in last.</a:t>
            </a:r>
          </a:p>
        </p:txBody>
      </p:sp>
    </p:spTree>
    <p:extLst>
      <p:ext uri="{BB962C8B-B14F-4D97-AF65-F5344CB8AC3E}">
        <p14:creationId xmlns:p14="http://schemas.microsoft.com/office/powerpoint/2010/main" val="164484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b="1" dirty="0"/>
              <a:t>Range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692487"/>
            <a:ext cx="11050588" cy="46240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range(</a:t>
            </a:r>
            <a:r>
              <a:rPr lang="en-US" sz="2400" b="1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starting_value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en-US" sz="2400" b="1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ending_value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[step] </a:t>
            </a: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en-US" sz="2400" dirty="0">
                <a:solidFill>
                  <a:schemeClr val="bg1"/>
                </a:solidFill>
              </a:rPr>
              <a:t>Examples: 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List of all positive integers from 1 to the value stored variable last.</a:t>
            </a:r>
          </a:p>
          <a:p>
            <a:pPr marL="457200" lvl="1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		</a:t>
            </a:r>
            <a:r>
              <a:rPr lang="en-US" sz="20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range(    ,     )</a:t>
            </a:r>
            <a:endParaRPr lang="en-US" sz="2200" dirty="0">
              <a:solidFill>
                <a:schemeClr val="bg1"/>
              </a:solidFill>
            </a:endParaRP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List of all positive integers from values in first and last. </a:t>
            </a:r>
          </a:p>
          <a:p>
            <a:pPr marL="457200" lvl="1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		</a:t>
            </a:r>
            <a:r>
              <a:rPr lang="en-US" sz="20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range(     ,    )</a:t>
            </a:r>
            <a:endParaRPr lang="en-US" sz="2200" dirty="0">
              <a:solidFill>
                <a:schemeClr val="bg1"/>
              </a:solidFill>
            </a:endParaRP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List of all odd numbers from 1 to a value stored in last.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		range(     ,    )</a:t>
            </a:r>
            <a:endParaRPr lang="en-US" sz="2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44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97025"/>
            <a:ext cx="10619664" cy="1953081"/>
          </a:xfrm>
        </p:spPr>
        <p:txBody>
          <a:bodyPr anchor="t" anchorCtr="0">
            <a:normAutofit/>
          </a:bodyPr>
          <a:lstStyle/>
          <a:p>
            <a:endParaRPr lang="en-US" dirty="0"/>
          </a:p>
          <a:p>
            <a:r>
              <a:rPr lang="en-US" sz="2200" dirty="0">
                <a:solidFill>
                  <a:schemeClr val="bg1"/>
                </a:solidFill>
              </a:rPr>
              <a:t>Use while loop when you don’t know how many times the loop will repeat.</a:t>
            </a:r>
          </a:p>
          <a:p>
            <a:r>
              <a:rPr lang="en-US" sz="2200" dirty="0">
                <a:solidFill>
                  <a:schemeClr val="bg1"/>
                </a:solidFill>
              </a:rPr>
              <a:t>If you know the number of times a loop will repeat, use for loop. </a:t>
            </a:r>
          </a:p>
        </p:txBody>
      </p:sp>
    </p:spTree>
    <p:extLst>
      <p:ext uri="{BB962C8B-B14F-4D97-AF65-F5344CB8AC3E}">
        <p14:creationId xmlns:p14="http://schemas.microsoft.com/office/powerpoint/2010/main" val="826169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1628228"/>
          </a:xfrm>
        </p:spPr>
        <p:txBody>
          <a:bodyPr anchor="t" anchorCtr="0">
            <a:normAutofit/>
          </a:bodyPr>
          <a:lstStyle/>
          <a:p>
            <a:r>
              <a:rPr lang="en-US" sz="2400" dirty="0"/>
              <a:t>Write a for loop that adds all odd numbers from 1 to 51</a:t>
            </a:r>
          </a:p>
          <a:p>
            <a:r>
              <a:rPr lang="en-US" sz="2400" dirty="0"/>
              <a:t>Steps: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8625" y="3429000"/>
            <a:ext cx="409278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 Enter your code here</a:t>
            </a:r>
          </a:p>
          <a:p>
            <a:endParaRPr lang="en-US" sz="2200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sum = 0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for j in range(1,52,2):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sum += j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print(</a:t>
            </a:r>
            <a:r>
              <a:rPr lang="en-US" sz="2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j,sum</a:t>
            </a:r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69644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1014699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Write a for loop that adds odd numbers and subtracts even ones (1 - 2+ 3- 4 +5 - ...), up to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234" y="2702532"/>
            <a:ext cx="52446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 Enter your code here</a:t>
            </a:r>
          </a:p>
          <a:p>
            <a:endParaRPr lang="en-US" sz="2400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result = 0</a:t>
            </a:r>
          </a:p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for j in range(1,101):</a:t>
            </a:r>
          </a:p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if j % 2 == 0:</a:t>
            </a:r>
          </a:p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	sum -= j</a:t>
            </a:r>
          </a:p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else:</a:t>
            </a:r>
          </a:p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	sum += j </a:t>
            </a:r>
          </a:p>
          <a:p>
            <a:endParaRPr lang="en-US" sz="2400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44851" y="2733309"/>
            <a:ext cx="6762091" cy="3385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Try without an if inside the loop</a:t>
            </a:r>
          </a:p>
          <a:p>
            <a:endParaRPr lang="en-US" sz="2400" b="1" dirty="0">
              <a:solidFill>
                <a:srgbClr val="FF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result = 0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prod = 1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for j in range(1,101):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	sum += prod * j 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	prod = prod * (-1)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	</a:t>
            </a:r>
          </a:p>
          <a:p>
            <a:endParaRPr lang="en-US" sz="2000" dirty="0">
              <a:solidFill>
                <a:srgbClr val="FF0000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60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1014699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Print all names that start with letter A in a list of names (strings)</a:t>
            </a:r>
          </a:p>
          <a:p>
            <a:r>
              <a:rPr lang="en-US" dirty="0"/>
              <a:t>Use case: Input: “Anna Maria Marc Arianna Adella Michael”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51338" y="2815471"/>
            <a:ext cx="4424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 Enter your code here</a:t>
            </a:r>
          </a:p>
        </p:txBody>
      </p:sp>
    </p:spTree>
    <p:extLst>
      <p:ext uri="{BB962C8B-B14F-4D97-AF65-F5344CB8AC3E}">
        <p14:creationId xmlns:p14="http://schemas.microsoft.com/office/powerpoint/2010/main" val="1446427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1014699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Check if a password has both an uppercase letter, and a punctuation mark. </a:t>
            </a:r>
          </a:p>
          <a:p>
            <a:r>
              <a:rPr lang="en-US" dirty="0"/>
              <a:t>Use case: “Pass%”, “</a:t>
            </a:r>
            <a:r>
              <a:rPr lang="en-US" dirty="0" err="1"/>
              <a:t>pass_wd</a:t>
            </a:r>
            <a:r>
              <a:rPr lang="en-US" dirty="0"/>
              <a:t>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1338" y="2815471"/>
            <a:ext cx="4424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 Enter your code here</a:t>
            </a:r>
          </a:p>
        </p:txBody>
      </p:sp>
    </p:spTree>
    <p:extLst>
      <p:ext uri="{BB962C8B-B14F-4D97-AF65-F5344CB8AC3E}">
        <p14:creationId xmlns:p14="http://schemas.microsoft.com/office/powerpoint/2010/main" val="3736257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708" y="264248"/>
            <a:ext cx="9819356" cy="1492363"/>
          </a:xfrm>
        </p:spPr>
        <p:txBody>
          <a:bodyPr/>
          <a:lstStyle/>
          <a:p>
            <a:r>
              <a:rPr lang="en-US" dirty="0"/>
              <a:t>Augmented </a:t>
            </a:r>
            <a:r>
              <a:rPr lang="en-US"/>
              <a:t>assignment operators</a:t>
            </a:r>
          </a:p>
        </p:txBody>
      </p:sp>
      <p:pic>
        <p:nvPicPr>
          <p:cNvPr id="4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454" y="2378912"/>
            <a:ext cx="10889250" cy="2686383"/>
          </a:xfrm>
        </p:spPr>
      </p:pic>
    </p:spTree>
    <p:extLst>
      <p:ext uri="{BB962C8B-B14F-4D97-AF65-F5344CB8AC3E}">
        <p14:creationId xmlns:p14="http://schemas.microsoft.com/office/powerpoint/2010/main" val="1870111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264955"/>
            <a:ext cx="8534400" cy="1507067"/>
          </a:xfrm>
        </p:spPr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201" y="1555612"/>
            <a:ext cx="11507788" cy="5123967"/>
          </a:xfrm>
        </p:spPr>
        <p:txBody>
          <a:bodyPr anchor="t" anchorCtr="0">
            <a:noAutofit/>
          </a:bodyPr>
          <a:lstStyle/>
          <a:p>
            <a:r>
              <a:rPr lang="en-US" sz="2400" dirty="0"/>
              <a:t>Know when to use while or for loops</a:t>
            </a:r>
          </a:p>
          <a:p>
            <a:pPr lvl="5"/>
            <a:endParaRPr lang="en-US" sz="18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continue</a:t>
            </a:r>
            <a:r>
              <a:rPr lang="en-US" sz="2400" dirty="0"/>
              <a:t> inside of a loop </a:t>
            </a:r>
            <a:r>
              <a:rPr lang="en-US" sz="2400" dirty="0">
                <a:sym typeface="Wingdings"/>
              </a:rPr>
              <a:t></a:t>
            </a:r>
            <a:r>
              <a:rPr lang="en-US" sz="2400" dirty="0"/>
              <a:t> jump to the beginning of the loop (condition)</a:t>
            </a:r>
          </a:p>
          <a:p>
            <a:pPr lvl="6"/>
            <a:endParaRPr lang="en-US" sz="18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break</a:t>
            </a:r>
            <a:r>
              <a:rPr lang="en-US" sz="2400" dirty="0"/>
              <a:t> inside of a loop       </a:t>
            </a:r>
            <a:r>
              <a:rPr lang="en-US" sz="2400" dirty="0">
                <a:sym typeface="Wingdings"/>
              </a:rPr>
              <a:t> jumps to the first line after the loop </a:t>
            </a:r>
          </a:p>
          <a:p>
            <a:pPr lvl="1"/>
            <a:r>
              <a:rPr lang="en-US" sz="2200" dirty="0">
                <a:sym typeface="Wingdings"/>
              </a:rPr>
              <a:t>Use </a:t>
            </a:r>
            <a:r>
              <a:rPr lang="en-US" sz="2200" dirty="0">
                <a:solidFill>
                  <a:srgbClr val="FFFF00"/>
                </a:solidFill>
              </a:rPr>
              <a:t>break</a:t>
            </a:r>
            <a:r>
              <a:rPr lang="en-US" sz="2200" dirty="0"/>
              <a:t>  and </a:t>
            </a:r>
            <a:r>
              <a:rPr lang="en-US" sz="2200" dirty="0">
                <a:solidFill>
                  <a:srgbClr val="FFFF00"/>
                </a:solidFill>
              </a:rPr>
              <a:t>continue</a:t>
            </a:r>
            <a:r>
              <a:rPr lang="en-US" sz="2200" dirty="0"/>
              <a:t> </a:t>
            </a:r>
            <a:r>
              <a:rPr lang="en-US" sz="2200" dirty="0">
                <a:sym typeface="Wingdings"/>
              </a:rPr>
              <a:t>only if it improves the readability of your code</a:t>
            </a:r>
          </a:p>
          <a:p>
            <a:pPr lvl="7"/>
            <a:endParaRPr lang="en-US" sz="1800" dirty="0"/>
          </a:p>
          <a:p>
            <a:r>
              <a:rPr lang="en-US" sz="2400" dirty="0"/>
              <a:t>Avoid nesting of loops when possible</a:t>
            </a:r>
          </a:p>
          <a:p>
            <a:pPr lvl="5"/>
            <a:endParaRPr lang="en-US" sz="1800" dirty="0"/>
          </a:p>
          <a:p>
            <a:r>
              <a:rPr lang="en-US" sz="2400" dirty="0"/>
              <a:t>Use clear, positive (if possible) </a:t>
            </a:r>
            <a:r>
              <a:rPr lang="en-US" sz="2400" dirty="0" err="1"/>
              <a:t>boolean</a:t>
            </a:r>
            <a:r>
              <a:rPr lang="en-US" sz="2400" dirty="0"/>
              <a:t> conditions (no more than 2 connected with logical operator and or not)</a:t>
            </a:r>
          </a:p>
        </p:txBody>
      </p:sp>
    </p:spTree>
    <p:extLst>
      <p:ext uri="{BB962C8B-B14F-4D97-AF65-F5344CB8AC3E}">
        <p14:creationId xmlns:p14="http://schemas.microsoft.com/office/powerpoint/2010/main" val="540893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1BC8-FCF6-C3E1-E5CD-88C8268D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6590"/>
            <a:ext cx="8534400" cy="1507067"/>
          </a:xfrm>
        </p:spPr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5E5EF-3DF4-D30F-A82A-F5C4F097B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21366"/>
            <a:ext cx="8534400" cy="3615267"/>
          </a:xfrm>
        </p:spPr>
        <p:txBody>
          <a:bodyPr>
            <a:normAutofit/>
          </a:bodyPr>
          <a:lstStyle/>
          <a:p>
            <a:r>
              <a:rPr lang="en-US" sz="2400" b="1" dirty="0"/>
              <a:t>What are for loops?</a:t>
            </a:r>
          </a:p>
          <a:p>
            <a:r>
              <a:rPr lang="en-US" sz="2400" b="1" dirty="0"/>
              <a:t>What is the relationship between for and while loops?</a:t>
            </a:r>
          </a:p>
          <a:p>
            <a:r>
              <a:rPr lang="en-US" sz="2400" b="1" dirty="0"/>
              <a:t>For loops with lists (and strings – works the same)</a:t>
            </a:r>
          </a:p>
          <a:p>
            <a:r>
              <a:rPr lang="en-US" sz="2400" b="1" dirty="0"/>
              <a:t>What is the range function</a:t>
            </a:r>
          </a:p>
          <a:p>
            <a:r>
              <a:rPr lang="en-US" sz="2400" b="1" dirty="0"/>
              <a:t>For loops with range</a:t>
            </a:r>
          </a:p>
          <a:p>
            <a:r>
              <a:rPr lang="en-US" sz="2400" b="1" dirty="0"/>
              <a:t>When should we use for loops or while loops</a:t>
            </a:r>
          </a:p>
        </p:txBody>
      </p:sp>
    </p:spTree>
    <p:extLst>
      <p:ext uri="{BB962C8B-B14F-4D97-AF65-F5344CB8AC3E}">
        <p14:creationId xmlns:p14="http://schemas.microsoft.com/office/powerpoint/2010/main" val="4052349200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70026</TotalTime>
  <Words>1061</Words>
  <Application>Microsoft Macintosh PowerPoint</Application>
  <PresentationFormat>Widescreen</PresentationFormat>
  <Paragraphs>206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Century Gothic</vt:lpstr>
      <vt:lpstr>Courier</vt:lpstr>
      <vt:lpstr>Courier New</vt:lpstr>
      <vt:lpstr>Wingdings</vt:lpstr>
      <vt:lpstr>Wingdings 3</vt:lpstr>
      <vt:lpstr>Slice</vt:lpstr>
      <vt:lpstr>Week 4 - For Loops</vt:lpstr>
      <vt:lpstr>Outline</vt:lpstr>
      <vt:lpstr>For loop</vt:lpstr>
      <vt:lpstr>         While    vs   For </vt:lpstr>
      <vt:lpstr>While vs For loop</vt:lpstr>
      <vt:lpstr>For loop – 1st iteration (repetition)</vt:lpstr>
      <vt:lpstr>For loop – 2nd iteration (repetition)</vt:lpstr>
      <vt:lpstr>For loop – 3rd iteration (repetition)</vt:lpstr>
      <vt:lpstr>For loop – 4th iteration (repetition)</vt:lpstr>
      <vt:lpstr>For loop – 4th iteration (repetition)</vt:lpstr>
      <vt:lpstr>For loop – end iteration </vt:lpstr>
      <vt:lpstr>Range function</vt:lpstr>
      <vt:lpstr>Range function</vt:lpstr>
      <vt:lpstr>Range function</vt:lpstr>
      <vt:lpstr>Observations</vt:lpstr>
      <vt:lpstr>Example 1</vt:lpstr>
      <vt:lpstr>Example 2</vt:lpstr>
      <vt:lpstr>Example 3</vt:lpstr>
      <vt:lpstr>Example 4</vt:lpstr>
      <vt:lpstr>Augmented assignment operators</vt:lpstr>
      <vt:lpstr>review</vt:lpstr>
      <vt:lpstr>Outline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Simona Doboli</dc:creator>
  <cp:lastModifiedBy>Simona Doboli</cp:lastModifiedBy>
  <cp:revision>65</cp:revision>
  <cp:lastPrinted>2025-09-22T14:33:10Z</cp:lastPrinted>
  <dcterms:created xsi:type="dcterms:W3CDTF">2017-01-17T20:23:48Z</dcterms:created>
  <dcterms:modified xsi:type="dcterms:W3CDTF">2025-10-10T20:31:37Z</dcterms:modified>
</cp:coreProperties>
</file>