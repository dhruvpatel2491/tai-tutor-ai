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0" r:id="rId1"/>
  </p:sldMasterIdLst>
  <p:notesMasterIdLst>
    <p:notesMasterId r:id="rId12"/>
  </p:notesMasterIdLst>
  <p:sldIdLst>
    <p:sldId id="257" r:id="rId2"/>
    <p:sldId id="258" r:id="rId3"/>
    <p:sldId id="260" r:id="rId4"/>
    <p:sldId id="261" r:id="rId5"/>
    <p:sldId id="259" r:id="rId6"/>
    <p:sldId id="263" r:id="rId7"/>
    <p:sldId id="262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65"/>
  </p:normalViewPr>
  <p:slideViewPr>
    <p:cSldViewPr snapToGrid="0">
      <p:cViewPr varScale="1">
        <p:scale>
          <a:sx n="93" d="100"/>
          <a:sy n="93" d="100"/>
        </p:scale>
        <p:origin x="24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0A2FC-17C7-BC40-BC7F-781CCBA1D82B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DE45C-804B-4641-B785-6F4C0101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6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DE45C-804B-4641-B785-6F4C010142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25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DE45C-804B-4641-B785-6F4C010142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5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28FA71-3A18-48C0-980F-4B68F7F63042}" type="datetime1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9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01EA198-6CAB-4B8F-B93F-1F9C8C4B6CE7}" type="datetime1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2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5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32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2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3DFAE3-14DB-48A7-A80F-80DDB072CE3D}" type="datetime1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2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0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F0EC4B-54ED-4041-B552-9BA760FA3DBA}" type="datetime1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7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7F45AC6-C491-4585-A584-9CE2AF7D5500}" type="datetime1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855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81458-1B02-AA4B-FDA2-661BEDA2F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Week 4: Lists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C871D-6B0E-51EC-D0D3-79B6975CE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Lists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are lists?</a:t>
            </a:r>
          </a:p>
          <a:p>
            <a:pPr eaLnBrk="1" hangingPunct="1"/>
            <a:r>
              <a:rPr lang="en-US" altLang="en-US" sz="2600" dirty="0"/>
              <a:t>How to create a list?</a:t>
            </a:r>
          </a:p>
          <a:p>
            <a:pPr eaLnBrk="1" hangingPunct="1"/>
            <a:r>
              <a:rPr lang="en-US" altLang="en-US" sz="2600" dirty="0"/>
              <a:t>What are lists operators?</a:t>
            </a:r>
          </a:p>
          <a:p>
            <a:pPr lvl="1"/>
            <a:r>
              <a:rPr lang="en-US" altLang="en-US" sz="2200" dirty="0"/>
              <a:t>Lists indexing</a:t>
            </a:r>
          </a:p>
          <a:p>
            <a:pPr lvl="1"/>
            <a:r>
              <a:rPr lang="en-US" altLang="en-US" sz="2200" dirty="0"/>
              <a:t>Lists slicing</a:t>
            </a:r>
          </a:p>
          <a:p>
            <a:r>
              <a:rPr lang="en-US" altLang="en-US" sz="2400" dirty="0"/>
              <a:t>Can lists be changed?</a:t>
            </a:r>
          </a:p>
          <a:p>
            <a:r>
              <a:rPr lang="en-US" altLang="en-US" sz="2400" dirty="0"/>
              <a:t>Can strings be changed</a:t>
            </a:r>
          </a:p>
          <a:p>
            <a:r>
              <a:rPr lang="en-US" altLang="en-US" sz="2400" dirty="0"/>
              <a:t>Lists functions?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What are Lists?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/>
              <a:t>Lists are a CONTAINER data type that store a number of items.</a:t>
            </a:r>
          </a:p>
          <a:p>
            <a:pPr eaLnBrk="1" hangingPunct="1"/>
            <a:r>
              <a:rPr lang="en-US" altLang="en-US" sz="2400" dirty="0"/>
              <a:t>Example lists:</a:t>
            </a:r>
          </a:p>
          <a:p>
            <a:pPr lvl="1"/>
            <a:r>
              <a:rPr lang="en-US" altLang="en-US" sz="2200" dirty="0" err="1"/>
              <a:t>course_list</a:t>
            </a:r>
            <a:r>
              <a:rPr lang="en-US" altLang="en-US" sz="2200" dirty="0"/>
              <a:t> = [’CSC15’, ‘CSC14’, ‘WSC1’] </a:t>
            </a:r>
          </a:p>
          <a:p>
            <a:pPr lvl="1"/>
            <a:r>
              <a:rPr lang="en-US" altLang="en-US" sz="2200" dirty="0" err="1"/>
              <a:t>grades_list</a:t>
            </a:r>
            <a:r>
              <a:rPr lang="en-US" altLang="en-US" sz="2200" dirty="0"/>
              <a:t> = [9, 5, 8, 10, 4.5, 8.5]</a:t>
            </a:r>
          </a:p>
          <a:p>
            <a:pPr lvl="1"/>
            <a:r>
              <a:rPr lang="en-US" altLang="en-US" sz="2200" dirty="0" err="1"/>
              <a:t>mixed_list</a:t>
            </a:r>
            <a:r>
              <a:rPr lang="en-US" altLang="en-US" sz="2200" dirty="0"/>
              <a:t> = [5, 3, ‘string’, 4.5, True]</a:t>
            </a:r>
          </a:p>
          <a:p>
            <a:pPr lvl="1"/>
            <a:r>
              <a:rPr lang="en-US" altLang="en-US" sz="2200" dirty="0" err="1"/>
              <a:t>nested_lists</a:t>
            </a:r>
            <a:r>
              <a:rPr lang="en-US" altLang="en-US" sz="2200" dirty="0"/>
              <a:t> = [[1,2],[3,4],[5,6]]</a:t>
            </a:r>
          </a:p>
          <a:p>
            <a:pPr lvl="1"/>
            <a:r>
              <a:rPr lang="en-US" altLang="en-US" sz="2200" dirty="0"/>
              <a:t>And anything in between </a:t>
            </a:r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0809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to create a list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/>
              <a:t>Empty list: </a:t>
            </a:r>
            <a:r>
              <a:rPr lang="en-US" altLang="en-US" sz="2400" dirty="0" err="1"/>
              <a:t>lst_name</a:t>
            </a:r>
            <a:r>
              <a:rPr lang="en-US" altLang="en-US" sz="2400" dirty="0"/>
              <a:t> = [ ]</a:t>
            </a:r>
          </a:p>
          <a:p>
            <a:pPr eaLnBrk="1" hangingPunct="1"/>
            <a:r>
              <a:rPr lang="en-US" altLang="en-US" sz="2400" dirty="0"/>
              <a:t>A list of values: </a:t>
            </a:r>
            <a:r>
              <a:rPr lang="en-US" altLang="en-US" sz="2400" dirty="0" err="1"/>
              <a:t>lst_gpas</a:t>
            </a:r>
            <a:r>
              <a:rPr lang="en-US" altLang="en-US" sz="2400" dirty="0"/>
              <a:t> = [3.5, 4, 2.5]</a:t>
            </a:r>
          </a:p>
          <a:p>
            <a:pPr eaLnBrk="1" hangingPunct="1"/>
            <a:r>
              <a:rPr lang="en-US" altLang="en-US" sz="2400" dirty="0"/>
              <a:t>By splitting a string: </a:t>
            </a:r>
          </a:p>
          <a:p>
            <a:pPr lvl="1"/>
            <a:r>
              <a:rPr lang="en-US" altLang="en-US" sz="2200" dirty="0"/>
              <a:t>sentence = ‘I love programming’</a:t>
            </a:r>
          </a:p>
          <a:p>
            <a:pPr lvl="1"/>
            <a:r>
              <a:rPr lang="en-US" altLang="en-US" sz="2200" dirty="0" err="1"/>
              <a:t>list_words</a:t>
            </a:r>
            <a:r>
              <a:rPr lang="en-US" altLang="en-US" sz="2200" dirty="0"/>
              <a:t> = </a:t>
            </a:r>
            <a:r>
              <a:rPr lang="en-US" altLang="en-US" sz="2200" dirty="0" err="1"/>
              <a:t>sentence.split</a:t>
            </a:r>
            <a:r>
              <a:rPr lang="en-US" altLang="en-US" sz="2200" dirty="0"/>
              <a:t>()   # it splits by spaces by default</a:t>
            </a:r>
          </a:p>
          <a:p>
            <a:pPr lvl="1"/>
            <a:r>
              <a:rPr lang="en-US" altLang="en-US" sz="2200" dirty="0"/>
              <a:t>print(</a:t>
            </a:r>
            <a:r>
              <a:rPr lang="en-US" altLang="en-US" sz="2200" dirty="0" err="1"/>
              <a:t>list_words</a:t>
            </a:r>
            <a:r>
              <a:rPr lang="en-US" altLang="en-US" sz="2200" dirty="0"/>
              <a:t>) 		</a:t>
            </a:r>
            <a:r>
              <a:rPr lang="en-US" altLang="en-US" sz="2200" dirty="0">
                <a:sym typeface="Wingdings" pitchFamily="2" charset="2"/>
              </a:rPr>
              <a:t> [‘1’, ‘love’, ’programming’]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19180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What are lists operators?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r>
              <a:rPr lang="en-US" altLang="en-US" sz="2400" dirty="0"/>
              <a:t>Lists indexing – similar to string indexing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 = [20,25,19,22]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[0] = 20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[-1] = 22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[2] = 19</a:t>
            </a:r>
          </a:p>
          <a:p>
            <a:r>
              <a:rPr lang="en-US" altLang="en-US" sz="2400" dirty="0"/>
              <a:t>Lists slicing – similar to string slicing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[:2]  = [20, 25], indices 0,1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[1:] = [25, 19, 22], indices 1,2,3</a:t>
            </a:r>
          </a:p>
          <a:p>
            <a:pPr lvl="1"/>
            <a:r>
              <a:rPr lang="en-US" altLang="en-US" sz="2200" dirty="0" err="1"/>
              <a:t>lst_ages</a:t>
            </a:r>
            <a:r>
              <a:rPr lang="en-US" altLang="en-US" sz="2200" dirty="0"/>
              <a:t>[1:3] = [25,19] </a:t>
            </a:r>
            <a:r>
              <a:rPr lang="en-US" altLang="en-US" sz="2200" dirty="0" err="1"/>
              <a:t>indixes</a:t>
            </a:r>
            <a:r>
              <a:rPr lang="en-US" altLang="en-US" sz="2200" dirty="0"/>
              <a:t> 1,2</a:t>
            </a:r>
          </a:p>
        </p:txBody>
      </p:sp>
    </p:spTree>
    <p:extLst>
      <p:ext uri="{BB962C8B-B14F-4D97-AF65-F5344CB8AC3E}">
        <p14:creationId xmlns:p14="http://schemas.microsoft.com/office/powerpoint/2010/main" val="402722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What are lists operators?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r>
              <a:rPr lang="en-US" altLang="en-US" sz="2200" dirty="0"/>
              <a:t>+ operator = concatenates two lists</a:t>
            </a:r>
          </a:p>
          <a:p>
            <a:pPr lvl="1"/>
            <a:r>
              <a:rPr lang="en-US" altLang="en-US" sz="2000" dirty="0"/>
              <a:t>lst1 = [1,2,3]</a:t>
            </a:r>
          </a:p>
          <a:p>
            <a:pPr lvl="1"/>
            <a:r>
              <a:rPr lang="en-US" altLang="en-US" sz="2000" dirty="0"/>
              <a:t>lst2 = [4,5,6]</a:t>
            </a:r>
          </a:p>
          <a:p>
            <a:pPr lvl="1"/>
            <a:r>
              <a:rPr lang="en-US" altLang="en-US" sz="2000" dirty="0" err="1"/>
              <a:t>lst_all</a:t>
            </a:r>
            <a:r>
              <a:rPr lang="en-US" altLang="en-US" sz="2000" dirty="0"/>
              <a:t> = lst1 + lst2			</a:t>
            </a:r>
            <a:r>
              <a:rPr lang="en-US" altLang="en-US" sz="2000" dirty="0" err="1"/>
              <a:t>lst_all</a:t>
            </a:r>
            <a:r>
              <a:rPr lang="en-US" altLang="en-US" sz="2000" dirty="0"/>
              <a:t> = [1, 2, 3, 4, 5, 6]</a:t>
            </a:r>
          </a:p>
          <a:p>
            <a:r>
              <a:rPr lang="en-US" altLang="en-US" sz="2200" dirty="0"/>
              <a:t>* operator between a list and a integer </a:t>
            </a:r>
          </a:p>
          <a:p>
            <a:pPr lvl="1"/>
            <a:r>
              <a:rPr lang="en-US" altLang="en-US" sz="2000" dirty="0" err="1"/>
              <a:t>lst</a:t>
            </a:r>
            <a:r>
              <a:rPr lang="en-US" altLang="en-US" sz="2000" dirty="0"/>
              <a:t> = [1,2]</a:t>
            </a:r>
          </a:p>
          <a:p>
            <a:pPr lvl="1"/>
            <a:r>
              <a:rPr lang="en-US" altLang="en-US" sz="2000" dirty="0" err="1"/>
              <a:t>lst_all</a:t>
            </a:r>
            <a:r>
              <a:rPr lang="en-US" altLang="en-US" sz="2000" dirty="0"/>
              <a:t> = </a:t>
            </a:r>
            <a:r>
              <a:rPr lang="en-US" altLang="en-US" sz="2000" dirty="0" err="1"/>
              <a:t>lst</a:t>
            </a:r>
            <a:r>
              <a:rPr lang="en-US" altLang="en-US" sz="2000" dirty="0"/>
              <a:t> * 3 				</a:t>
            </a:r>
            <a:r>
              <a:rPr lang="en-US" altLang="en-US" sz="2000" dirty="0" err="1"/>
              <a:t>lst_all</a:t>
            </a:r>
            <a:r>
              <a:rPr lang="en-US" altLang="en-US" sz="2000" dirty="0"/>
              <a:t> = [1,2,1,2,1,2]</a:t>
            </a:r>
          </a:p>
        </p:txBody>
      </p:sp>
    </p:spTree>
    <p:extLst>
      <p:ext uri="{BB962C8B-B14F-4D97-AF65-F5344CB8AC3E}">
        <p14:creationId xmlns:p14="http://schemas.microsoft.com/office/powerpoint/2010/main" val="405043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Can Lists be changed?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289654" y="1650426"/>
            <a:ext cx="6819889" cy="54056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Yes, lists are MUTABLE objects in Python. </a:t>
            </a:r>
          </a:p>
          <a:p>
            <a:pPr eaLnBrk="1" hangingPunct="1"/>
            <a:endParaRPr lang="en-US" altLang="en-US" sz="2400" b="1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2400" dirty="0"/>
              <a:t>	Change an item in a list by index </a:t>
            </a:r>
            <a:r>
              <a:rPr lang="en-US" altLang="en-US" sz="2400" dirty="0">
                <a:solidFill>
                  <a:srgbClr val="00B050"/>
                </a:solidFill>
              </a:rPr>
              <a:t>(1)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      Remove an item from a list: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		Remove by value	</a:t>
            </a:r>
            <a:r>
              <a:rPr lang="en-US" altLang="en-US" sz="2400" dirty="0" err="1"/>
              <a:t>lst.remove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item_value</a:t>
            </a:r>
            <a:r>
              <a:rPr lang="en-US" altLang="en-US" sz="2400" dirty="0"/>
              <a:t>) </a:t>
            </a:r>
            <a:r>
              <a:rPr lang="en-US" altLang="en-US" sz="2400" dirty="0">
                <a:solidFill>
                  <a:srgbClr val="00B050"/>
                </a:solidFill>
              </a:rPr>
              <a:t>(2)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  		Remove by index	</a:t>
            </a:r>
            <a:r>
              <a:rPr lang="en-US" altLang="en-US" sz="2400" dirty="0" err="1"/>
              <a:t>lst.pop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item_index</a:t>
            </a:r>
            <a:r>
              <a:rPr lang="en-US" altLang="en-US" sz="2400" dirty="0"/>
              <a:t>) </a:t>
            </a:r>
            <a:r>
              <a:rPr lang="en-US" altLang="en-US" sz="2400" dirty="0">
                <a:solidFill>
                  <a:srgbClr val="00B050"/>
                </a:solidFill>
              </a:rPr>
              <a:t>(3)</a:t>
            </a:r>
          </a:p>
          <a:p>
            <a:pPr marL="594000" lvl="2" indent="0">
              <a:buNone/>
            </a:pPr>
            <a:r>
              <a:rPr lang="en-US" altLang="en-US" sz="2400" dirty="0"/>
              <a:t>Remove more than one item: del </a:t>
            </a:r>
            <a:r>
              <a:rPr lang="en-US" altLang="en-US" sz="2400" dirty="0" err="1"/>
              <a:t>lst</a:t>
            </a:r>
            <a:r>
              <a:rPr lang="en-US" altLang="en-US" sz="2400" dirty="0"/>
              <a:t>[index]</a:t>
            </a:r>
          </a:p>
          <a:p>
            <a:pPr marL="594000" lvl="2" indent="0">
              <a:buNone/>
            </a:pPr>
            <a:r>
              <a:rPr lang="en-US" altLang="en-US" sz="2400" dirty="0"/>
              <a:t>							       del </a:t>
            </a:r>
            <a:r>
              <a:rPr lang="en-US" altLang="en-US" sz="2400" dirty="0" err="1"/>
              <a:t>lst</a:t>
            </a:r>
            <a:r>
              <a:rPr lang="en-US" altLang="en-US" sz="2400" dirty="0"/>
              <a:t>[slice]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4F5B4-ED7C-8A7C-A504-68D6A0FA691C}"/>
              </a:ext>
            </a:extLst>
          </p:cNvPr>
          <p:cNvSpPr txBox="1"/>
          <p:nvPr/>
        </p:nvSpPr>
        <p:spPr>
          <a:xfrm>
            <a:off x="7304688" y="2013221"/>
            <a:ext cx="3405351" cy="14773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[1,2,3,4]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= ‘*’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[1, '*', 3, 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D79D5-EDF0-3618-0DDD-E54B1E57EA6F}"/>
              </a:ext>
            </a:extLst>
          </p:cNvPr>
          <p:cNvSpPr txBox="1"/>
          <p:nvPr/>
        </p:nvSpPr>
        <p:spPr>
          <a:xfrm>
            <a:off x="7304688" y="3614606"/>
            <a:ext cx="3405351" cy="14773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[1,’*’,3,4]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lst.remove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(‘*’)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[1,3, 4]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A695F-B88E-9BF0-06DC-5D66BC1AA0A7}"/>
              </a:ext>
            </a:extLst>
          </p:cNvPr>
          <p:cNvSpPr txBox="1"/>
          <p:nvPr/>
        </p:nvSpPr>
        <p:spPr>
          <a:xfrm>
            <a:off x="7304688" y="5277540"/>
            <a:ext cx="3405351" cy="14773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[1,’*’,3,4]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lst.pop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[1,3,4]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6922E2-47AB-D146-F1E6-E58E98CCB67C}"/>
              </a:ext>
            </a:extLst>
          </p:cNvPr>
          <p:cNvSpPr/>
          <p:nvPr/>
        </p:nvSpPr>
        <p:spPr>
          <a:xfrm>
            <a:off x="10045338" y="2248415"/>
            <a:ext cx="469557" cy="50347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19B998-BD47-53EB-F1A1-13E204BD8002}"/>
              </a:ext>
            </a:extLst>
          </p:cNvPr>
          <p:cNvSpPr/>
          <p:nvPr/>
        </p:nvSpPr>
        <p:spPr>
          <a:xfrm>
            <a:off x="10092778" y="3775803"/>
            <a:ext cx="469557" cy="50347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C68CB2-98F6-5130-0C9E-90C1FF63EA84}"/>
              </a:ext>
            </a:extLst>
          </p:cNvPr>
          <p:cNvSpPr/>
          <p:nvPr/>
        </p:nvSpPr>
        <p:spPr>
          <a:xfrm>
            <a:off x="10079716" y="5463450"/>
            <a:ext cx="469557" cy="50347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55143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Can Strings be changed?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753547" y="1828801"/>
            <a:ext cx="10143668" cy="210913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No, strings are IMMUTABLE objects in Python</a:t>
            </a:r>
          </a:p>
          <a:p>
            <a:pPr lvl="1"/>
            <a:r>
              <a:rPr lang="en-US" altLang="en-US" sz="2200" dirty="0">
                <a:solidFill>
                  <a:schemeClr val="tx1"/>
                </a:solidFill>
              </a:rPr>
              <a:t>Characters in a string cannot be changed or deleted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75F8A-2EC3-EE1B-FB42-F5C94650F9E0}"/>
              </a:ext>
            </a:extLst>
          </p:cNvPr>
          <p:cNvSpPr txBox="1"/>
          <p:nvPr/>
        </p:nvSpPr>
        <p:spPr>
          <a:xfrm>
            <a:off x="808638" y="3154009"/>
            <a:ext cx="11032525" cy="1785104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 = 'ABBCD'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str[2] = '*'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print(str)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ERROR!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'str' object does not support item assignment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35C6C-4964-46B7-2416-D50AC9EB77F2}"/>
              </a:ext>
            </a:extLst>
          </p:cNvPr>
          <p:cNvSpPr txBox="1"/>
          <p:nvPr/>
        </p:nvSpPr>
        <p:spPr>
          <a:xfrm>
            <a:off x="753547" y="5029612"/>
            <a:ext cx="11032525" cy="1785104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 = 'ABBCD'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 = str[:2] +'*' + str[3:]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print(str)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AB*CD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784DB-6E72-81EC-E7E6-8026F71FA26C}"/>
              </a:ext>
            </a:extLst>
          </p:cNvPr>
          <p:cNvSpPr txBox="1"/>
          <p:nvPr/>
        </p:nvSpPr>
        <p:spPr>
          <a:xfrm>
            <a:off x="6324899" y="5706721"/>
            <a:ext cx="52416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Change strings by creating new strings</a:t>
            </a:r>
          </a:p>
        </p:txBody>
      </p:sp>
    </p:spTree>
    <p:extLst>
      <p:ext uri="{BB962C8B-B14F-4D97-AF65-F5344CB8AC3E}">
        <p14:creationId xmlns:p14="http://schemas.microsoft.com/office/powerpoint/2010/main" val="1264133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Lists functions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1214486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 err="1">
                <a:solidFill>
                  <a:srgbClr val="FF0000"/>
                </a:solidFill>
              </a:rPr>
              <a:t>len</a:t>
            </a:r>
            <a:r>
              <a:rPr lang="en-US" altLang="en-US" sz="2400" dirty="0">
                <a:solidFill>
                  <a:srgbClr val="FF0000"/>
                </a:solidFill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</a:rPr>
              <a:t>list_name</a:t>
            </a:r>
            <a:r>
              <a:rPr lang="en-US" altLang="en-US" sz="2400" dirty="0">
                <a:solidFill>
                  <a:srgbClr val="FF0000"/>
                </a:solidFill>
              </a:rPr>
              <a:t>) -&gt; returns the number of items in a list</a:t>
            </a:r>
          </a:p>
          <a:p>
            <a:pPr eaLnBrk="1" hangingPunct="1"/>
            <a:r>
              <a:rPr lang="en-US" altLang="en-US" sz="2400" dirty="0"/>
              <a:t>min(</a:t>
            </a:r>
            <a:r>
              <a:rPr lang="en-US" altLang="en-US" sz="2400" dirty="0" err="1"/>
              <a:t>list_name</a:t>
            </a:r>
            <a:r>
              <a:rPr lang="en-US" altLang="en-US" sz="2400" dirty="0"/>
              <a:t>) -&gt; returns the minimum value in a list - </a:t>
            </a:r>
            <a:r>
              <a:rPr lang="en-US" altLang="en-US" sz="2400" dirty="0">
                <a:solidFill>
                  <a:srgbClr val="FF0000"/>
                </a:solidFill>
              </a:rPr>
              <a:t>– we will not use it in CSC</a:t>
            </a:r>
          </a:p>
          <a:p>
            <a:pPr eaLnBrk="1" hangingPunct="1"/>
            <a:r>
              <a:rPr lang="en-US" altLang="en-US" sz="2400" dirty="0"/>
              <a:t>max(</a:t>
            </a:r>
            <a:r>
              <a:rPr lang="en-US" altLang="en-US" sz="2400" dirty="0" err="1"/>
              <a:t>list_name</a:t>
            </a:r>
            <a:r>
              <a:rPr lang="en-US" altLang="en-US" sz="2400" dirty="0"/>
              <a:t>) -&gt; returns the maximum value in a list </a:t>
            </a:r>
            <a:r>
              <a:rPr lang="en-US" altLang="en-US" sz="2400" dirty="0">
                <a:solidFill>
                  <a:srgbClr val="FF0000"/>
                </a:solidFill>
              </a:rPr>
              <a:t>– we will not use it in CSC 15. </a:t>
            </a:r>
            <a:endParaRPr lang="en-US" altLang="en-US" sz="2400" dirty="0"/>
          </a:p>
          <a:p>
            <a:r>
              <a:rPr lang="en-US" altLang="en-US" sz="2400" dirty="0" err="1"/>
              <a:t>list_name,sort</a:t>
            </a:r>
            <a:r>
              <a:rPr lang="en-US" altLang="en-US" sz="2400" dirty="0"/>
              <a:t>() -&gt; sorts  items in a list </a:t>
            </a:r>
            <a:r>
              <a:rPr lang="en-US" altLang="en-US" sz="2400" dirty="0">
                <a:solidFill>
                  <a:srgbClr val="FF0000"/>
                </a:solidFill>
              </a:rPr>
              <a:t>– we will not use it in CSC 15.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92543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Lists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are lists?</a:t>
            </a:r>
          </a:p>
          <a:p>
            <a:pPr eaLnBrk="1" hangingPunct="1"/>
            <a:r>
              <a:rPr lang="en-US" altLang="en-US" sz="2600" dirty="0"/>
              <a:t>How to create a list</a:t>
            </a:r>
          </a:p>
          <a:p>
            <a:pPr eaLnBrk="1" hangingPunct="1"/>
            <a:r>
              <a:rPr lang="en-US" altLang="en-US" sz="2600" dirty="0"/>
              <a:t>What are lists operators?</a:t>
            </a:r>
          </a:p>
          <a:p>
            <a:pPr lvl="1"/>
            <a:r>
              <a:rPr lang="en-US" altLang="en-US" sz="2200" dirty="0"/>
              <a:t>Lists indexing</a:t>
            </a:r>
          </a:p>
          <a:p>
            <a:pPr lvl="1"/>
            <a:r>
              <a:rPr lang="en-US" altLang="en-US" sz="2200" dirty="0"/>
              <a:t>Lists slicing</a:t>
            </a:r>
          </a:p>
          <a:p>
            <a:r>
              <a:rPr lang="en-US" altLang="en-US" sz="2400" dirty="0"/>
              <a:t>Can lists be changed?</a:t>
            </a:r>
          </a:p>
          <a:p>
            <a:r>
              <a:rPr lang="en-US" altLang="en-US" sz="2400" dirty="0"/>
              <a:t>Lists functions?</a:t>
            </a:r>
          </a:p>
        </p:txBody>
      </p:sp>
    </p:spTree>
    <p:extLst>
      <p:ext uri="{BB962C8B-B14F-4D97-AF65-F5344CB8AC3E}">
        <p14:creationId xmlns:p14="http://schemas.microsoft.com/office/powerpoint/2010/main" val="115427733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7702</TotalTime>
  <Words>718</Words>
  <Application>Microsoft Macintosh PowerPoint</Application>
  <PresentationFormat>Widescreen</PresentationFormat>
  <Paragraphs>99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Courier New</vt:lpstr>
      <vt:lpstr>Gill Sans MT</vt:lpstr>
      <vt:lpstr>Wingdings</vt:lpstr>
      <vt:lpstr>Wingdings 2</vt:lpstr>
      <vt:lpstr>Dividend</vt:lpstr>
      <vt:lpstr>Week 4: Lists</vt:lpstr>
      <vt:lpstr>Lists</vt:lpstr>
      <vt:lpstr>What are Lists?</vt:lpstr>
      <vt:lpstr>How to create a list</vt:lpstr>
      <vt:lpstr>What are lists operators?</vt:lpstr>
      <vt:lpstr>What are lists operators?</vt:lpstr>
      <vt:lpstr>Can Lists be changed?</vt:lpstr>
      <vt:lpstr>Can Strings be changed?</vt:lpstr>
      <vt:lpstr>Lists functions</vt:lpstr>
      <vt:lpstr>Lists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3</cp:revision>
  <cp:lastPrinted>2025-09-22T14:32:14Z</cp:lastPrinted>
  <dcterms:created xsi:type="dcterms:W3CDTF">2025-09-18T14:29:41Z</dcterms:created>
  <dcterms:modified xsi:type="dcterms:W3CDTF">2025-09-23T22:51:52Z</dcterms:modified>
</cp:coreProperties>
</file>