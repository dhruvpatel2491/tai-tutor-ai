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aleway"/>
      <p:regular r:id="rId15"/>
      <p:bold r:id="rId16"/>
      <p:italic r:id="rId17"/>
      <p:boldItalic r:id="rId18"/>
    </p:embeddedFont>
    <p:embeddedFont>
      <p:font typeface="La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11" Type="http://schemas.openxmlformats.org/officeDocument/2006/relationships/slide" Target="slides/slide6.xml"/><Relationship Id="rId22" Type="http://schemas.openxmlformats.org/officeDocument/2006/relationships/font" Target="fonts/Lato-boldItalic.fntdata"/><Relationship Id="rId10" Type="http://schemas.openxmlformats.org/officeDocument/2006/relationships/slide" Target="slides/slide5.xml"/><Relationship Id="rId21" Type="http://schemas.openxmlformats.org/officeDocument/2006/relationships/font" Target="fonts/La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regular.fntdata"/><Relationship Id="rId14" Type="http://schemas.openxmlformats.org/officeDocument/2006/relationships/slide" Target="slides/slide9.xml"/><Relationship Id="rId17" Type="http://schemas.openxmlformats.org/officeDocument/2006/relationships/font" Target="fonts/Raleway-italic.fntdata"/><Relationship Id="rId16" Type="http://schemas.openxmlformats.org/officeDocument/2006/relationships/font" Target="fonts/Raleway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regular.fntdata"/><Relationship Id="rId6" Type="http://schemas.openxmlformats.org/officeDocument/2006/relationships/slide" Target="slides/slide1.xml"/><Relationship Id="rId18" Type="http://schemas.openxmlformats.org/officeDocument/2006/relationships/font" Target="fonts/Raleway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britannica.com/topic/Caesar-cipher" TargetMode="Externa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83fa8eb5a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83fa8eb5a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https://www.britannica.com/topic/Caesar-cipher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83fa8eb5a6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83fa8eb5a6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https://www.geeksforgeeks.org/ethical-hacking/caesar-cipher-in-cryptography/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83fa8eb5a6_1_3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83fa8eb5a6_1_3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83fa8eb5a6_1_3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83fa8eb5a6_1_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83fa8eb5a6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83fa8eb5a6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83fa8eb5a6_1_3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83fa8eb5a6_1_3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83fa8eb5a6_1_3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83fa8eb5a6_1_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83fa8eb5a6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83fa8eb5a6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4.png"/><Relationship Id="rId6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www.splunk.com/en_us/blog/learn/caesar-cipher.html" TargetMode="External"/><Relationship Id="rId4" Type="http://schemas.openxmlformats.org/officeDocument/2006/relationships/hyperlink" Target="https://www.geeksforgeeks.org/ethical-hacking/caesar-cipher-in-cryptography/" TargetMode="External"/><Relationship Id="rId9" Type="http://schemas.openxmlformats.org/officeDocument/2006/relationships/hyperlink" Target="https://garantir.io/the-caesar-cipher-vs-modern-cryptography-from-ancient-secrets-to-quantum-proof-encryption/" TargetMode="External"/><Relationship Id="rId5" Type="http://schemas.openxmlformats.org/officeDocument/2006/relationships/hyperlink" Target="https://courses.cs.washington.edu/courses/cse490h1/19wi/exhibit/artifacts/crypto.pdf" TargetMode="External"/><Relationship Id="rId6" Type="http://schemas.openxmlformats.org/officeDocument/2006/relationships/hyperlink" Target="https://antigonejournal.com/2021/09/cracking-caesar-cipher/" TargetMode="External"/><Relationship Id="rId7" Type="http://schemas.openxmlformats.org/officeDocument/2006/relationships/hyperlink" Target="http://rot13.com/" TargetMode="External"/><Relationship Id="rId8" Type="http://schemas.openxmlformats.org/officeDocument/2006/relationships/hyperlink" Target="https://medium.com/@cybertec/encryption-through-the-ages-from-caesar-to-quantum-1b3045bc767d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Caesar</a:t>
            </a:r>
            <a:r>
              <a:rPr lang="en"/>
              <a:t> Cipher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By: Tajae Richards, Sukhjot Singh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History of the </a:t>
            </a:r>
            <a:r>
              <a:rPr lang="en"/>
              <a:t>Caesar</a:t>
            </a:r>
            <a:r>
              <a:rPr lang="en"/>
              <a:t> Cipher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Invented by Julius </a:t>
            </a:r>
            <a:r>
              <a:rPr lang="en" sz="1500"/>
              <a:t>Caesar - Approximately 58 BC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Utilized in his military campaigns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Acknowledged as one of the earliest methods of encryption 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It was also used by other military leaders</a:t>
            </a:r>
            <a:endParaRPr sz="1500"/>
          </a:p>
        </p:txBody>
      </p:sp>
      <p:pic>
        <p:nvPicPr>
          <p:cNvPr id="94" name="Google Shape;9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0729" y="610625"/>
            <a:ext cx="2085925" cy="2743726"/>
          </a:xfrm>
          <a:prstGeom prst="rect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5" name="Google Shape;9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56550" y="3599075"/>
            <a:ext cx="3190100" cy="1334500"/>
          </a:xfrm>
          <a:prstGeom prst="rect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Encryption/Decryption Method</a:t>
            </a:r>
            <a:endParaRPr/>
          </a:p>
        </p:txBody>
      </p:sp>
      <p:sp>
        <p:nvSpPr>
          <p:cNvPr id="101" name="Google Shape;101;p15"/>
          <p:cNvSpPr txBox="1"/>
          <p:nvPr>
            <p:ph idx="1" type="body"/>
          </p:nvPr>
        </p:nvSpPr>
        <p:spPr>
          <a:xfrm>
            <a:off x="424150" y="2078875"/>
            <a:ext cx="7688700" cy="294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A Simple S</a:t>
            </a:r>
            <a:r>
              <a:rPr b="1" lang="en" sz="1500"/>
              <a:t>ubstitution</a:t>
            </a:r>
            <a:r>
              <a:rPr b="1" lang="en" sz="1500"/>
              <a:t> Method:</a:t>
            </a:r>
            <a:endParaRPr b="1" sz="1500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Each letter in a message is shifted a set amount  in the alphabet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Shift </a:t>
            </a:r>
            <a:r>
              <a:rPr lang="en" sz="1500"/>
              <a:t>is the number of letters being moved down the alphabet 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Assign each letter in the alphabet with a number starting from A = 0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Decryption:</a:t>
            </a:r>
            <a:endParaRPr sz="1500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To decrypt a </a:t>
            </a:r>
            <a:r>
              <a:rPr lang="en" sz="1500"/>
              <a:t>caesar</a:t>
            </a:r>
            <a:r>
              <a:rPr lang="en" sz="1500"/>
              <a:t> ciphered text you must move up the alphabet by the shift value </a:t>
            </a:r>
            <a:endParaRPr b="1" sz="1500"/>
          </a:p>
        </p:txBody>
      </p:sp>
      <p:pic>
        <p:nvPicPr>
          <p:cNvPr id="102" name="Google Shape;102;p15"/>
          <p:cNvPicPr preferRelativeResize="0"/>
          <p:nvPr/>
        </p:nvPicPr>
        <p:blipFill rotWithShape="1">
          <a:blip r:embed="rId3">
            <a:alphaModFix/>
          </a:blip>
          <a:srcRect b="0" l="0" r="30483" t="0"/>
          <a:stretch/>
        </p:blipFill>
        <p:spPr>
          <a:xfrm>
            <a:off x="5453406" y="574308"/>
            <a:ext cx="3608394" cy="893325"/>
          </a:xfrm>
          <a:prstGeom prst="rect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Applications of the Cipher </a:t>
            </a:r>
            <a:endParaRPr/>
          </a:p>
        </p:txBody>
      </p:sp>
      <p:sp>
        <p:nvSpPr>
          <p:cNvPr id="108" name="Google Shape;108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Not used for serious encryption today</a:t>
            </a:r>
            <a:endParaRPr b="1"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Early used to secure military operations 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Foundation for </a:t>
            </a:r>
            <a:r>
              <a:rPr lang="en" sz="1500"/>
              <a:t>cryptography</a:t>
            </a:r>
            <a:r>
              <a:rPr lang="en" sz="1500"/>
              <a:t>  and encryption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Used in education for basics of </a:t>
            </a:r>
            <a:r>
              <a:rPr lang="en" sz="1500"/>
              <a:t>cryptography</a:t>
            </a:r>
            <a:endParaRPr sz="1500"/>
          </a:p>
        </p:txBody>
      </p:sp>
      <p:pic>
        <p:nvPicPr>
          <p:cNvPr id="109" name="Google Shape;10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7045" y="455695"/>
            <a:ext cx="2261100" cy="226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78375" y="3205600"/>
            <a:ext cx="2618448" cy="1472874"/>
          </a:xfrm>
          <a:prstGeom prst="rect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days of the Caesar Cipher </a:t>
            </a:r>
            <a:endParaRPr/>
          </a:p>
        </p:txBody>
      </p:sp>
      <p:sp>
        <p:nvSpPr>
          <p:cNvPr id="116" name="Google Shape;116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Due to ease of decryption, a new variation being made:</a:t>
            </a:r>
            <a:endParaRPr sz="15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The </a:t>
            </a:r>
            <a:r>
              <a:rPr lang="en" sz="1300"/>
              <a:t>Caesar</a:t>
            </a:r>
            <a:r>
              <a:rPr lang="en" sz="1300"/>
              <a:t> Cipher became outdated during the mid 15th century (for serious use)</a:t>
            </a:r>
            <a:endParaRPr sz="13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The cipher is easily decrypted:</a:t>
            </a:r>
            <a:endParaRPr sz="15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Frequency-Analysis </a:t>
            </a:r>
            <a:r>
              <a:rPr lang="en" sz="1300"/>
              <a:t>method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Only has 26 possible shifts</a:t>
            </a:r>
            <a:endParaRPr sz="13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 new variation was made:</a:t>
            </a:r>
            <a:endParaRPr sz="15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Giovan Battista Bellaso created a more secure variation of the caesar cipher (Vigenère cipher)</a:t>
            </a:r>
            <a:endParaRPr sz="1400"/>
          </a:p>
        </p:txBody>
      </p:sp>
      <p:pic>
        <p:nvPicPr>
          <p:cNvPr id="117" name="Google Shape;11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29700" y="382325"/>
            <a:ext cx="1391175" cy="1915675"/>
          </a:xfrm>
          <a:prstGeom prst="rect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Evolution of the </a:t>
            </a:r>
            <a:r>
              <a:rPr lang="en"/>
              <a:t>Caesar</a:t>
            </a:r>
            <a:r>
              <a:rPr lang="en"/>
              <a:t> Cipher</a:t>
            </a:r>
            <a:endParaRPr/>
          </a:p>
        </p:txBody>
      </p:sp>
      <p:sp>
        <p:nvSpPr>
          <p:cNvPr id="123" name="Google Shape;123;p18"/>
          <p:cNvSpPr txBox="1"/>
          <p:nvPr>
            <p:ph idx="1" type="body"/>
          </p:nvPr>
        </p:nvSpPr>
        <p:spPr>
          <a:xfrm>
            <a:off x="215100" y="2424750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817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5"/>
              <a:buChar char="●"/>
            </a:pPr>
            <a:r>
              <a:rPr lang="en" sz="1405"/>
              <a:t>Towards the middle of the 15th century:</a:t>
            </a:r>
            <a:endParaRPr sz="1405"/>
          </a:p>
          <a:p>
            <a:pPr indent="-317817" lvl="0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5"/>
              <a:buChar char="-"/>
            </a:pPr>
            <a:r>
              <a:rPr lang="en" sz="1405"/>
              <a:t>The once heavily triumphant Cipher developed by Julius Caesar become </a:t>
            </a:r>
            <a:r>
              <a:rPr lang="en" sz="1405"/>
              <a:t>obsolete</a:t>
            </a:r>
            <a:r>
              <a:rPr lang="en" sz="1405"/>
              <a:t> due to decryption methods like Frequency-Analysis</a:t>
            </a:r>
            <a:endParaRPr sz="1405"/>
          </a:p>
          <a:p>
            <a:pPr indent="-317817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5"/>
              <a:buChar char="●"/>
            </a:pPr>
            <a:r>
              <a:rPr lang="en" sz="1405"/>
              <a:t>A new Vigenere Cipher was developed as a result:</a:t>
            </a:r>
            <a:r>
              <a:rPr lang="en" sz="1405"/>
              <a:t> </a:t>
            </a:r>
            <a:endParaRPr sz="1405"/>
          </a:p>
          <a:p>
            <a:pPr indent="-317817" lvl="0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5"/>
              <a:buChar char="-"/>
            </a:pPr>
            <a:r>
              <a:rPr lang="en" sz="1405"/>
              <a:t>Multiple shifts were utilized instead of 1</a:t>
            </a:r>
            <a:endParaRPr sz="1405"/>
          </a:p>
          <a:p>
            <a:pPr indent="-317817" lvl="0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5"/>
              <a:buChar char="-"/>
            </a:pPr>
            <a:r>
              <a:rPr lang="en" sz="1405"/>
              <a:t>Polyalphabetic substitution:</a:t>
            </a:r>
            <a:endParaRPr sz="1405"/>
          </a:p>
          <a:p>
            <a:pPr indent="-317817" lvl="0" marL="13716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5"/>
              <a:buChar char="➢"/>
            </a:pPr>
            <a:r>
              <a:rPr lang="en" sz="1405"/>
              <a:t>The positioning of the same letter can encrypt to different letters</a:t>
            </a:r>
            <a:endParaRPr sz="1405"/>
          </a:p>
          <a:p>
            <a:pPr indent="-317817" lvl="0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5"/>
              <a:buChar char="-"/>
            </a:pPr>
            <a:r>
              <a:rPr lang="en" sz="1405"/>
              <a:t>Too many new possible keys to this cipher prevent the leading decryption methods to work                        </a:t>
            </a:r>
            <a:endParaRPr sz="140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23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40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405"/>
          </a:p>
        </p:txBody>
      </p:sp>
      <p:pic>
        <p:nvPicPr>
          <p:cNvPr id="124" name="Google Shape;12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6650" y="453950"/>
            <a:ext cx="3166800" cy="211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Modern Day Caesar Cipher </a:t>
            </a:r>
            <a:endParaRPr/>
          </a:p>
        </p:txBody>
      </p:sp>
      <p:sp>
        <p:nvSpPr>
          <p:cNvPr id="130" name="Google Shape;130;p19"/>
          <p:cNvSpPr txBox="1"/>
          <p:nvPr>
            <p:ph idx="1" type="body"/>
          </p:nvPr>
        </p:nvSpPr>
        <p:spPr>
          <a:xfrm>
            <a:off x="631900" y="2318300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400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03"/>
              <a:buChar char="●"/>
            </a:pPr>
            <a:r>
              <a:rPr lang="en" sz="1502"/>
              <a:t>Although the Caesar Cipher isn’t secure anymore, it still has practical </a:t>
            </a:r>
            <a:r>
              <a:rPr lang="en" sz="1502"/>
              <a:t>uses</a:t>
            </a:r>
            <a:r>
              <a:rPr lang="en" sz="1502"/>
              <a:t> today:</a:t>
            </a:r>
            <a:endParaRPr sz="1502"/>
          </a:p>
          <a:p>
            <a:pPr indent="-324008" lvl="0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03"/>
              <a:buChar char="-"/>
            </a:pPr>
            <a:r>
              <a:rPr lang="en" sz="1502"/>
              <a:t>ROT13 (Rotate by 13)</a:t>
            </a:r>
            <a:endParaRPr sz="1502"/>
          </a:p>
          <a:p>
            <a:pPr indent="-324008" lvl="0" marL="13716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03"/>
              <a:buChar char="➢"/>
            </a:pPr>
            <a:r>
              <a:rPr lang="en" sz="1502"/>
              <a:t>A version of the Caesar Cipher which shifts the letters in the Cipher 13 places</a:t>
            </a:r>
            <a:endParaRPr sz="1502"/>
          </a:p>
          <a:p>
            <a:pPr indent="-324008" lvl="0" marL="13716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03"/>
              <a:buChar char="➢"/>
            </a:pPr>
            <a:r>
              <a:rPr lang="en" sz="1502"/>
              <a:t>Applying the Cipher onto itself twice outputs the initial text (26 letters in the alphabet/13 places)</a:t>
            </a:r>
            <a:endParaRPr sz="1502"/>
          </a:p>
          <a:p>
            <a:pPr indent="-324008" lvl="0" marL="13716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03"/>
              <a:buChar char="➢"/>
            </a:pPr>
            <a:r>
              <a:rPr lang="en" sz="1502"/>
              <a:t>Is used in entertainment and media to lightly encrypt messages</a:t>
            </a:r>
            <a:endParaRPr sz="1502"/>
          </a:p>
          <a:p>
            <a:pPr indent="-32400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03"/>
              <a:buChar char="●"/>
            </a:pPr>
            <a:r>
              <a:rPr lang="en" sz="1502"/>
              <a:t>Used as an introduction to cryptography in computer programming </a:t>
            </a:r>
            <a:endParaRPr sz="1502"/>
          </a:p>
          <a:p>
            <a:pPr indent="-324008" lvl="0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03"/>
              <a:buChar char="-"/>
            </a:pPr>
            <a:r>
              <a:rPr lang="en" sz="1502"/>
              <a:t>User friendly and it remains a simple way to demonstrate the inner workings of ciphers</a:t>
            </a:r>
            <a:endParaRPr sz="1502"/>
          </a:p>
          <a:p>
            <a:pPr indent="-324008" lvl="0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03"/>
              <a:buChar char="-"/>
            </a:pPr>
            <a:r>
              <a:rPr lang="en" sz="1502"/>
              <a:t>http://rot13.com/</a:t>
            </a:r>
            <a:endParaRPr sz="1502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2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502"/>
          </a:p>
          <a:p>
            <a:pPr indent="0" lvl="0" marL="9144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502"/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1502"/>
          </a:p>
        </p:txBody>
      </p:sp>
      <p:pic>
        <p:nvPicPr>
          <p:cNvPr id="131" name="Google Shape;13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2775" y="776575"/>
            <a:ext cx="3415749" cy="154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Modern Day Implications</a:t>
            </a:r>
            <a:endParaRPr/>
          </a:p>
        </p:txBody>
      </p:sp>
      <p:sp>
        <p:nvSpPr>
          <p:cNvPr id="137" name="Google Shape;137;p20"/>
          <p:cNvSpPr txBox="1"/>
          <p:nvPr>
            <p:ph idx="1" type="body"/>
          </p:nvPr>
        </p:nvSpPr>
        <p:spPr>
          <a:xfrm>
            <a:off x="729450" y="21054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Laid the foundation for modern encryption</a:t>
            </a:r>
            <a:endParaRPr sz="1700"/>
          </a:p>
          <a:p>
            <a:pPr indent="-336550" lvl="0" marL="9144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Introduced the idea of key-based encryption </a:t>
            </a:r>
            <a:endParaRPr sz="1700"/>
          </a:p>
          <a:p>
            <a:pPr indent="-336550" lvl="0" marL="9144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Served as inspiration for modern day ciphers such as AES, RSA</a:t>
            </a:r>
            <a:endParaRPr sz="1700"/>
          </a:p>
          <a:p>
            <a:pPr indent="-336550" lvl="0" marL="9144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Encrypts everyday communication (emails, VPNS, messages)</a:t>
            </a:r>
            <a:endParaRPr sz="1700"/>
          </a:p>
          <a:p>
            <a:pPr indent="-336550" lvl="0" marL="9144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Encrypts online transactions (crypto, online shopping)</a:t>
            </a:r>
            <a:endParaRPr sz="1700"/>
          </a:p>
        </p:txBody>
      </p:sp>
      <p:pic>
        <p:nvPicPr>
          <p:cNvPr id="138" name="Google Shape;13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36093" y="784725"/>
            <a:ext cx="2517176" cy="160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32700" y="3883400"/>
            <a:ext cx="2374025" cy="118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4821" y="3697233"/>
            <a:ext cx="1373200" cy="137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31575" y="3716138"/>
            <a:ext cx="2374026" cy="1335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Works Cited:</a:t>
            </a:r>
            <a:endParaRPr/>
          </a:p>
        </p:txBody>
      </p:sp>
      <p:sp>
        <p:nvSpPr>
          <p:cNvPr id="147" name="Google Shape;147;p21"/>
          <p:cNvSpPr txBox="1"/>
          <p:nvPr>
            <p:ph idx="1" type="body"/>
          </p:nvPr>
        </p:nvSpPr>
        <p:spPr>
          <a:xfrm>
            <a:off x="481750" y="1853850"/>
            <a:ext cx="7688700" cy="290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www.splunk.com/en_us/blog/learn/caesar-cipher.html</a:t>
            </a:r>
            <a:r>
              <a:rPr lang="en">
                <a:solidFill>
                  <a:srgbClr val="000000"/>
                </a:solidFill>
              </a:rPr>
              <a:t>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www.geeksforgeeks.org/ethical-hacking/caesar-cipher-in-cryptography/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courses.cs.washington.edu/courses/cse490h1/19wi/exhibit/artifacts/crypto.pdf</a:t>
            </a:r>
            <a:r>
              <a:rPr lang="en">
                <a:solidFill>
                  <a:srgbClr val="000000"/>
                </a:solidFill>
              </a:rPr>
              <a:t>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accent5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antigonejournal.com/2021/09/cracking-caesar-cipher/</a:t>
            </a:r>
            <a:r>
              <a:rPr lang="en">
                <a:solidFill>
                  <a:srgbClr val="000000"/>
                </a:solidFill>
              </a:rPr>
              <a:t>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7"/>
              </a:rPr>
              <a:t>rot13.com/</a:t>
            </a:r>
            <a:r>
              <a:rPr lang="en">
                <a:solidFill>
                  <a:srgbClr val="000000"/>
                </a:solidFill>
              </a:rPr>
              <a:t>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accent5"/>
                </a:solidFill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medium.com/@cybertec/encryption-through-the-ages-from-caesar-to-quantum-1b3045bc767d</a:t>
            </a:r>
            <a:r>
              <a:rPr lang="en"/>
              <a:t>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9"/>
              </a:rPr>
              <a:t>garantir.io/the-caesar-cipher-vs-modern-cryptography-from-ancient-secrets-to-quantum-proof-encryption/</a:t>
            </a:r>
            <a:r>
              <a:rPr lang="en">
                <a:solidFill>
                  <a:srgbClr val="000000"/>
                </a:solidFill>
              </a:rPr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