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Space Grotesk Light"/>
      <p:regular r:id="rId20"/>
      <p:bold r:id="rId21"/>
    </p:embeddedFont>
    <p:embeddedFont>
      <p:font typeface="Space Grotesk Medium"/>
      <p:regular r:id="rId22"/>
      <p:bold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Light-regular.fntdata"/><Relationship Id="rId22" Type="http://schemas.openxmlformats.org/officeDocument/2006/relationships/font" Target="fonts/SpaceGroteskMedium-regular.fntdata"/><Relationship Id="rId21" Type="http://schemas.openxmlformats.org/officeDocument/2006/relationships/font" Target="fonts/SpaceGroteskLight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SpaceGrotesk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cb2b6048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6cb2b6048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cb2b604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6cb2b604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cb2b6048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cb2b6048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cb2b60482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6cb2b6048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6d0dc277c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6d0dc277c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d0dc277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6d0dc277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cb2b60482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6cb2b60482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cb2b60482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cb2b60482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6d0dc277c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6d0dc277c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d0dc277c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6d0dc277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d0dc277c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6d0dc277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6d0dc277c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6d0dc277c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cb2b60482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6cb2b60482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6cb2b60482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6cb2b60482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4" name="Google Shape;14;p2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15" name="Google Shape;15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23" name="Google Shape;23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31" name="Google Shape;31;p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41" name="Google Shape;41;p3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50" name="Google Shape;50;p3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" name="Google Shape;54;p4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55" name="Google Shape;55;p4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" name="Google Shape;59;p4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61" name="Google Shape;61;p4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4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67" name="Google Shape;67;p5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9" name="Google Shape;69;p5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70" name="Google Shape;70;p5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78" name="Google Shape;78;p5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81" name="Google Shape;81;p6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85" name="Google Shape;85;p6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1" name="Google Shape;91;p7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92" name="Google Shape;92;p7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99" name="Google Shape;99;p7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05" name="Google Shape;105;p7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7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9" name="Google Shape;109;p8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8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8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17" name="Google Shape;117;p8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8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0" name="Google Shape;120;p8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21" name="Google Shape;121;p8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4" name="Google Shape;124;p9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9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9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7" name="Google Shape;127;p9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8" name="Google Shape;128;p9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9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2" name="Google Shape;132;p9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" name="Google Shape;133;p9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34" name="Google Shape;134;p9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35" name="Google Shape;135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42" name="Google Shape;142;p9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43" name="Google Shape;143;p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51" name="Google Shape;151;p9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7" name="Google Shape;157;p10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9" name="Google Shape;159;p10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0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61" name="Google Shape;161;p10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162" name="Google Shape;162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9" name="Google Shape;169;p10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170" name="Google Shape;170;p10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1" name="Google Shape;171;p10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0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77" name="Google Shape;177;p10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178" name="Google Shape;178;p10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1" name="Google Shape;181;p10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2" name="Google Shape;182;p10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83" name="Google Shape;183;p10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7" name="Google Shape;187;p11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0" name="Google Shape;190;p11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1" name="Google Shape;191;p11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2" name="Google Shape;192;p11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5" name="Google Shape;195;p12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96" name="Google Shape;196;p12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7" name="Google Shape;197;p12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8" name="Google Shape;198;p12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199" name="Google Shape;199;p12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0" name="Google Shape;200;p12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12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2" name="Google Shape;202;p12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3" name="Google Shape;203;p12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04" name="Google Shape;204;p12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12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12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12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0" name="Google Shape;210;p12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12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2" name="Google Shape;212;p12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2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2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19" name="Google Shape;219;p13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20" name="Google Shape;220;p13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4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256" name="Google Shape;256;p14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58" name="Google Shape;258;p14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59" name="Google Shape;259;p14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4" name="Google Shape;264;p15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5" name="Google Shape;265;p15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66" name="Google Shape;266;p15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5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2" name="Google Shape;272;p15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5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78" name="Google Shape;278;p16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79" name="Google Shape;279;p16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280" name="Google Shape;280;p16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285" name="Google Shape;285;p1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7"/>
          <p:cNvPicPr preferRelativeResize="0"/>
          <p:nvPr/>
        </p:nvPicPr>
        <p:blipFill rotWithShape="1">
          <a:blip r:embed="rId2">
            <a:alphaModFix/>
          </a:blip>
          <a:srcRect b="48372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89" name="Google Shape;289;p17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1" name="Google Shape;291;p17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5" name="Google Shape;295;p17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6" name="Google Shape;296;p17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7" name="Google Shape;297;p17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98" name="Google Shape;298;p17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0" name="Google Shape;300;p17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1" name="Google Shape;301;p17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02" name="Google Shape;302;p17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3" name="Google Shape;303;p17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8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06" name="Google Shape;306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10" name="Google Shape;310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14" name="Google Shape;314;p18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17" name="Google Shape;317;p18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20" name="Google Shape;320;p18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1" name="Google Shape;321;p18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2" name="Google Shape;322;p18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23" name="Google Shape;323;p18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4" name="Google Shape;324;p18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5" name="Google Shape;325;p18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26" name="Google Shape;326;p18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19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29" name="Google Shape;329;p19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3" name="Google Shape;333;p19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34" name="Google Shape;334;p19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35" name="Google Shape;335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9"/>
          <p:cNvPicPr preferRelativeResize="0"/>
          <p:nvPr/>
        </p:nvPicPr>
        <p:blipFill rotWithShape="1">
          <a:blip r:embed="rId2">
            <a:alphaModFix/>
          </a:blip>
          <a:srcRect b="47660" l="8382" r="59408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/>
          <p:cNvPicPr preferRelativeResize="0"/>
          <p:nvPr/>
        </p:nvPicPr>
        <p:blipFill rotWithShape="1">
          <a:blip r:embed="rId4">
            <a:alphaModFix/>
          </a:blip>
          <a:srcRect b="0" l="6521" r="6520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6521" r="6520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19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45" name="Google Shape;345;p19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3" name="Google Shape;36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8" name="Google Shape;36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4" name="Google Shape;374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9" name="Google Shape;37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3" name="Google Shape;403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9" name="Google Shape;409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2" name="Google Shape;422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5" name="Google Shape;4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5" name="Google Shape;4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9" name="Google Shape;44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ebsco.com/research-starters/history/vigenere-cipher" TargetMode="External"/><Relationship Id="rId4" Type="http://schemas.openxmlformats.org/officeDocument/2006/relationships/hyperlink" Target="https://cangea.com/history-of-cryptography-the-vigenere-cipher/" TargetMode="External"/><Relationship Id="rId5" Type="http://schemas.openxmlformats.org/officeDocument/2006/relationships/hyperlink" Target="https://www.kaspersky.com/blog/vigenere-cipher-history/9802/" TargetMode="External"/><Relationship Id="rId6" Type="http://schemas.openxmlformats.org/officeDocument/2006/relationships/hyperlink" Target="https://lflank.wordpress.com/2025/02/18/the-vigenere-ciph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25"/>
              <a:t>Letting me talk about ciphers was a terrible idea</a:t>
            </a:r>
            <a:endParaRPr sz="1425"/>
          </a:p>
        </p:txBody>
      </p:sp>
      <p:sp>
        <p:nvSpPr>
          <p:cNvPr id="457" name="Google Shape;457;p41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</a:pPr>
            <a:r>
              <a:rPr lang="en"/>
              <a:t>HELLO EVERYONE!!!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/>
          <p:nvPr>
            <p:ph idx="4" type="title"/>
          </p:nvPr>
        </p:nvSpPr>
        <p:spPr>
          <a:xfrm>
            <a:off x="699974" y="734275"/>
            <a:ext cx="53424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VIGENERE CIPHER</a:t>
            </a:r>
            <a:endParaRPr/>
          </a:p>
        </p:txBody>
      </p:sp>
      <p:sp>
        <p:nvSpPr>
          <p:cNvPr id="463" name="Google Shape;463;p42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CSC 15 10/24/2025</a:t>
            </a:r>
            <a:endParaRPr/>
          </a:p>
        </p:txBody>
      </p:sp>
      <p:sp>
        <p:nvSpPr>
          <p:cNvPr id="464" name="Google Shape;464;p42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NOVA &amp; XAVIER</a:t>
            </a:r>
            <a:endParaRPr/>
          </a:p>
        </p:txBody>
      </p:sp>
      <p:sp>
        <p:nvSpPr>
          <p:cNvPr id="465" name="Google Shape;465;p42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</a:t>
            </a:r>
            <a:r>
              <a:rPr lang="en"/>
              <a:t>.k.a. “To the shock of nobody, another rotary/</a:t>
            </a:r>
            <a:r>
              <a:rPr lang="en"/>
              <a:t>substitution</a:t>
            </a:r>
            <a:r>
              <a:rPr lang="en"/>
              <a:t> cipher”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43"/>
          <p:cNvGrpSpPr/>
          <p:nvPr/>
        </p:nvGrpSpPr>
        <p:grpSpPr>
          <a:xfrm>
            <a:off x="243225" y="2826700"/>
            <a:ext cx="8648233" cy="2064200"/>
            <a:chOff x="243225" y="2826700"/>
            <a:chExt cx="8648233" cy="2064200"/>
          </a:xfrm>
        </p:grpSpPr>
        <p:sp>
          <p:nvSpPr>
            <p:cNvPr id="471" name="Google Shape;471;p43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72" name="Google Shape;472;p43"/>
            <p:cNvSpPr/>
            <p:nvPr/>
          </p:nvSpPr>
          <p:spPr>
            <a:xfrm>
              <a:off x="3181192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73" name="Google Shape;473;p43"/>
            <p:cNvSpPr/>
            <p:nvPr/>
          </p:nvSpPr>
          <p:spPr>
            <a:xfrm>
              <a:off x="6119158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74" name="Google Shape;474;p43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75" name="Google Shape;475;p43"/>
            <p:cNvSpPr/>
            <p:nvPr/>
          </p:nvSpPr>
          <p:spPr>
            <a:xfrm>
              <a:off x="487140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76" name="Google Shape;476;p43"/>
            <p:cNvSpPr/>
            <p:nvPr/>
          </p:nvSpPr>
          <p:spPr>
            <a:xfrm>
              <a:off x="7804025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477" name="Google Shape;477;p43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/>
              <a:t>Blaise De Vigenere invented the “Vigenere Cipher”</a:t>
            </a:r>
            <a:endParaRPr sz="1400"/>
          </a:p>
        </p:txBody>
      </p:sp>
      <p:sp>
        <p:nvSpPr>
          <p:cNvPr id="478" name="Google Shape;478;p43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>
                <a:latin typeface="Space Grotesk"/>
                <a:ea typeface="Space Grotesk"/>
                <a:cs typeface="Space Grotesk"/>
                <a:sym typeface="Space Grotesk"/>
              </a:rPr>
              <a:t>FACT #1</a:t>
            </a:r>
            <a:endParaRPr b="1"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9" name="Google Shape;479;p43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/>
              <a:t>The Vigenere Cipher was considered unbreakable for around 3 centuries</a:t>
            </a:r>
            <a:endParaRPr sz="1400"/>
          </a:p>
        </p:txBody>
      </p:sp>
      <p:sp>
        <p:nvSpPr>
          <p:cNvPr id="480" name="Google Shape;480;p43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>
                <a:latin typeface="Space Grotesk"/>
                <a:ea typeface="Space Grotesk"/>
                <a:cs typeface="Space Grotesk"/>
                <a:sym typeface="Space Grotesk"/>
              </a:rPr>
              <a:t>FACT #2</a:t>
            </a:r>
            <a:endParaRPr b="1"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1" name="Google Shape;481;p43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" sz="1400"/>
              <a:t>This cipher boils down to:</a:t>
            </a:r>
            <a:br>
              <a:rPr lang="en" sz="1400"/>
            </a:br>
            <a:r>
              <a:rPr lang="en" sz="1400"/>
              <a:t>“What if we did Caesar… twice?”</a:t>
            </a:r>
            <a:br>
              <a:rPr lang="en" sz="1400"/>
            </a:br>
            <a:r>
              <a:rPr lang="en" sz="1400"/>
              <a:t>(Revolutionary idea)</a:t>
            </a:r>
            <a:endParaRPr sz="1400"/>
          </a:p>
        </p:txBody>
      </p:sp>
      <p:sp>
        <p:nvSpPr>
          <p:cNvPr id="482" name="Google Shape;482;p43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400">
                <a:latin typeface="Space Grotesk"/>
                <a:ea typeface="Space Grotesk"/>
                <a:cs typeface="Space Grotesk"/>
                <a:sym typeface="Space Grotesk"/>
              </a:rPr>
              <a:t>FACT #3</a:t>
            </a:r>
            <a:endParaRPr b="1"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3" name="Google Shape;483;p43"/>
          <p:cNvSpPr txBox="1"/>
          <p:nvPr>
            <p:ph idx="4" type="title"/>
          </p:nvPr>
        </p:nvSpPr>
        <p:spPr>
          <a:xfrm>
            <a:off x="252600" y="522925"/>
            <a:ext cx="47832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TWO TRUTHS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AND A LIE (about today’s topic)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4"/>
          <p:cNvSpPr txBox="1"/>
          <p:nvPr>
            <p:ph type="title"/>
          </p:nvPr>
        </p:nvSpPr>
        <p:spPr>
          <a:xfrm>
            <a:off x="236900" y="742953"/>
            <a:ext cx="3576600" cy="8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A-Z top row (Base, ‘clear’)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A-Z side row (Encoding)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Five-block format (optional)</a:t>
            </a:r>
            <a:endParaRPr sz="1600"/>
          </a:p>
        </p:txBody>
      </p:sp>
      <p:sp>
        <p:nvSpPr>
          <p:cNvPr id="489" name="Google Shape;489;p44"/>
          <p:cNvSpPr txBox="1"/>
          <p:nvPr>
            <p:ph idx="2" type="title"/>
          </p:nvPr>
        </p:nvSpPr>
        <p:spPr>
          <a:xfrm>
            <a:off x="236891" y="203879"/>
            <a:ext cx="6480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400">
                <a:latin typeface="Space Grotesk"/>
                <a:ea typeface="Space Grotesk"/>
                <a:cs typeface="Space Grotesk"/>
                <a:sym typeface="Space Grotesk"/>
              </a:rPr>
              <a:t>USAGE</a:t>
            </a:r>
            <a:endParaRPr/>
          </a:p>
        </p:txBody>
      </p:sp>
      <p:sp>
        <p:nvSpPr>
          <p:cNvPr id="490" name="Google Shape;490;p44"/>
          <p:cNvSpPr txBox="1"/>
          <p:nvPr>
            <p:ph idx="1" type="subTitle"/>
          </p:nvPr>
        </p:nvSpPr>
        <p:spPr>
          <a:xfrm>
            <a:off x="246850" y="2439125"/>
            <a:ext cx="6948300" cy="24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EXAMPLE: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u="none"/>
              <a:t>Alle Alle Auch Sind Frei (key: magic) =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u="none"/>
              <a:t>Mlrm Cxlk Iwoh Yqpp Fxmk</a:t>
            </a:r>
            <a:br>
              <a:rPr lang="en" u="none"/>
            </a:br>
            <a:r>
              <a:rPr lang="en" u="none"/>
              <a:t>(or, 5-block: mlrmc xlklw ohyqp pfxmk)</a:t>
            </a:r>
            <a:br>
              <a:rPr lang="en" u="none"/>
            </a:br>
            <a:endParaRPr u="none"/>
          </a:p>
        </p:txBody>
      </p:sp>
      <p:pic>
        <p:nvPicPr>
          <p:cNvPr id="491" name="Google Shape;4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5"/>
          <p:cNvSpPr txBox="1"/>
          <p:nvPr>
            <p:ph idx="2" type="title"/>
          </p:nvPr>
        </p:nvSpPr>
        <p:spPr>
          <a:xfrm>
            <a:off x="236891" y="203879"/>
            <a:ext cx="6480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Cipher Disk</a:t>
            </a:r>
            <a:endParaRPr sz="2400"/>
          </a:p>
        </p:txBody>
      </p:sp>
      <p:pic>
        <p:nvPicPr>
          <p:cNvPr id="497" name="Google Shape;4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250" y="418075"/>
            <a:ext cx="4307350" cy="43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5"/>
          <p:cNvSpPr txBox="1"/>
          <p:nvPr>
            <p:ph type="title"/>
          </p:nvPr>
        </p:nvSpPr>
        <p:spPr>
          <a:xfrm>
            <a:off x="236900" y="742953"/>
            <a:ext cx="35766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Two disks </a:t>
            </a:r>
            <a:r>
              <a:rPr lang="en" sz="1600"/>
              <a:t>on top</a:t>
            </a:r>
            <a:r>
              <a:rPr lang="en" sz="1600"/>
              <a:t> of another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Outer</a:t>
            </a:r>
            <a:r>
              <a:rPr lang="en" sz="1600"/>
              <a:t> disk is plane text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Inner</a:t>
            </a:r>
            <a:r>
              <a:rPr lang="en" sz="1600"/>
              <a:t> disk is keyword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Easier</a:t>
            </a:r>
            <a:r>
              <a:rPr lang="en" sz="1600"/>
              <a:t> way to decode </a:t>
            </a:r>
            <a:r>
              <a:rPr lang="en" sz="1600"/>
              <a:t>without</a:t>
            </a:r>
            <a:r>
              <a:rPr lang="en" sz="1600"/>
              <a:t> </a:t>
            </a:r>
            <a:r>
              <a:rPr lang="en" sz="1600"/>
              <a:t>using</a:t>
            </a:r>
            <a:r>
              <a:rPr lang="en" sz="1600"/>
              <a:t> the table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9" name="Google Shape;499;p45"/>
          <p:cNvSpPr txBox="1"/>
          <p:nvPr>
            <p:ph idx="1" type="subTitle"/>
          </p:nvPr>
        </p:nvSpPr>
        <p:spPr>
          <a:xfrm>
            <a:off x="246850" y="2439125"/>
            <a:ext cx="3841500" cy="24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Plain text: Hofstras University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Keyword: Houghton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EXAMPLE: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u="none"/>
              <a:t>H o f s t r a</a:t>
            </a:r>
            <a:r>
              <a:rPr lang="en" u="none"/>
              <a:t> s T  e c h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u="none"/>
              <a:t>H O UGHTO N</a:t>
            </a:r>
            <a:r>
              <a:rPr lang="en" u="none"/>
              <a:t> H O U G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u="none"/>
              <a:t>E = S</a:t>
            </a:r>
            <a:endParaRPr u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Plain text: Hofstras University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Keyword: Houghton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u="none">
                <a:latin typeface="Space Grotesk"/>
                <a:ea typeface="Space Grotesk"/>
                <a:cs typeface="Space Grotesk"/>
                <a:sym typeface="Space Grotesk"/>
              </a:rPr>
              <a:t>EXAMPLE:</a:t>
            </a:r>
            <a:endParaRPr b="1" u="none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u="none"/>
              <a:t>H o f s t r a s T  e c h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u="none"/>
              <a:t>H O UGHTO N H O U G </a:t>
            </a:r>
            <a:endParaRPr u="none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u="none"/>
              <a:t>E = S</a:t>
            </a:r>
            <a:endParaRPr u="non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6"/>
          <p:cNvSpPr txBox="1"/>
          <p:nvPr>
            <p:ph idx="2" type="title"/>
          </p:nvPr>
        </p:nvSpPr>
        <p:spPr>
          <a:xfrm>
            <a:off x="236891" y="203879"/>
            <a:ext cx="6480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Saint Cyr Slide</a:t>
            </a:r>
            <a:endParaRPr sz="2400"/>
          </a:p>
        </p:txBody>
      </p:sp>
      <p:pic>
        <p:nvPicPr>
          <p:cNvPr id="506" name="Google Shape;50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2948"/>
            <a:ext cx="91440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6"/>
          <p:cNvSpPr txBox="1"/>
          <p:nvPr>
            <p:ph type="title"/>
          </p:nvPr>
        </p:nvSpPr>
        <p:spPr>
          <a:xfrm>
            <a:off x="4284800" y="2917428"/>
            <a:ext cx="3576600" cy="8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Top slide is plain text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Bottom slide is keyword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7"/>
          <p:cNvSpPr txBox="1"/>
          <p:nvPr>
            <p:ph idx="1" type="subTitle"/>
          </p:nvPr>
        </p:nvSpPr>
        <p:spPr>
          <a:xfrm>
            <a:off x="237650" y="812650"/>
            <a:ext cx="3369300" cy="41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Cold War (Why did they still use this???)</a:t>
            </a:r>
            <a:endParaRPr/>
          </a:p>
        </p:txBody>
      </p:sp>
      <p:sp>
        <p:nvSpPr>
          <p:cNvPr id="513" name="Google Shape;513;p47"/>
          <p:cNvSpPr txBox="1"/>
          <p:nvPr>
            <p:ph type="title"/>
          </p:nvPr>
        </p:nvSpPr>
        <p:spPr>
          <a:xfrm>
            <a:off x="237650" y="203875"/>
            <a:ext cx="7854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400">
                <a:latin typeface="Space Grotesk"/>
                <a:ea typeface="Space Grotesk"/>
                <a:cs typeface="Space Grotesk"/>
                <a:sym typeface="Space Grotesk"/>
              </a:rPr>
              <a:t>SOVIET KOMITET GOSUDARSTVENNOY BEZOPASNOSTI</a:t>
            </a:r>
            <a:endParaRPr b="1" sz="24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4" name="Google Shape;514;p47"/>
          <p:cNvSpPr txBox="1"/>
          <p:nvPr>
            <p:ph idx="4" type="subTitle"/>
          </p:nvPr>
        </p:nvSpPr>
        <p:spPr>
          <a:xfrm>
            <a:off x="3606925" y="812649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Dead Drops were used</a:t>
            </a:r>
            <a:endParaRPr/>
          </a:p>
        </p:txBody>
      </p:sp>
      <p:pic>
        <p:nvPicPr>
          <p:cNvPr id="515" name="Google Shape;5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675" y="625575"/>
            <a:ext cx="2212809" cy="426552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7"/>
          <p:cNvSpPr txBox="1"/>
          <p:nvPr>
            <p:ph idx="1" type="subTitle"/>
          </p:nvPr>
        </p:nvSpPr>
        <p:spPr>
          <a:xfrm rot="-1255792">
            <a:off x="697039" y="1853416"/>
            <a:ext cx="3955490" cy="597486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Praise be they shut down in 1991</a:t>
            </a:r>
            <a:br>
              <a:rPr lang="en"/>
            </a:br>
            <a:r>
              <a:rPr lang="en"/>
              <a:t>(Also I ran out of budget for this slide)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8"/>
          <p:cNvSpPr txBox="1"/>
          <p:nvPr>
            <p:ph type="title"/>
          </p:nvPr>
        </p:nvSpPr>
        <p:spPr>
          <a:xfrm>
            <a:off x="252425" y="817575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AUTOKEY</a:t>
            </a:r>
            <a:endParaRPr b="1"/>
          </a:p>
        </p:txBody>
      </p:sp>
      <p:sp>
        <p:nvSpPr>
          <p:cNvPr id="522" name="Google Shape;522;p48"/>
          <p:cNvSpPr txBox="1"/>
          <p:nvPr>
            <p:ph idx="1" type="subTitle"/>
          </p:nvPr>
        </p:nvSpPr>
        <p:spPr>
          <a:xfrm>
            <a:off x="6034601" y="1765125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2. Vigenere Steals the Name</a:t>
            </a:r>
            <a:endParaRPr b="1" sz="2000"/>
          </a:p>
        </p:txBody>
      </p:sp>
      <p:sp>
        <p:nvSpPr>
          <p:cNvPr id="523" name="Google Shape;523;p48"/>
          <p:cNvSpPr txBox="1"/>
          <p:nvPr>
            <p:ph idx="3" type="subTitle"/>
          </p:nvPr>
        </p:nvSpPr>
        <p:spPr>
          <a:xfrm>
            <a:off x="4938426" y="13290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1. Leon Battista Alberti</a:t>
            </a:r>
            <a:endParaRPr b="1" sz="2000"/>
          </a:p>
        </p:txBody>
      </p:sp>
      <p:sp>
        <p:nvSpPr>
          <p:cNvPr id="524" name="Google Shape;524;p48"/>
          <p:cNvSpPr txBox="1"/>
          <p:nvPr>
            <p:ph idx="2" type="subTitle"/>
          </p:nvPr>
        </p:nvSpPr>
        <p:spPr>
          <a:xfrm>
            <a:off x="5028076" y="31655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" sz="2000"/>
              <a:t>3. 300 years</a:t>
            </a:r>
            <a:endParaRPr b="1" sz="2000"/>
          </a:p>
        </p:txBody>
      </p:sp>
      <p:sp>
        <p:nvSpPr>
          <p:cNvPr id="525" name="Google Shape;525;p48"/>
          <p:cNvSpPr txBox="1"/>
          <p:nvPr>
            <p:ph idx="4" type="subTitle"/>
          </p:nvPr>
        </p:nvSpPr>
        <p:spPr>
          <a:xfrm>
            <a:off x="6034601" y="2352924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None/>
            </a:pPr>
            <a:r>
              <a:rPr lang="en" sz="1225"/>
              <a:t>1586.</a:t>
            </a:r>
            <a:endParaRPr sz="122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None/>
            </a:pPr>
            <a:r>
              <a:rPr lang="en" sz="1225"/>
              <a:t>Blaise de Vigenere publishes his “Autokey” cipher. A simpler version of Alberti’s cipher</a:t>
            </a:r>
            <a:endParaRPr sz="1225"/>
          </a:p>
        </p:txBody>
      </p:sp>
      <p:sp>
        <p:nvSpPr>
          <p:cNvPr id="526" name="Google Shape;526;p48"/>
          <p:cNvSpPr txBox="1"/>
          <p:nvPr>
            <p:ph idx="5" type="subTitle"/>
          </p:nvPr>
        </p:nvSpPr>
        <p:spPr>
          <a:xfrm>
            <a:off x="4938426" y="70867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Original creator of the Vigenere cipher, circa 1467. Published officially in 1518.</a:t>
            </a:r>
            <a:endParaRPr sz="1300"/>
          </a:p>
        </p:txBody>
      </p:sp>
      <p:sp>
        <p:nvSpPr>
          <p:cNvPr id="527" name="Google Shape;527;p48"/>
          <p:cNvSpPr txBox="1"/>
          <p:nvPr>
            <p:ph idx="6" type="subTitle"/>
          </p:nvPr>
        </p:nvSpPr>
        <p:spPr>
          <a:xfrm>
            <a:off x="5028075" y="3712400"/>
            <a:ext cx="2781900" cy="11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roughly three centuries, the Vigenere cipher was unbreakable, and earned the name </a:t>
            </a:r>
            <a:r>
              <a:rPr i="1" lang="en"/>
              <a:t>“le chiffrage indéchiffrable”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"/>
          <p:cNvSpPr txBox="1"/>
          <p:nvPr>
            <p:ph type="title"/>
          </p:nvPr>
        </p:nvSpPr>
        <p:spPr>
          <a:xfrm>
            <a:off x="414150" y="562500"/>
            <a:ext cx="8315700" cy="4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Time</a:t>
            </a:r>
            <a:endParaRPr/>
          </a:p>
        </p:txBody>
      </p:sp>
      <p:grpSp>
        <p:nvGrpSpPr>
          <p:cNvPr id="533" name="Google Shape;533;p49"/>
          <p:cNvGrpSpPr/>
          <p:nvPr/>
        </p:nvGrpSpPr>
        <p:grpSpPr>
          <a:xfrm>
            <a:off x="617988" y="1790925"/>
            <a:ext cx="7908013" cy="3186725"/>
            <a:chOff x="448713" y="1799275"/>
            <a:chExt cx="7908013" cy="3186725"/>
          </a:xfrm>
        </p:grpSpPr>
        <p:pic>
          <p:nvPicPr>
            <p:cNvPr id="534" name="Google Shape;534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70000" y="1799275"/>
              <a:ext cx="3186725" cy="318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8713" y="1799275"/>
              <a:ext cx="4780088" cy="3186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"/>
          <p:cNvSpPr txBox="1"/>
          <p:nvPr>
            <p:ph idx="1" type="subTitle"/>
          </p:nvPr>
        </p:nvSpPr>
        <p:spPr>
          <a:xfrm>
            <a:off x="5619075" y="1355125"/>
            <a:ext cx="2247600" cy="1062300"/>
          </a:xfrm>
          <a:prstGeom prst="rect">
            <a:avLst/>
          </a:prstGeom>
          <a:solidFill>
            <a:srgbClr val="0000FF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Julius </a:t>
            </a:r>
            <a:r>
              <a:rPr lang="en">
                <a:solidFill>
                  <a:srgbClr val="FFFFFF"/>
                </a:solidFill>
              </a:rPr>
              <a:t>Caesar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1" name="Google Shape;541;p50"/>
          <p:cNvSpPr txBox="1"/>
          <p:nvPr>
            <p:ph idx="2" type="subTitle"/>
          </p:nvPr>
        </p:nvSpPr>
        <p:spPr>
          <a:xfrm>
            <a:off x="5619075" y="2574424"/>
            <a:ext cx="2291400" cy="1033500"/>
          </a:xfrm>
          <a:prstGeom prst="rect">
            <a:avLst/>
          </a:prstGeom>
          <a:solidFill>
            <a:srgbClr val="9900FF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Samuel Morse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2" name="Google Shape;542;p50"/>
          <p:cNvSpPr txBox="1"/>
          <p:nvPr>
            <p:ph idx="3" type="subTitle"/>
          </p:nvPr>
        </p:nvSpPr>
        <p:spPr>
          <a:xfrm>
            <a:off x="5619075" y="206775"/>
            <a:ext cx="2291400" cy="1062300"/>
          </a:xfrm>
          <a:prstGeom prst="rect">
            <a:avLst/>
          </a:prstGeom>
          <a:solidFill>
            <a:srgbClr val="FF0000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Blaise de </a:t>
            </a: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Vigenère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3" name="Google Shape;543;p50"/>
          <p:cNvSpPr txBox="1"/>
          <p:nvPr>
            <p:ph type="title"/>
          </p:nvPr>
        </p:nvSpPr>
        <p:spPr>
          <a:xfrm>
            <a:off x="252600" y="392425"/>
            <a:ext cx="4686000" cy="3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Who </a:t>
            </a:r>
            <a:r>
              <a:rPr lang="en" sz="5900"/>
              <a:t>invented the Vigenere cipher?</a:t>
            </a:r>
            <a:endParaRPr sz="5900"/>
          </a:p>
        </p:txBody>
      </p:sp>
      <p:sp>
        <p:nvSpPr>
          <p:cNvPr id="544" name="Google Shape;544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0"/>
          <p:cNvSpPr txBox="1"/>
          <p:nvPr>
            <p:ph idx="2" type="subTitle"/>
          </p:nvPr>
        </p:nvSpPr>
        <p:spPr>
          <a:xfrm>
            <a:off x="5619075" y="3764924"/>
            <a:ext cx="2291400" cy="1033500"/>
          </a:xfrm>
          <a:prstGeom prst="rect">
            <a:avLst/>
          </a:prstGeom>
          <a:solidFill>
            <a:srgbClr val="FF9900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Leon Battista Alberti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1"/>
          <p:cNvSpPr txBox="1"/>
          <p:nvPr>
            <p:ph type="title"/>
          </p:nvPr>
        </p:nvSpPr>
        <p:spPr>
          <a:xfrm>
            <a:off x="252600" y="392425"/>
            <a:ext cx="4686000" cy="3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How many Vigenere devices are there?</a:t>
            </a:r>
            <a:endParaRPr sz="5900"/>
          </a:p>
        </p:txBody>
      </p:sp>
      <p:sp>
        <p:nvSpPr>
          <p:cNvPr id="551" name="Google Shape;551;p51"/>
          <p:cNvSpPr txBox="1"/>
          <p:nvPr>
            <p:ph idx="1" type="subTitle"/>
          </p:nvPr>
        </p:nvSpPr>
        <p:spPr>
          <a:xfrm>
            <a:off x="5619075" y="1752200"/>
            <a:ext cx="2247600" cy="1062300"/>
          </a:xfrm>
          <a:prstGeom prst="rect">
            <a:avLst/>
          </a:prstGeom>
          <a:solidFill>
            <a:srgbClr val="FFFF00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2</a:t>
            </a:r>
            <a:endParaRPr sz="2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2" name="Google Shape;552;p51"/>
          <p:cNvSpPr txBox="1"/>
          <p:nvPr>
            <p:ph idx="2" type="subTitle"/>
          </p:nvPr>
        </p:nvSpPr>
        <p:spPr>
          <a:xfrm>
            <a:off x="5619075" y="2971499"/>
            <a:ext cx="2291400" cy="1033500"/>
          </a:xfrm>
          <a:prstGeom prst="rect">
            <a:avLst/>
          </a:prstGeom>
          <a:solidFill>
            <a:srgbClr val="FF00FF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3</a:t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3" name="Google Shape;553;p51"/>
          <p:cNvSpPr txBox="1"/>
          <p:nvPr>
            <p:ph idx="3" type="subTitle"/>
          </p:nvPr>
        </p:nvSpPr>
        <p:spPr>
          <a:xfrm>
            <a:off x="5619075" y="603850"/>
            <a:ext cx="2291400" cy="1062300"/>
          </a:xfrm>
          <a:prstGeom prst="rect">
            <a:avLst/>
          </a:prstGeom>
          <a:solidFill>
            <a:srgbClr val="00FFFF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1</a:t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2"/>
          <p:cNvSpPr txBox="1"/>
          <p:nvPr>
            <p:ph type="title"/>
          </p:nvPr>
        </p:nvSpPr>
        <p:spPr>
          <a:xfrm>
            <a:off x="252600" y="392425"/>
            <a:ext cx="4686000" cy="3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Whos better?</a:t>
            </a:r>
            <a:endParaRPr sz="5900"/>
          </a:p>
        </p:txBody>
      </p:sp>
      <p:sp>
        <p:nvSpPr>
          <p:cNvPr id="559" name="Google Shape;559;p52"/>
          <p:cNvSpPr txBox="1"/>
          <p:nvPr>
            <p:ph idx="1" type="subTitle"/>
          </p:nvPr>
        </p:nvSpPr>
        <p:spPr>
          <a:xfrm>
            <a:off x="5936875" y="2614775"/>
            <a:ext cx="2247600" cy="1062300"/>
          </a:xfrm>
          <a:prstGeom prst="rect">
            <a:avLst/>
          </a:prstGeom>
          <a:solidFill>
            <a:srgbClr val="0000FF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Julius Caesar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0" name="Google Shape;560;p52"/>
          <p:cNvSpPr txBox="1"/>
          <p:nvPr>
            <p:ph idx="3" type="subTitle"/>
          </p:nvPr>
        </p:nvSpPr>
        <p:spPr>
          <a:xfrm>
            <a:off x="5936875" y="1466425"/>
            <a:ext cx="2291400" cy="1062300"/>
          </a:xfrm>
          <a:prstGeom prst="rect">
            <a:avLst/>
          </a:prstGeom>
          <a:solidFill>
            <a:srgbClr val="FF0000"/>
          </a:solidFill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Leon Battista Alberti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2"/>
          <p:cNvSpPr txBox="1"/>
          <p:nvPr/>
        </p:nvSpPr>
        <p:spPr>
          <a:xfrm>
            <a:off x="231450" y="2133775"/>
            <a:ext cx="8681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BOTH OF THEM CAUSE WE LIKE CIPHERS</a:t>
            </a:r>
            <a:endParaRPr sz="5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3"/>
          <p:cNvSpPr txBox="1"/>
          <p:nvPr>
            <p:ph type="title"/>
          </p:nvPr>
        </p:nvSpPr>
        <p:spPr>
          <a:xfrm>
            <a:off x="270875" y="529275"/>
            <a:ext cx="54390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Questions?</a:t>
            </a:r>
            <a:endParaRPr b="1"/>
          </a:p>
        </p:txBody>
      </p:sp>
      <p:sp>
        <p:nvSpPr>
          <p:cNvPr id="567" name="Google Shape;567;p53"/>
          <p:cNvSpPr txBox="1"/>
          <p:nvPr>
            <p:ph idx="2" type="title"/>
          </p:nvPr>
        </p:nvSpPr>
        <p:spPr>
          <a:xfrm>
            <a:off x="3854000" y="2694750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90"/>
              <a:buNone/>
            </a:pPr>
            <a:r>
              <a:rPr i="1" lang="en" sz="1720" u="sng"/>
              <a:t>DON’T FORGET TO NEVER STOP HATING ON BLAISE DE VIGENERE</a:t>
            </a:r>
            <a:endParaRPr i="1" sz="1720"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4"/>
          <p:cNvSpPr/>
          <p:nvPr/>
        </p:nvSpPr>
        <p:spPr>
          <a:xfrm>
            <a:off x="271950" y="430925"/>
            <a:ext cx="8600100" cy="428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3" name="Google Shape;573;p54"/>
          <p:cNvSpPr txBox="1"/>
          <p:nvPr/>
        </p:nvSpPr>
        <p:spPr>
          <a:xfrm>
            <a:off x="271950" y="1323725"/>
            <a:ext cx="69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https://www.ebsco.com/research-starters/history/vigenere-cipher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574" name="Google Shape;574;p54"/>
          <p:cNvSpPr txBox="1"/>
          <p:nvPr/>
        </p:nvSpPr>
        <p:spPr>
          <a:xfrm>
            <a:off x="252600" y="430925"/>
            <a:ext cx="6984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1"/>
                </a:solidFill>
              </a:rPr>
              <a:t>RESOURCES</a:t>
            </a:r>
            <a:endParaRPr b="1" sz="4600">
              <a:solidFill>
                <a:schemeClr val="dk1"/>
              </a:solidFill>
            </a:endParaRPr>
          </a:p>
        </p:txBody>
      </p:sp>
      <p:sp>
        <p:nvSpPr>
          <p:cNvPr id="575" name="Google Shape;575;p54"/>
          <p:cNvSpPr txBox="1"/>
          <p:nvPr/>
        </p:nvSpPr>
        <p:spPr>
          <a:xfrm>
            <a:off x="271950" y="1754825"/>
            <a:ext cx="69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https://cangea.com/history-of-cryptography-the-vigenere-cipher/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576" name="Google Shape;576;p54"/>
          <p:cNvSpPr txBox="1"/>
          <p:nvPr/>
        </p:nvSpPr>
        <p:spPr>
          <a:xfrm>
            <a:off x="271950" y="2185925"/>
            <a:ext cx="69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https://www.kaspersky.com/blog/vigenere-cipher-history/9802/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577" name="Google Shape;577;p54"/>
          <p:cNvSpPr txBox="1"/>
          <p:nvPr/>
        </p:nvSpPr>
        <p:spPr>
          <a:xfrm>
            <a:off x="271950" y="2617025"/>
            <a:ext cx="69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https://lflank.wordpress.com/2025/02/18/the-vigenere-cipher/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578" name="Google Shape;578;p54"/>
          <p:cNvSpPr txBox="1"/>
          <p:nvPr/>
        </p:nvSpPr>
        <p:spPr>
          <a:xfrm>
            <a:off x="271950" y="3600525"/>
            <a:ext cx="69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Image Sources: Wikimedia Commons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