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14"/>
  </p:notesMasterIdLst>
  <p:sldIdLst>
    <p:sldId id="335" r:id="rId2"/>
    <p:sldId id="264" r:id="rId3"/>
    <p:sldId id="319" r:id="rId4"/>
    <p:sldId id="334" r:id="rId5"/>
    <p:sldId id="273" r:id="rId6"/>
    <p:sldId id="286" r:id="rId7"/>
    <p:sldId id="330" r:id="rId8"/>
    <p:sldId id="274" r:id="rId9"/>
    <p:sldId id="276" r:id="rId10"/>
    <p:sldId id="278" r:id="rId11"/>
    <p:sldId id="266" r:id="rId12"/>
    <p:sldId id="336" r:id="rId13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Arial" charset="0"/>
        <a:cs typeface="Arial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Arial" charset="0"/>
        <a:cs typeface="Arial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Arial" charset="0"/>
        <a:cs typeface="Arial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Arial" charset="0"/>
        <a:cs typeface="Arial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Arial" charset="0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Arial" charset="0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Arial" charset="0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Arial" charset="0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Arial" charset="0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7D5"/>
    <a:srgbClr val="FEF7C2"/>
    <a:srgbClr val="EDE1EF"/>
    <a:srgbClr val="FFCC00"/>
    <a:srgbClr val="E7E2EE"/>
    <a:srgbClr val="270A70"/>
    <a:srgbClr val="300C8A"/>
    <a:srgbClr val="4211B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545" autoAdjust="0"/>
    <p:restoredTop sz="92109" autoAdjust="0"/>
  </p:normalViewPr>
  <p:slideViewPr>
    <p:cSldViewPr>
      <p:cViewPr varScale="1">
        <p:scale>
          <a:sx n="117" d="100"/>
          <a:sy n="117" d="100"/>
        </p:scale>
        <p:origin x="2088" y="1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B25572-BA44-224A-B821-B0EEA73975F6}" type="datetimeFigureOut">
              <a:rPr lang="en-US" smtClean="0"/>
              <a:t>9/2/25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9AB886-2B46-434E-9DBD-469A9D80FB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14194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9AB886-2B46-434E-9DBD-469A9D80FB3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63636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1"/>
          <p:cNvSpPr txBox="1">
            <a:spLocks noChangeArrowheads="1"/>
          </p:cNvSpPr>
          <p:nvPr/>
        </p:nvSpPr>
        <p:spPr bwMode="auto">
          <a:xfrm>
            <a:off x="304800" y="1905000"/>
            <a:ext cx="3429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altLang="en-US" sz="2800" b="1" dirty="0">
                <a:solidFill>
                  <a:srgbClr val="007DC4"/>
                </a:solidFill>
                <a:latin typeface="Tw Cen MT" pitchFamily="34" charset="0"/>
                <a:ea typeface="+mn-ea"/>
              </a:rPr>
              <a:t>C H A P T E R  2</a:t>
            </a:r>
          </a:p>
        </p:txBody>
      </p:sp>
      <p:sp>
        <p:nvSpPr>
          <p:cNvPr id="3" name="Text Box 13"/>
          <p:cNvSpPr txBox="1">
            <a:spLocks noChangeArrowheads="1"/>
          </p:cNvSpPr>
          <p:nvPr/>
        </p:nvSpPr>
        <p:spPr bwMode="auto">
          <a:xfrm>
            <a:off x="304800" y="2514600"/>
            <a:ext cx="3048000" cy="1754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altLang="en-US" sz="3600" b="1" dirty="0">
                <a:latin typeface="Tw Cen MT" pitchFamily="34" charset="0"/>
                <a:ea typeface="+mn-ea"/>
              </a:rPr>
              <a:t>Input, Processing, and Output</a:t>
            </a:r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4800" y="609600"/>
            <a:ext cx="4586288" cy="5715000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ffectLst>
            <a:outerShdw blurRad="50800" dist="38100" dir="2700000" algn="tl" rotWithShape="0">
              <a:srgbClr val="000000">
                <a:alpha val="39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983490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342900" indent="-342900">
              <a:buClrTx/>
              <a:buFont typeface="Arial" panose="020B0604020202020204" pitchFamily="34" charset="0"/>
              <a:buChar char="•"/>
              <a:defRPr/>
            </a:lvl1pPr>
            <a:lvl2pPr marL="742950" indent="-285750">
              <a:buClrTx/>
              <a:buFont typeface="Arial" panose="020B0604020202020204" pitchFamily="34" charset="0"/>
              <a:buChar char="•"/>
              <a:defRPr/>
            </a:lvl2pPr>
            <a:lvl3pPr marL="1143000" indent="-228600">
              <a:buClrTx/>
              <a:buFont typeface="Arial" panose="020B0604020202020204" pitchFamily="34" charset="0"/>
              <a:buChar char="•"/>
              <a:defRPr/>
            </a:lvl3pPr>
            <a:lvl4pPr marL="1600200" indent="-228600">
              <a:buClrTx/>
              <a:buFont typeface="Arial" panose="020B0604020202020204" pitchFamily="34" charset="0"/>
              <a:buChar char="•"/>
              <a:defRPr/>
            </a:lvl4pPr>
            <a:lvl5pPr marL="2057400" indent="-228600">
              <a:buClrTx/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he-IL" dirty="0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624137A-2172-D44B-AE84-757E7BFCA86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767BFEE9-2970-7685-13F0-9DAA94A8C0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8C8CFD2-7D66-3B4D-0F7A-1FFFEBACF269}"/>
              </a:ext>
            </a:extLst>
          </p:cNvPr>
          <p:cNvSpPr txBox="1"/>
          <p:nvPr userDrawn="1"/>
        </p:nvSpPr>
        <p:spPr>
          <a:xfrm>
            <a:off x="3011055" y="656705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65237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r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48D1310-5BD7-1146-A048-2CB8C3A46A5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28350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52E134F-7DCD-5A4D-9653-AABFEFDC981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619560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7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BF9C5A6-E52E-1E47-B50B-BD1DF2949FE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348261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D33FD03-299F-A842-A4B6-9A77429E752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381487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F1ED4B-0683-1B4F-8732-4C7C43DF2F0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207669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r">
              <a:defRPr sz="2000" b="1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983373-08C3-9E47-89B9-7421F946F49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596761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r">
              <a:defRPr sz="2000" b="1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he-IL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90485E5-BEB9-FA40-ADA2-873BD67D862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748304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203EDB-B6F1-CF43-AC7C-02ED7C5C621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074808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304800"/>
            <a:ext cx="2057400" cy="582136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304800"/>
            <a:ext cx="6019800" cy="582136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A2A23B6-E7EB-5243-A253-40999D6A573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6897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304800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3"/>
          <p:cNvSpPr>
            <a:spLocks noChangeArrowheads="1"/>
          </p:cNvSpPr>
          <p:nvPr/>
        </p:nvSpPr>
        <p:spPr bwMode="auto">
          <a:xfrm>
            <a:off x="1017588" y="6423025"/>
            <a:ext cx="27432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altLang="en-US" sz="1000" dirty="0">
                <a:latin typeface="Century Gothic" pitchFamily="34" charset="0"/>
                <a:ea typeface="ヒラギノ角ゴ Pro W3" pitchFamily="1" charset="-128"/>
              </a:rPr>
              <a:t>Copyright © 2018 Pearson Education, Inc. </a:t>
            </a:r>
          </a:p>
        </p:txBody>
      </p:sp>
      <p:sp>
        <p:nvSpPr>
          <p:cNvPr id="1033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smtClean="0"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FC0FB11F-AEF7-364E-8F0D-3399503ACEC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pic>
        <p:nvPicPr>
          <p:cNvPr id="1030" name="Picture 2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538" y="6453188"/>
            <a:ext cx="838200" cy="257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43" r:id="rId1"/>
    <p:sldLayoutId id="2147483733" r:id="rId2"/>
    <p:sldLayoutId id="2147483734" r:id="rId3"/>
    <p:sldLayoutId id="2147483735" r:id="rId4"/>
    <p:sldLayoutId id="2147483736" r:id="rId5"/>
    <p:sldLayoutId id="2147483737" r:id="rId6"/>
    <p:sldLayoutId id="2147483738" r:id="rId7"/>
    <p:sldLayoutId id="2147483739" r:id="rId8"/>
    <p:sldLayoutId id="2147483740" r:id="rId9"/>
    <p:sldLayoutId id="2147483741" r:id="rId10"/>
    <p:sldLayoutId id="2147483742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007DC4"/>
          </a:solidFill>
          <a:latin typeface="+mj-lt"/>
          <a:ea typeface="Arial" charset="0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007DC4"/>
          </a:solidFill>
          <a:latin typeface="Arial" pitchFamily="34" charset="0"/>
          <a:ea typeface="Arial" charset="0"/>
          <a:cs typeface="Arial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007DC4"/>
          </a:solidFill>
          <a:latin typeface="Arial" pitchFamily="34" charset="0"/>
          <a:ea typeface="Arial" charset="0"/>
          <a:cs typeface="Arial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007DC4"/>
          </a:solidFill>
          <a:latin typeface="Arial" pitchFamily="34" charset="0"/>
          <a:ea typeface="Arial" charset="0"/>
          <a:cs typeface="Arial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007DC4"/>
          </a:solidFill>
          <a:latin typeface="Arial" pitchFamily="34" charset="0"/>
          <a:ea typeface="Arial" charset="0"/>
          <a:cs typeface="Arial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 b="1">
          <a:solidFill>
            <a:srgbClr val="270A70"/>
          </a:solidFill>
          <a:latin typeface="Arial" pitchFamily="34" charset="0"/>
          <a:cs typeface="Arial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 b="1">
          <a:solidFill>
            <a:srgbClr val="270A70"/>
          </a:solidFill>
          <a:latin typeface="Arial" pitchFamily="34" charset="0"/>
          <a:cs typeface="Arial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 b="1">
          <a:solidFill>
            <a:srgbClr val="270A70"/>
          </a:solidFill>
          <a:latin typeface="Arial" pitchFamily="34" charset="0"/>
          <a:cs typeface="Arial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 b="1">
          <a:solidFill>
            <a:srgbClr val="270A70"/>
          </a:solidFill>
          <a:latin typeface="Arial" pitchFamily="34" charset="0"/>
          <a:cs typeface="Arial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b="1">
          <a:solidFill>
            <a:schemeClr val="tx1"/>
          </a:solidFill>
          <a:latin typeface="+mn-lt"/>
          <a:ea typeface="Arial" charset="0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800">
          <a:solidFill>
            <a:schemeClr val="tx1"/>
          </a:solidFill>
          <a:latin typeface="+mn-lt"/>
          <a:ea typeface="Arial" charset="0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>
          <a:solidFill>
            <a:schemeClr val="tx1"/>
          </a:solidFill>
          <a:latin typeface="+mn-lt"/>
          <a:ea typeface="Arial" charset="0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000">
          <a:solidFill>
            <a:schemeClr val="tx1"/>
          </a:solidFill>
          <a:latin typeface="+mn-lt"/>
          <a:ea typeface="Arial" charset="0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000">
          <a:solidFill>
            <a:schemeClr val="tx1"/>
          </a:solidFill>
          <a:latin typeface="+mn-lt"/>
          <a:ea typeface="Arial" charset="0"/>
          <a:cs typeface="+mn-cs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rgbClr val="4211BB"/>
        </a:buClr>
        <a:buFont typeface="Arial" pitchFamily="34" charset="0"/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rgbClr val="4211BB"/>
        </a:buClr>
        <a:buFont typeface="Arial" pitchFamily="34" charset="0"/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rgbClr val="4211BB"/>
        </a:buClr>
        <a:buFont typeface="Arial" pitchFamily="34" charset="0"/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rgbClr val="4211BB"/>
        </a:buClr>
        <a:buFont typeface="Arial" pitchFamily="34" charset="0"/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he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9F7600E-F3CF-0315-BD2A-BBDAE8407B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Arial" charset="0"/>
              <a:buChar char="•"/>
            </a:pPr>
            <a:r>
              <a:rPr lang="en-US" altLang="en-US" sz="3200" dirty="0"/>
              <a:t>How to display a text with </a:t>
            </a:r>
            <a:r>
              <a:rPr lang="en-US" altLang="en-US" sz="3200" dirty="0">
                <a:latin typeface="Courier New" charset="0"/>
                <a:ea typeface="Courier New" charset="0"/>
                <a:cs typeface="Courier New" charset="0"/>
              </a:rPr>
              <a:t>print</a:t>
            </a:r>
            <a:r>
              <a:rPr lang="en-US" altLang="en-US" sz="3200" dirty="0"/>
              <a:t> function</a:t>
            </a:r>
          </a:p>
          <a:p>
            <a:pPr eaLnBrk="1" hangingPunct="1">
              <a:buFont typeface="Arial" charset="0"/>
              <a:buChar char="•"/>
            </a:pPr>
            <a:r>
              <a:rPr lang="en-US" altLang="en-US" dirty="0"/>
              <a:t>What is an f-string?</a:t>
            </a:r>
            <a:endParaRPr lang="en-US" altLang="en-US" sz="3200" dirty="0"/>
          </a:p>
          <a:p>
            <a:pPr eaLnBrk="1" hangingPunct="1">
              <a:buFont typeface="Arial" charset="0"/>
              <a:buChar char="•"/>
            </a:pPr>
            <a:r>
              <a:rPr lang="en-US" altLang="en-US" sz="3200" dirty="0"/>
              <a:t>How to enter data using the keyboard</a:t>
            </a:r>
          </a:p>
          <a:p>
            <a:pPr eaLnBrk="1" hangingPunct="1">
              <a:buFont typeface="Arial" charset="0"/>
              <a:buChar char="•"/>
            </a:pPr>
            <a:r>
              <a:rPr lang="en-US" altLang="en-US" sz="3200" dirty="0"/>
              <a:t>What is an operator? </a:t>
            </a:r>
          </a:p>
          <a:p>
            <a:pPr eaLnBrk="1" hangingPunct="1">
              <a:buFont typeface="Arial" charset="0"/>
              <a:buChar char="•"/>
            </a:pPr>
            <a:r>
              <a:rPr lang="en-US" altLang="en-US" dirty="0"/>
              <a:t>What is a mixed type expression?</a:t>
            </a:r>
            <a:endParaRPr lang="en-US" altLang="en-US" sz="3200" dirty="0"/>
          </a:p>
          <a:p>
            <a:r>
              <a:rPr lang="en-US" altLang="en-US" sz="3200" dirty="0"/>
              <a:t>What is a comment?</a:t>
            </a:r>
          </a:p>
          <a:p>
            <a:r>
              <a:rPr lang="en-US" altLang="en-US" dirty="0"/>
              <a:t>What is binary? </a:t>
            </a:r>
            <a:endParaRPr lang="en-US" altLang="en-US" sz="32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C0CC7E3-ACEF-B85A-E0F0-18847BEBC2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Input, output, operators</a:t>
            </a:r>
          </a:p>
        </p:txBody>
      </p:sp>
    </p:spTree>
    <p:extLst>
      <p:ext uri="{BB962C8B-B14F-4D97-AF65-F5344CB8AC3E}">
        <p14:creationId xmlns:p14="http://schemas.microsoft.com/office/powerpoint/2010/main" val="42481052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en-US" dirty="0"/>
              <a:t>Displaying Output</a:t>
            </a:r>
            <a:endParaRPr lang="he-IL" altLang="en-US" dirty="0"/>
          </a:p>
        </p:txBody>
      </p:sp>
      <p:sp>
        <p:nvSpPr>
          <p:cNvPr id="11267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686800" cy="4678363"/>
          </a:xfrm>
        </p:spPr>
        <p:txBody>
          <a:bodyPr/>
          <a:lstStyle/>
          <a:p>
            <a:pPr eaLnBrk="1" hangingPunct="1"/>
            <a:r>
              <a:rPr lang="en-US" altLang="en-US" sz="2800" u="sng" dirty="0">
                <a:latin typeface="Courier New" charset="0"/>
                <a:ea typeface="Courier New" charset="0"/>
                <a:cs typeface="Courier New" charset="0"/>
              </a:rPr>
              <a:t>print</a:t>
            </a:r>
            <a:r>
              <a:rPr lang="en-US" altLang="en-US" sz="2800" u="sng" dirty="0"/>
              <a:t> function</a:t>
            </a:r>
            <a:r>
              <a:rPr lang="en-US" altLang="en-US" sz="2800" dirty="0"/>
              <a:t>: </a:t>
            </a:r>
          </a:p>
          <a:p>
            <a:pPr lvl="1" eaLnBrk="1" hangingPunct="1">
              <a:buFont typeface="Arial" charset="0"/>
              <a:buChar char="•"/>
            </a:pPr>
            <a:r>
              <a:rPr lang="en-US" altLang="en-US" sz="2400" b="0" dirty="0"/>
              <a:t>displays a string of characters on the screen</a:t>
            </a:r>
          </a:p>
          <a:p>
            <a:pPr lvl="1" eaLnBrk="1" hangingPunct="1">
              <a:buFont typeface="Arial" charset="0"/>
              <a:buChar char="•"/>
            </a:pPr>
            <a:r>
              <a:rPr lang="en-US" altLang="en-US" sz="2400" dirty="0"/>
              <a:t>Text is in single, double or triple quotes</a:t>
            </a:r>
            <a:endParaRPr lang="en-US" altLang="en-US" sz="2400" b="0" dirty="0"/>
          </a:p>
          <a:p>
            <a:pPr marL="457200" lvl="1" indent="0" eaLnBrk="1" hangingPunct="1">
              <a:buNone/>
            </a:pPr>
            <a:endParaRPr lang="en-US" altLang="en-US" sz="2400" b="0" dirty="0"/>
          </a:p>
          <a:p>
            <a:pPr marL="457200" lvl="1" indent="0" eaLnBrk="1" hangingPunct="1">
              <a:buNone/>
            </a:pPr>
            <a:r>
              <a:rPr lang="en-US" altLang="en-US" sz="2400" b="0" dirty="0"/>
              <a:t>print(‘output text‘)	</a:t>
            </a:r>
            <a:r>
              <a:rPr lang="en-US" altLang="en-US" sz="2400" b="0" dirty="0">
                <a:sym typeface="Wingdings" pitchFamily="2" charset="2"/>
              </a:rPr>
              <a:t>  </a:t>
            </a:r>
            <a:r>
              <a:rPr lang="en-US" altLang="en-US" sz="2400" b="0" dirty="0">
                <a:solidFill>
                  <a:srgbClr val="FF0000"/>
                </a:solidFill>
                <a:sym typeface="Wingdings" pitchFamily="2" charset="2"/>
              </a:rPr>
              <a:t>Display</a:t>
            </a:r>
            <a:r>
              <a:rPr lang="en-US" altLang="en-US" sz="2400" b="0" dirty="0">
                <a:sym typeface="Wingdings" pitchFamily="2" charset="2"/>
              </a:rPr>
              <a:t>: output text </a:t>
            </a:r>
            <a:endParaRPr lang="en-US" altLang="en-US" sz="2400" b="0" dirty="0"/>
          </a:p>
          <a:p>
            <a:pPr marL="457200" lvl="1" indent="0" eaLnBrk="1" hangingPunct="1">
              <a:buNone/>
            </a:pPr>
            <a:r>
              <a:rPr lang="en-US" altLang="en-US" sz="2400" dirty="0"/>
              <a:t>print(‘text1’, ‘text2’)	</a:t>
            </a:r>
            <a:r>
              <a:rPr lang="en-US" altLang="en-US" sz="2400" dirty="0">
                <a:sym typeface="Wingdings" pitchFamily="2" charset="2"/>
              </a:rPr>
              <a:t> </a:t>
            </a:r>
            <a:r>
              <a:rPr lang="en-US" altLang="en-US" sz="2400" dirty="0">
                <a:solidFill>
                  <a:srgbClr val="FF0000"/>
                </a:solidFill>
                <a:sym typeface="Wingdings" pitchFamily="2" charset="2"/>
              </a:rPr>
              <a:t>Display</a:t>
            </a:r>
            <a:r>
              <a:rPr lang="en-US" altLang="en-US" sz="2400" dirty="0">
                <a:sym typeface="Wingdings" pitchFamily="2" charset="2"/>
              </a:rPr>
              <a:t>: text1 text2</a:t>
            </a:r>
            <a:r>
              <a:rPr lang="en-US" altLang="en-US" sz="2400" dirty="0"/>
              <a:t> </a:t>
            </a:r>
            <a:endParaRPr lang="en-US" altLang="en-US" sz="2400" b="0" dirty="0"/>
          </a:p>
          <a:p>
            <a:pPr marL="0" indent="0" eaLnBrk="1" hangingPunct="1">
              <a:buNone/>
            </a:pPr>
            <a:r>
              <a:rPr lang="en-US" altLang="en-US" sz="2800" dirty="0">
                <a:solidFill>
                  <a:srgbClr val="FF0000"/>
                </a:solidFill>
              </a:rPr>
              <a:t>    </a:t>
            </a:r>
            <a:r>
              <a:rPr lang="en-US" altLang="en-US" sz="2800" b="0" dirty="0">
                <a:solidFill>
                  <a:srgbClr val="FF0000"/>
                </a:solidFill>
              </a:rPr>
              <a:t>(</a:t>
            </a:r>
            <a:r>
              <a:rPr lang="en-US" altLang="en-US" sz="2800" b="0" dirty="0" err="1">
                <a:solidFill>
                  <a:srgbClr val="FF0000"/>
                </a:solidFill>
              </a:rPr>
              <a:t>var_name</a:t>
            </a:r>
            <a:r>
              <a:rPr lang="en-US" altLang="en-US" sz="2800" b="0" dirty="0">
                <a:solidFill>
                  <a:srgbClr val="FF0000"/>
                </a:solidFill>
              </a:rPr>
              <a:t> = 10)</a:t>
            </a:r>
          </a:p>
          <a:p>
            <a:pPr marL="457200" lvl="1" indent="0" eaLnBrk="1" hangingPunct="1">
              <a:buNone/>
            </a:pPr>
            <a:r>
              <a:rPr lang="en-US" altLang="en-US" sz="2400" dirty="0"/>
              <a:t>print(‘text1’, </a:t>
            </a:r>
            <a:r>
              <a:rPr lang="en-US" altLang="en-US" sz="2400" dirty="0" err="1"/>
              <a:t>var_name</a:t>
            </a:r>
            <a:r>
              <a:rPr lang="en-US" altLang="en-US" sz="2400" dirty="0"/>
              <a:t>) </a:t>
            </a:r>
            <a:r>
              <a:rPr lang="en-US" altLang="en-US" sz="2400" dirty="0">
                <a:sym typeface="Wingdings" pitchFamily="2" charset="2"/>
              </a:rPr>
              <a:t> </a:t>
            </a:r>
            <a:r>
              <a:rPr lang="en-US" altLang="en-US" sz="2400" dirty="0">
                <a:solidFill>
                  <a:srgbClr val="FF0000"/>
                </a:solidFill>
                <a:sym typeface="Wingdings" pitchFamily="2" charset="2"/>
              </a:rPr>
              <a:t>Display</a:t>
            </a:r>
            <a:r>
              <a:rPr lang="en-US" altLang="en-US" sz="2400" dirty="0">
                <a:sym typeface="Wingdings" pitchFamily="2" charset="2"/>
              </a:rPr>
              <a:t>: text1 10</a:t>
            </a:r>
            <a:endParaRPr lang="en-US" altLang="en-US" sz="2400" b="0" dirty="0"/>
          </a:p>
          <a:p>
            <a:pPr marL="457200" lvl="1" indent="0" eaLnBrk="1" hangingPunct="1">
              <a:buNone/>
            </a:pPr>
            <a:r>
              <a:rPr lang="en-US" altLang="en-US" sz="2400" dirty="0"/>
              <a:t>print(</a:t>
            </a:r>
            <a:r>
              <a:rPr lang="en-US" altLang="en-US" sz="2400" b="1" dirty="0" err="1">
                <a:solidFill>
                  <a:srgbClr val="FF0000"/>
                </a:solidFill>
              </a:rPr>
              <a:t>f”</a:t>
            </a:r>
            <a:r>
              <a:rPr lang="en-US" altLang="en-US" sz="2400" dirty="0" err="1"/>
              <a:t>text</a:t>
            </a:r>
            <a:r>
              <a:rPr lang="en-US" altLang="en-US" sz="2400" dirty="0"/>
              <a:t> 1 {</a:t>
            </a:r>
            <a:r>
              <a:rPr lang="en-US" altLang="en-US" sz="2400" dirty="0" err="1"/>
              <a:t>var_name</a:t>
            </a:r>
            <a:r>
              <a:rPr lang="en-US" altLang="en-US" sz="2400" dirty="0"/>
              <a:t>} text 2</a:t>
            </a:r>
            <a:r>
              <a:rPr lang="en-US" altLang="en-US" sz="2400" b="1" dirty="0">
                <a:solidFill>
                  <a:srgbClr val="FF0000"/>
                </a:solidFill>
              </a:rPr>
              <a:t>”</a:t>
            </a:r>
            <a:r>
              <a:rPr lang="en-US" altLang="en-US" sz="2400" dirty="0"/>
              <a:t>) </a:t>
            </a:r>
            <a:r>
              <a:rPr lang="en-US" altLang="en-US" sz="2400" dirty="0">
                <a:sym typeface="Wingdings" pitchFamily="2" charset="2"/>
              </a:rPr>
              <a:t> </a:t>
            </a:r>
            <a:r>
              <a:rPr lang="en-US" altLang="en-US" sz="2400" dirty="0">
                <a:solidFill>
                  <a:srgbClr val="FF0000"/>
                </a:solidFill>
                <a:sym typeface="Wingdings" pitchFamily="2" charset="2"/>
              </a:rPr>
              <a:t>Display</a:t>
            </a:r>
            <a:r>
              <a:rPr lang="en-US" altLang="en-US" sz="2400" dirty="0">
                <a:sym typeface="Wingdings" pitchFamily="2" charset="2"/>
              </a:rPr>
              <a:t>: text1 10 text2</a:t>
            </a:r>
            <a:endParaRPr lang="en-US" altLang="en-US" sz="2400" dirty="0"/>
          </a:p>
          <a:p>
            <a:pPr eaLnBrk="1" hangingPunct="1">
              <a:buFont typeface="Arial" charset="0"/>
              <a:buChar char="•"/>
            </a:pPr>
            <a:endParaRPr lang="en-US" alt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0332"/>
            <a:ext cx="8229600" cy="1143000"/>
          </a:xfrm>
        </p:spPr>
        <p:txBody>
          <a:bodyPr/>
          <a:lstStyle/>
          <a:p>
            <a:pPr algn="l"/>
            <a:r>
              <a:rPr lang="en-US" dirty="0"/>
              <a:t>Sample print statements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2400" y="1969827"/>
            <a:ext cx="5562600" cy="2308324"/>
          </a:xfrm>
          <a:prstGeom prst="rect">
            <a:avLst/>
          </a:prstGeom>
          <a:noFill/>
          <a:ln w="25400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Courier" charset="0"/>
                <a:ea typeface="Courier" charset="0"/>
                <a:cs typeface="Courier" charset="0"/>
              </a:rPr>
              <a:t>#program</a:t>
            </a:r>
          </a:p>
          <a:p>
            <a:endParaRPr lang="en-US" dirty="0">
              <a:latin typeface="Courier" charset="0"/>
              <a:ea typeface="Courier" charset="0"/>
              <a:cs typeface="Courier" charset="0"/>
            </a:endParaRPr>
          </a:p>
          <a:p>
            <a:r>
              <a:rPr lang="en-US" dirty="0">
                <a:latin typeface="Courier" charset="0"/>
                <a:ea typeface="Courier" charset="0"/>
                <a:cs typeface="Courier" charset="0"/>
              </a:rPr>
              <a:t>1 print(‘CSC 15’)</a:t>
            </a:r>
          </a:p>
          <a:p>
            <a:endParaRPr lang="en-US" dirty="0">
              <a:latin typeface="Courier" charset="0"/>
              <a:ea typeface="Courier" charset="0"/>
              <a:cs typeface="Courier" charset="0"/>
            </a:endParaRPr>
          </a:p>
          <a:p>
            <a:r>
              <a:rPr lang="en-US" dirty="0">
                <a:latin typeface="Courier" charset="0"/>
                <a:ea typeface="Courier" charset="0"/>
                <a:cs typeface="Courier" charset="0"/>
              </a:rPr>
              <a:t>2 print(‘CSC15’, ‘Section C’)</a:t>
            </a:r>
          </a:p>
          <a:p>
            <a:endParaRPr lang="en-US" dirty="0">
              <a:latin typeface="Courier" charset="0"/>
              <a:ea typeface="Courier" charset="0"/>
              <a:cs typeface="Courier" charset="0"/>
            </a:endParaRPr>
          </a:p>
          <a:p>
            <a:r>
              <a:rPr lang="en-US" dirty="0">
                <a:latin typeface="Courier" charset="0"/>
                <a:ea typeface="Courier" charset="0"/>
                <a:cs typeface="Courier" charset="0"/>
              </a:rPr>
              <a:t>3 </a:t>
            </a:r>
            <a:r>
              <a:rPr lang="en-US" b="1" dirty="0">
                <a:solidFill>
                  <a:srgbClr val="FF0000"/>
                </a:solidFill>
                <a:latin typeface="Courier" charset="0"/>
                <a:ea typeface="Courier" charset="0"/>
                <a:cs typeface="Courier" charset="0"/>
              </a:rPr>
              <a:t>temp</a:t>
            </a:r>
            <a:r>
              <a:rPr lang="en-US" dirty="0">
                <a:latin typeface="Courier" charset="0"/>
                <a:ea typeface="Courier" charset="0"/>
                <a:cs typeface="Courier" charset="0"/>
              </a:rPr>
              <a:t> = 90</a:t>
            </a:r>
          </a:p>
          <a:p>
            <a:r>
              <a:rPr lang="en-US" dirty="0">
                <a:latin typeface="Courier" charset="0"/>
                <a:ea typeface="Courier" charset="0"/>
                <a:cs typeface="Courier" charset="0"/>
              </a:rPr>
              <a:t>4 print(‘There are‘, </a:t>
            </a:r>
            <a:r>
              <a:rPr lang="en-US" b="1" dirty="0">
                <a:solidFill>
                  <a:srgbClr val="FF0000"/>
                </a:solidFill>
                <a:latin typeface="Courier" charset="0"/>
                <a:ea typeface="Courier" charset="0"/>
                <a:cs typeface="Courier" charset="0"/>
              </a:rPr>
              <a:t>temp</a:t>
            </a:r>
            <a:r>
              <a:rPr lang="en-US" dirty="0">
                <a:latin typeface="Courier" charset="0"/>
                <a:ea typeface="Courier" charset="0"/>
                <a:cs typeface="Courier" charset="0"/>
              </a:rPr>
              <a:t>, ’degrees’)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0" y="1969827"/>
            <a:ext cx="3352800" cy="2308324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             Output:</a:t>
            </a:r>
          </a:p>
          <a:p>
            <a:endParaRPr lang="en-US" dirty="0"/>
          </a:p>
          <a:p>
            <a:r>
              <a:rPr lang="en-US" dirty="0">
                <a:latin typeface="Courier" charset="0"/>
                <a:ea typeface="Courier" charset="0"/>
                <a:cs typeface="Courier" charset="0"/>
              </a:rPr>
              <a:t>1 CSC15</a:t>
            </a:r>
          </a:p>
          <a:p>
            <a:endParaRPr lang="en-US" dirty="0">
              <a:latin typeface="Courier" charset="0"/>
              <a:ea typeface="Courier" charset="0"/>
              <a:cs typeface="Courier" charset="0"/>
            </a:endParaRPr>
          </a:p>
          <a:p>
            <a:r>
              <a:rPr lang="en-US" dirty="0">
                <a:latin typeface="Courier" charset="0"/>
                <a:ea typeface="Courier" charset="0"/>
                <a:cs typeface="Courier" charset="0"/>
              </a:rPr>
              <a:t>2 CSC15 Section C</a:t>
            </a:r>
          </a:p>
          <a:p>
            <a:endParaRPr lang="en-US" dirty="0">
              <a:latin typeface="Courier" charset="0"/>
              <a:ea typeface="Courier" charset="0"/>
              <a:cs typeface="Courier" charset="0"/>
            </a:endParaRPr>
          </a:p>
          <a:p>
            <a:endParaRPr lang="en-US" dirty="0">
              <a:latin typeface="Courier" charset="0"/>
              <a:ea typeface="Courier" charset="0"/>
              <a:cs typeface="Courier" charset="0"/>
            </a:endParaRPr>
          </a:p>
          <a:p>
            <a:r>
              <a:rPr lang="en-US" dirty="0">
                <a:latin typeface="Courier" charset="0"/>
                <a:ea typeface="Courier" charset="0"/>
                <a:cs typeface="Courier" charset="0"/>
              </a:rPr>
              <a:t>4 There are 90 degrees</a:t>
            </a:r>
          </a:p>
        </p:txBody>
      </p:sp>
      <p:sp>
        <p:nvSpPr>
          <p:cNvPr id="6" name="Rounded Rectangular Callout 5"/>
          <p:cNvSpPr/>
          <p:nvPr/>
        </p:nvSpPr>
        <p:spPr bwMode="auto">
          <a:xfrm>
            <a:off x="2133600" y="1428466"/>
            <a:ext cx="2438400" cy="451514"/>
          </a:xfrm>
          <a:prstGeom prst="wedgeRoundRectCallout">
            <a:avLst>
              <a:gd name="adj1" fmla="val -55935"/>
              <a:gd name="adj2" fmla="val 196529"/>
              <a:gd name="adj3" fmla="val 16667"/>
            </a:avLst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String (within</a:t>
            </a:r>
            <a:r>
              <a:rPr kumimoji="0" lang="en-US" sz="1800" b="0" i="0" u="none" strike="noStrike" cap="none" normalizeH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 quotes)</a:t>
            </a: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Rounded Rectangular Callout 6"/>
          <p:cNvSpPr/>
          <p:nvPr/>
        </p:nvSpPr>
        <p:spPr bwMode="auto">
          <a:xfrm>
            <a:off x="5488983" y="1065142"/>
            <a:ext cx="3581400" cy="726648"/>
          </a:xfrm>
          <a:prstGeom prst="wedgeRoundRectCallout">
            <a:avLst>
              <a:gd name="adj1" fmla="val -122240"/>
              <a:gd name="adj2" fmla="val 237764"/>
              <a:gd name="adj3" fmla="val 16667"/>
            </a:avLst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>
                <a:latin typeface="Arial" pitchFamily="34" charset="0"/>
                <a:cs typeface="Arial" pitchFamily="34" charset="0"/>
              </a:rPr>
              <a:t>Comma = concatenates strings (a space is added after each)</a:t>
            </a: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8" name="Rounded Rectangular Callout 7"/>
          <p:cNvSpPr/>
          <p:nvPr/>
        </p:nvSpPr>
        <p:spPr bwMode="auto">
          <a:xfrm>
            <a:off x="4343400" y="5344462"/>
            <a:ext cx="4607517" cy="896791"/>
          </a:xfrm>
          <a:prstGeom prst="wedgeRoundRectCallout">
            <a:avLst>
              <a:gd name="adj1" fmla="val -60619"/>
              <a:gd name="adj2" fmla="val -163789"/>
              <a:gd name="adj3" fmla="val 16667"/>
            </a:avLst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Concatenate other variables</a:t>
            </a:r>
            <a:r>
              <a:rPr lang="en-US" dirty="0">
                <a:latin typeface="Arial" pitchFamily="34" charset="0"/>
                <a:cs typeface="Arial" pitchFamily="34" charset="0"/>
              </a:rPr>
              <a:t> (temp) their values are </a:t>
            </a:r>
            <a:r>
              <a:rPr kumimoji="0" lang="en-US" sz="18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converted automatically into string</a:t>
            </a: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2780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5EE42DD-AFA7-8A8C-DD50-9ECE4FDC57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257800"/>
          </a:xfrm>
        </p:spPr>
        <p:txBody>
          <a:bodyPr/>
          <a:lstStyle/>
          <a:p>
            <a:r>
              <a:rPr lang="en-US" dirty="0"/>
              <a:t>Formatted strings</a:t>
            </a:r>
          </a:p>
          <a:p>
            <a:r>
              <a:rPr lang="en-US" dirty="0"/>
              <a:t>Starts with </a:t>
            </a:r>
            <a:r>
              <a:rPr lang="en-US" dirty="0">
                <a:solidFill>
                  <a:srgbClr val="FF0000"/>
                </a:solidFill>
              </a:rPr>
              <a:t>f”</a:t>
            </a:r>
          </a:p>
          <a:p>
            <a:r>
              <a:rPr lang="en-US" dirty="0"/>
              <a:t>Contains: text</a:t>
            </a:r>
          </a:p>
          <a:p>
            <a:r>
              <a:rPr lang="en-US" dirty="0"/>
              <a:t>Variables in </a:t>
            </a:r>
            <a:r>
              <a:rPr lang="en-US" dirty="0">
                <a:solidFill>
                  <a:srgbClr val="FF0000"/>
                </a:solidFill>
              </a:rPr>
              <a:t>{}</a:t>
            </a:r>
          </a:p>
          <a:p>
            <a:r>
              <a:rPr lang="en-US" dirty="0"/>
              <a:t>Ends with </a:t>
            </a:r>
            <a:r>
              <a:rPr lang="en-US" dirty="0">
                <a:solidFill>
                  <a:srgbClr val="FF0000"/>
                </a:solidFill>
              </a:rPr>
              <a:t>“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Example: </a:t>
            </a:r>
          </a:p>
          <a:p>
            <a:pPr marL="0" indent="0">
              <a:buNone/>
            </a:pPr>
            <a:r>
              <a:rPr lang="en-US" altLang="en-US" sz="2600" dirty="0"/>
              <a:t>	print(</a:t>
            </a:r>
            <a:r>
              <a:rPr lang="en-US" altLang="en-US" sz="2600" b="1" dirty="0" err="1">
                <a:solidFill>
                  <a:srgbClr val="FF0000"/>
                </a:solidFill>
              </a:rPr>
              <a:t>f”</a:t>
            </a:r>
            <a:r>
              <a:rPr lang="en-US" altLang="en-US" sz="2600" dirty="0" err="1"/>
              <a:t>text</a:t>
            </a:r>
            <a:r>
              <a:rPr lang="en-US" altLang="en-US" sz="2600" dirty="0"/>
              <a:t> 1 </a:t>
            </a:r>
            <a:r>
              <a:rPr lang="en-US" altLang="en-US" sz="2600" dirty="0">
                <a:solidFill>
                  <a:srgbClr val="FF0000"/>
                </a:solidFill>
              </a:rPr>
              <a:t>{</a:t>
            </a:r>
            <a:r>
              <a:rPr lang="en-US" altLang="en-US" sz="2600" dirty="0" err="1"/>
              <a:t>var_name</a:t>
            </a:r>
            <a:r>
              <a:rPr lang="en-US" altLang="en-US" sz="2600" dirty="0">
                <a:solidFill>
                  <a:srgbClr val="FF0000"/>
                </a:solidFill>
              </a:rPr>
              <a:t>}</a:t>
            </a:r>
            <a:r>
              <a:rPr lang="en-US" altLang="en-US" sz="2600" dirty="0"/>
              <a:t> text 2</a:t>
            </a:r>
            <a:r>
              <a:rPr lang="en-US" altLang="en-US" sz="2600" b="1" dirty="0">
                <a:solidFill>
                  <a:srgbClr val="FF0000"/>
                </a:solidFill>
              </a:rPr>
              <a:t>”</a:t>
            </a:r>
            <a:r>
              <a:rPr lang="en-US" altLang="en-US" sz="2600" dirty="0"/>
              <a:t>) </a:t>
            </a:r>
            <a:r>
              <a:rPr lang="en-US" altLang="en-US" sz="2600" dirty="0">
                <a:sym typeface="Wingdings" pitchFamily="2" charset="2"/>
              </a:rPr>
              <a:t> </a:t>
            </a:r>
          </a:p>
          <a:p>
            <a:pPr marL="0" indent="0">
              <a:buNone/>
            </a:pPr>
            <a:r>
              <a:rPr lang="en-US" altLang="en-US" sz="2600" dirty="0">
                <a:solidFill>
                  <a:srgbClr val="FF0000"/>
                </a:solidFill>
                <a:sym typeface="Wingdings" pitchFamily="2" charset="2"/>
              </a:rPr>
              <a:t>	Display</a:t>
            </a:r>
            <a:r>
              <a:rPr lang="en-US" altLang="en-US" sz="2600" dirty="0">
                <a:sym typeface="Wingdings" pitchFamily="2" charset="2"/>
              </a:rPr>
              <a:t>: text1 10 text2</a:t>
            </a:r>
            <a:endParaRPr lang="en-US" altLang="en-US" sz="2600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4A06968-015F-2273-BE7F-C0D16B6DC6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F-strings</a:t>
            </a:r>
          </a:p>
        </p:txBody>
      </p:sp>
    </p:spTree>
    <p:extLst>
      <p:ext uri="{BB962C8B-B14F-4D97-AF65-F5344CB8AC3E}">
        <p14:creationId xmlns:p14="http://schemas.microsoft.com/office/powerpoint/2010/main" val="26189164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>
          <a:xfrm>
            <a:off x="304800" y="2286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en-US" dirty="0"/>
              <a:t>Input from the Keyboard</a:t>
            </a:r>
            <a:endParaRPr lang="he-IL" altLang="en-US" dirty="0"/>
          </a:p>
        </p:txBody>
      </p:sp>
      <p:sp>
        <p:nvSpPr>
          <p:cNvPr id="19459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534400" cy="4876800"/>
          </a:xfrm>
        </p:spPr>
        <p:txBody>
          <a:bodyPr/>
          <a:lstStyle/>
          <a:p>
            <a:pPr eaLnBrk="1" hangingPunct="1">
              <a:defRPr/>
            </a:pPr>
            <a:r>
              <a:rPr lang="en-US" sz="2800" dirty="0">
                <a:solidFill>
                  <a:srgbClr val="FF0000"/>
                </a:solidFill>
                <a:latin typeface="Courier New" pitchFamily="49" charset="0"/>
                <a:ea typeface="+mn-ea"/>
                <a:cs typeface="Courier New" pitchFamily="49" charset="0"/>
              </a:rPr>
              <a:t>input</a:t>
            </a:r>
            <a:r>
              <a:rPr lang="en-US" sz="2800" dirty="0">
                <a:solidFill>
                  <a:srgbClr val="FF0000"/>
                </a:solidFill>
                <a:ea typeface="+mn-ea"/>
              </a:rPr>
              <a:t> function reads input from keyboard</a:t>
            </a:r>
          </a:p>
          <a:p>
            <a:pPr marL="457200" lvl="1" indent="0" eaLnBrk="1" hangingPunct="1">
              <a:buNone/>
              <a:defRPr/>
            </a:pPr>
            <a:endParaRPr lang="en-US" sz="2400" dirty="0"/>
          </a:p>
          <a:p>
            <a:pPr eaLnBrk="1" hangingPunct="1">
              <a:defRPr/>
            </a:pPr>
            <a:r>
              <a:rPr lang="en-US" sz="2600" dirty="0"/>
              <a:t>Format: </a:t>
            </a:r>
            <a:r>
              <a:rPr lang="en-US" sz="2600" b="1" i="1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var_name</a:t>
            </a:r>
            <a:r>
              <a:rPr lang="en-US" sz="26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 = input(</a:t>
            </a:r>
            <a:r>
              <a:rPr lang="en-US" sz="2600" b="1" i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prompt</a:t>
            </a:r>
            <a:r>
              <a:rPr lang="en-US" sz="26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)</a:t>
            </a:r>
          </a:p>
          <a:p>
            <a:pPr lvl="3" eaLnBrk="1" hangingPunct="1">
              <a:defRPr/>
            </a:pPr>
            <a:endParaRPr lang="en-US" sz="1400" b="1" dirty="0">
              <a:solidFill>
                <a:srgbClr val="FF0000"/>
              </a:solidFill>
              <a:latin typeface="Courier New" pitchFamily="49" charset="0"/>
              <a:cs typeface="Courier New" pitchFamily="49" charset="0"/>
            </a:endParaRPr>
          </a:p>
          <a:p>
            <a:pPr eaLnBrk="1" hangingPunct="1">
              <a:defRPr/>
            </a:pPr>
            <a:r>
              <a:rPr lang="en-US" sz="2600" dirty="0">
                <a:latin typeface="Courier New" pitchFamily="49" charset="0"/>
                <a:cs typeface="Courier New" pitchFamily="49" charset="0"/>
              </a:rPr>
              <a:t>prompt </a:t>
            </a:r>
            <a:r>
              <a:rPr lang="en-US" sz="2600" dirty="0">
                <a:latin typeface="+mj-lt"/>
                <a:cs typeface="Courier New" pitchFamily="49" charset="0"/>
              </a:rPr>
              <a:t>is typically a string instructing user to enter a value</a:t>
            </a:r>
          </a:p>
          <a:p>
            <a:pPr lvl="4" eaLnBrk="1" hangingPunct="1">
              <a:defRPr/>
            </a:pPr>
            <a:endParaRPr lang="en-US" sz="1400" dirty="0">
              <a:latin typeface="+mj-lt"/>
              <a:cs typeface="Courier New" pitchFamily="49" charset="0"/>
            </a:endParaRPr>
          </a:p>
          <a:p>
            <a:pPr eaLnBrk="1" hangingPunct="1">
              <a:defRPr/>
            </a:pPr>
            <a:r>
              <a:rPr lang="en-US" sz="2600" dirty="0">
                <a:latin typeface="+mj-lt"/>
                <a:cs typeface="Courier New" pitchFamily="49" charset="0"/>
              </a:rPr>
              <a:t>Program waits until user enters a value and presses enter</a:t>
            </a:r>
          </a:p>
          <a:p>
            <a:pPr lvl="4" eaLnBrk="1" hangingPunct="1">
              <a:defRPr/>
            </a:pPr>
            <a:endParaRPr lang="en-US" sz="1400" dirty="0">
              <a:latin typeface="+mj-lt"/>
              <a:cs typeface="Courier New" pitchFamily="49" charset="0"/>
            </a:endParaRPr>
          </a:p>
          <a:p>
            <a:pPr eaLnBrk="1" hangingPunct="1">
              <a:defRPr/>
            </a:pPr>
            <a:r>
              <a:rPr lang="en-US" sz="2600" dirty="0" err="1">
                <a:latin typeface="+mj-lt"/>
                <a:cs typeface="Courier New" pitchFamily="49" charset="0"/>
              </a:rPr>
              <a:t>var_name</a:t>
            </a:r>
            <a:r>
              <a:rPr lang="en-US" sz="2600" dirty="0">
                <a:latin typeface="+mj-lt"/>
                <a:cs typeface="Courier New" pitchFamily="49" charset="0"/>
              </a:rPr>
              <a:t> = user’s value (</a:t>
            </a:r>
            <a:r>
              <a:rPr lang="en-US" sz="2600" dirty="0">
                <a:solidFill>
                  <a:srgbClr val="FF0000"/>
                </a:solidFill>
                <a:latin typeface="+mj-lt"/>
                <a:cs typeface="Courier New" pitchFamily="49" charset="0"/>
              </a:rPr>
              <a:t>ALWAYS A STRING</a:t>
            </a:r>
            <a:r>
              <a:rPr lang="en-US" sz="2600" dirty="0">
                <a:latin typeface="+mj-lt"/>
                <a:cs typeface="Courier New" pitchFamily="49" charset="0"/>
              </a:rPr>
              <a:t>)</a:t>
            </a:r>
          </a:p>
          <a:p>
            <a:pPr lvl="2" eaLnBrk="1" hangingPunct="1">
              <a:defRPr/>
            </a:pPr>
            <a:endParaRPr lang="en-US" sz="2000" dirty="0">
              <a:latin typeface="+mj-lt"/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9144000" cy="1143000"/>
          </a:xfrm>
        </p:spPr>
        <p:txBody>
          <a:bodyPr/>
          <a:lstStyle/>
          <a:p>
            <a:pPr algn="l" eaLnBrk="1" hangingPunct="1"/>
            <a:r>
              <a:rPr lang="en-US" altLang="en-US" dirty="0"/>
              <a:t>Reading numbers with </a:t>
            </a:r>
            <a:r>
              <a:rPr lang="en-US" altLang="en-US" dirty="0">
                <a:latin typeface="Courier New" charset="0"/>
                <a:ea typeface="Courier New" charset="0"/>
                <a:cs typeface="Courier New" charset="0"/>
              </a:rPr>
              <a:t>input</a:t>
            </a:r>
            <a:r>
              <a:rPr lang="en-US" altLang="en-US" dirty="0"/>
              <a:t> function</a:t>
            </a:r>
            <a:endParaRPr lang="he-IL" alt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609600" y="1905000"/>
            <a:ext cx="8229600" cy="4800600"/>
          </a:xfrm>
        </p:spPr>
        <p:txBody>
          <a:bodyPr/>
          <a:lstStyle/>
          <a:p>
            <a:pPr eaLnBrk="1" hangingPunct="1">
              <a:buFont typeface="Arial" charset="0"/>
              <a:buChar char="•"/>
            </a:pPr>
            <a:r>
              <a:rPr lang="en-US" altLang="en-US" sz="2800" dirty="0">
                <a:latin typeface="Courier New" charset="0"/>
                <a:ea typeface="Courier New" charset="0"/>
                <a:cs typeface="Courier New" charset="0"/>
              </a:rPr>
              <a:t>input </a:t>
            </a:r>
            <a:r>
              <a:rPr lang="en-US" altLang="en-US" sz="2800" dirty="0"/>
              <a:t>function always returns a string</a:t>
            </a:r>
          </a:p>
          <a:p>
            <a:pPr eaLnBrk="1" hangingPunct="1">
              <a:buFont typeface="Arial" charset="0"/>
              <a:buChar char="•"/>
            </a:pPr>
            <a:endParaRPr lang="en-US" altLang="en-US" sz="2800" dirty="0"/>
          </a:p>
          <a:p>
            <a:pPr eaLnBrk="1" hangingPunct="1">
              <a:buFont typeface="Arial" charset="0"/>
              <a:buChar char="•"/>
            </a:pPr>
            <a:r>
              <a:rPr lang="en-US" altLang="en-US" sz="2800" dirty="0"/>
              <a:t>Built-in functions convert between data types</a:t>
            </a:r>
          </a:p>
          <a:p>
            <a:pPr eaLnBrk="1" hangingPunct="1">
              <a:buFont typeface="Arial" charset="0"/>
              <a:buChar char="•"/>
            </a:pPr>
            <a:endParaRPr lang="en-US" altLang="en-US" sz="2800" dirty="0"/>
          </a:p>
          <a:p>
            <a:pPr lvl="1" eaLnBrk="1" hangingPunct="1">
              <a:buFont typeface="Arial" charset="0"/>
              <a:buChar char="•"/>
            </a:pPr>
            <a:r>
              <a:rPr lang="en-US" altLang="en-US" sz="2400" b="1" dirty="0">
                <a:solidFill>
                  <a:srgbClr val="FF0000"/>
                </a:solidFill>
                <a:latin typeface="Courier New" charset="0"/>
                <a:ea typeface="Courier New" charset="0"/>
                <a:cs typeface="Courier New" charset="0"/>
              </a:rPr>
              <a:t>int(</a:t>
            </a:r>
            <a:r>
              <a:rPr lang="en-US" altLang="en-US" sz="2400" b="1" i="1" dirty="0">
                <a:solidFill>
                  <a:srgbClr val="FF0000"/>
                </a:solidFill>
                <a:latin typeface="Courier New" charset="0"/>
                <a:ea typeface="Courier New" charset="0"/>
                <a:cs typeface="Courier New" charset="0"/>
              </a:rPr>
              <a:t>input(prompt</a:t>
            </a:r>
            <a:r>
              <a:rPr lang="en-US" altLang="en-US" sz="2400" b="1" dirty="0">
                <a:solidFill>
                  <a:srgbClr val="FF0000"/>
                </a:solidFill>
                <a:latin typeface="Courier New" charset="0"/>
                <a:ea typeface="Courier New" charset="0"/>
                <a:cs typeface="Courier New" charset="0"/>
              </a:rPr>
              <a:t>) </a:t>
            </a:r>
            <a:r>
              <a:rPr lang="en-US" altLang="en-US" sz="2400" b="1" dirty="0">
                <a:solidFill>
                  <a:srgbClr val="FF0000"/>
                </a:solidFill>
              </a:rPr>
              <a:t> </a:t>
            </a:r>
            <a:r>
              <a:rPr lang="en-US" altLang="en-US" sz="2400" b="1" dirty="0"/>
              <a:t>converts </a:t>
            </a:r>
            <a:r>
              <a:rPr lang="en-US" altLang="en-US" sz="2400" b="1" i="1" dirty="0">
                <a:latin typeface="Courier New" charset="0"/>
                <a:ea typeface="Courier New" charset="0"/>
                <a:cs typeface="Courier New" charset="0"/>
              </a:rPr>
              <a:t>input</a:t>
            </a:r>
            <a:r>
              <a:rPr lang="en-US" altLang="en-US" sz="2400" b="1" dirty="0"/>
              <a:t> to an </a:t>
            </a:r>
            <a:r>
              <a:rPr lang="en-US" altLang="en-US" sz="2400" b="1" dirty="0">
                <a:latin typeface="Courier New" charset="0"/>
                <a:ea typeface="Courier New" charset="0"/>
                <a:cs typeface="Courier New" charset="0"/>
              </a:rPr>
              <a:t>int</a:t>
            </a:r>
          </a:p>
          <a:p>
            <a:pPr lvl="1" eaLnBrk="1" hangingPunct="1">
              <a:buFont typeface="Arial" charset="0"/>
              <a:buChar char="•"/>
            </a:pPr>
            <a:endParaRPr lang="en-US" altLang="en-US" sz="2400" b="1" dirty="0">
              <a:latin typeface="Courier New" charset="0"/>
              <a:ea typeface="Courier New" charset="0"/>
              <a:cs typeface="Courier New" charset="0"/>
            </a:endParaRPr>
          </a:p>
          <a:p>
            <a:pPr lvl="1" eaLnBrk="1" hangingPunct="1">
              <a:buFont typeface="Arial" charset="0"/>
              <a:buChar char="•"/>
            </a:pPr>
            <a:r>
              <a:rPr lang="en-US" altLang="en-US" sz="2400" b="1" dirty="0">
                <a:solidFill>
                  <a:srgbClr val="FF0000"/>
                </a:solidFill>
                <a:latin typeface="Courier New" charset="0"/>
                <a:ea typeface="Courier New" charset="0"/>
                <a:cs typeface="Courier New" charset="0"/>
              </a:rPr>
              <a:t>float(</a:t>
            </a:r>
            <a:r>
              <a:rPr lang="en-US" altLang="en-US" sz="2400" b="1" i="1" dirty="0">
                <a:solidFill>
                  <a:srgbClr val="FF0000"/>
                </a:solidFill>
                <a:latin typeface="Courier New" charset="0"/>
                <a:ea typeface="Courier New" charset="0"/>
                <a:cs typeface="Courier New" charset="0"/>
              </a:rPr>
              <a:t>input(prompt)</a:t>
            </a:r>
            <a:r>
              <a:rPr lang="en-US" altLang="en-US" sz="2400" b="1" dirty="0">
                <a:solidFill>
                  <a:srgbClr val="FF0000"/>
                </a:solidFill>
                <a:latin typeface="Courier New" charset="0"/>
                <a:ea typeface="Courier New" charset="0"/>
                <a:cs typeface="Courier New" charset="0"/>
              </a:rPr>
              <a:t>)</a:t>
            </a:r>
            <a:r>
              <a:rPr lang="en-US" altLang="en-US" sz="2400" b="1" dirty="0">
                <a:solidFill>
                  <a:srgbClr val="FF0000"/>
                </a:solidFill>
              </a:rPr>
              <a:t> </a:t>
            </a:r>
            <a:r>
              <a:rPr lang="en-US" altLang="en-US" sz="2400" b="1" dirty="0"/>
              <a:t>converts </a:t>
            </a:r>
            <a:r>
              <a:rPr lang="en-US" altLang="en-US" sz="2400" b="1" i="1" dirty="0">
                <a:latin typeface="Courier New" charset="0"/>
                <a:cs typeface="Courier New" charset="0"/>
              </a:rPr>
              <a:t>input </a:t>
            </a:r>
            <a:r>
              <a:rPr lang="en-US" altLang="en-US" sz="2400" b="1" dirty="0"/>
              <a:t>to a </a:t>
            </a:r>
            <a:r>
              <a:rPr lang="en-US" altLang="en-US" sz="2400" b="1" dirty="0">
                <a:latin typeface="Courier New" charset="0"/>
                <a:ea typeface="Courier New" charset="0"/>
                <a:cs typeface="Courier New" charset="0"/>
              </a:rPr>
              <a:t>float</a:t>
            </a:r>
          </a:p>
          <a:p>
            <a:pPr lvl="1" eaLnBrk="1" hangingPunct="1">
              <a:buFont typeface="Arial" charset="0"/>
              <a:buChar char="•"/>
            </a:pPr>
            <a:endParaRPr lang="en-US" altLang="en-US" sz="2400" b="1" dirty="0">
              <a:solidFill>
                <a:srgbClr val="FF0000"/>
              </a:solidFill>
              <a:latin typeface="Courier New" charset="0"/>
              <a:ea typeface="Courier New" charset="0"/>
              <a:cs typeface="Courier New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1143000"/>
          </a:xfrm>
        </p:spPr>
        <p:txBody>
          <a:bodyPr/>
          <a:lstStyle/>
          <a:p>
            <a:pPr algn="l"/>
            <a:r>
              <a:rPr lang="en-US" dirty="0"/>
              <a:t>Examples using input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1524000"/>
            <a:ext cx="5727357" cy="2031325"/>
          </a:xfrm>
          <a:prstGeom prst="rect">
            <a:avLst/>
          </a:prstGeom>
          <a:noFill/>
          <a:ln w="25400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latin typeface="Courier" charset="0"/>
                <a:ea typeface="Courier" charset="0"/>
                <a:cs typeface="Courier" charset="0"/>
              </a:rPr>
              <a:t># program</a:t>
            </a:r>
          </a:p>
          <a:p>
            <a:endParaRPr lang="en-US" b="1" dirty="0">
              <a:latin typeface="Courier" charset="0"/>
              <a:ea typeface="Courier" charset="0"/>
              <a:cs typeface="Courier" charset="0"/>
            </a:endParaRPr>
          </a:p>
          <a:p>
            <a:r>
              <a:rPr lang="en-US" b="1" dirty="0" err="1">
                <a:latin typeface="Courier" charset="0"/>
                <a:ea typeface="Courier" charset="0"/>
                <a:cs typeface="Courier" charset="0"/>
              </a:rPr>
              <a:t>celsius</a:t>
            </a:r>
            <a:r>
              <a:rPr lang="en-US" b="1" dirty="0">
                <a:latin typeface="Courier" charset="0"/>
                <a:ea typeface="Courier" charset="0"/>
                <a:cs typeface="Courier" charset="0"/>
              </a:rPr>
              <a:t> = </a:t>
            </a:r>
            <a:r>
              <a:rPr lang="en-US" b="1" dirty="0">
                <a:solidFill>
                  <a:srgbClr val="FF0000"/>
                </a:solidFill>
                <a:latin typeface="Courier" charset="0"/>
                <a:ea typeface="Courier" charset="0"/>
                <a:cs typeface="Courier" charset="0"/>
              </a:rPr>
              <a:t>int</a:t>
            </a:r>
            <a:r>
              <a:rPr lang="en-US" b="1" dirty="0">
                <a:latin typeface="Courier" charset="0"/>
                <a:ea typeface="Courier" charset="0"/>
                <a:cs typeface="Courier" charset="0"/>
              </a:rPr>
              <a:t>(input(‘Enter C temper: ’))</a:t>
            </a:r>
          </a:p>
          <a:p>
            <a:endParaRPr lang="en-US" b="1" dirty="0">
              <a:latin typeface="Courier" charset="0"/>
              <a:ea typeface="Courier" charset="0"/>
              <a:cs typeface="Courier" charset="0"/>
            </a:endParaRPr>
          </a:p>
          <a:p>
            <a:r>
              <a:rPr lang="en-US" b="1" dirty="0">
                <a:latin typeface="Courier" charset="0"/>
                <a:ea typeface="Courier" charset="0"/>
                <a:cs typeface="Courier" charset="0"/>
              </a:rPr>
              <a:t>name    = input(’Enter your name: </a:t>
            </a:r>
            <a:r>
              <a:rPr lang="en-US" b="1" dirty="0">
                <a:latin typeface="Courier" charset="0"/>
                <a:ea typeface="Courier" charset="0"/>
                <a:cs typeface="Courier" charset="0"/>
                <a:sym typeface="Wingdings"/>
              </a:rPr>
              <a:t>‘)</a:t>
            </a:r>
            <a:endParaRPr lang="en-US" b="1" dirty="0">
              <a:latin typeface="Courier" charset="0"/>
              <a:ea typeface="Courier" charset="0"/>
              <a:cs typeface="Courier" charset="0"/>
            </a:endParaRPr>
          </a:p>
          <a:p>
            <a:endParaRPr lang="en-US" b="1" dirty="0">
              <a:latin typeface="Courier" charset="0"/>
              <a:ea typeface="Courier" charset="0"/>
              <a:cs typeface="Courier" charset="0"/>
            </a:endParaRPr>
          </a:p>
          <a:p>
            <a:r>
              <a:rPr lang="en-US" b="1" dirty="0">
                <a:latin typeface="Courier" charset="0"/>
                <a:ea typeface="Courier" charset="0"/>
                <a:cs typeface="Courier" charset="0"/>
              </a:rPr>
              <a:t>print(name)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67000" y="4038600"/>
            <a:ext cx="3352800" cy="2031325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             Output:</a:t>
            </a:r>
          </a:p>
          <a:p>
            <a:endParaRPr lang="en-US" dirty="0"/>
          </a:p>
          <a:p>
            <a:r>
              <a:rPr lang="en-US" b="1" dirty="0">
                <a:latin typeface="Courier New" charset="0"/>
                <a:ea typeface="Courier New" charset="0"/>
                <a:cs typeface="Courier New" charset="0"/>
              </a:rPr>
              <a:t>Enter C temper:45</a:t>
            </a:r>
          </a:p>
          <a:p>
            <a:endParaRPr lang="en-US" b="1" dirty="0">
              <a:latin typeface="Courier New" charset="0"/>
              <a:ea typeface="Courier New" charset="0"/>
              <a:cs typeface="Courier New" charset="0"/>
            </a:endParaRPr>
          </a:p>
          <a:p>
            <a:r>
              <a:rPr lang="en-US" b="1" dirty="0">
                <a:latin typeface="Courier New" charset="0"/>
                <a:ea typeface="Courier New" charset="0"/>
                <a:cs typeface="Courier New" charset="0"/>
              </a:rPr>
              <a:t>Enter your </a:t>
            </a:r>
            <a:r>
              <a:rPr lang="en-US" b="1" dirty="0" err="1">
                <a:latin typeface="Courier New" charset="0"/>
                <a:ea typeface="Courier New" charset="0"/>
                <a:cs typeface="Courier New" charset="0"/>
              </a:rPr>
              <a:t>name:J</a:t>
            </a:r>
            <a:r>
              <a:rPr lang="en-US" b="1" dirty="0">
                <a:latin typeface="Courier New" charset="0"/>
                <a:ea typeface="Courier New" charset="0"/>
                <a:cs typeface="Courier New" charset="0"/>
              </a:rPr>
              <a:t> Smith</a:t>
            </a:r>
          </a:p>
          <a:p>
            <a:endParaRPr lang="en-US" b="1" dirty="0">
              <a:latin typeface="Courier New" charset="0"/>
              <a:ea typeface="Courier New" charset="0"/>
              <a:cs typeface="Courier New" charset="0"/>
            </a:endParaRPr>
          </a:p>
          <a:p>
            <a:r>
              <a:rPr lang="en-US" b="1" dirty="0">
                <a:latin typeface="Courier New" charset="0"/>
                <a:ea typeface="Courier New" charset="0"/>
                <a:cs typeface="Courier New" charset="0"/>
              </a:rPr>
              <a:t>name = ‘J Smith’</a:t>
            </a:r>
          </a:p>
        </p:txBody>
      </p:sp>
    </p:spTree>
    <p:extLst>
      <p:ext uri="{BB962C8B-B14F-4D97-AF65-F5344CB8AC3E}">
        <p14:creationId xmlns:p14="http://schemas.microsoft.com/office/powerpoint/2010/main" val="5138619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en-US" dirty="0"/>
              <a:t>What are operators</a:t>
            </a:r>
            <a:endParaRPr lang="he-IL" altLang="en-US" dirty="0"/>
          </a:p>
        </p:txBody>
      </p:sp>
      <p:sp>
        <p:nvSpPr>
          <p:cNvPr id="23555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029200"/>
          </a:xfrm>
        </p:spPr>
        <p:txBody>
          <a:bodyPr/>
          <a:lstStyle/>
          <a:p>
            <a:pPr lvl="1" eaLnBrk="1" hangingPunct="1">
              <a:buFont typeface="Arial" charset="0"/>
              <a:buChar char="•"/>
            </a:pPr>
            <a:r>
              <a:rPr lang="en-US" altLang="en-US" b="1" dirty="0">
                <a:solidFill>
                  <a:srgbClr val="FF0000"/>
                </a:solidFill>
              </a:rPr>
              <a:t>Integer operators   = *, +, -, //, % (remainder)</a:t>
            </a:r>
          </a:p>
          <a:p>
            <a:pPr lvl="1" eaLnBrk="1" hangingPunct="1">
              <a:buFont typeface="Arial" charset="0"/>
              <a:buChar char="•"/>
            </a:pPr>
            <a:r>
              <a:rPr lang="en-US" altLang="en-US" b="1" dirty="0">
                <a:solidFill>
                  <a:srgbClr val="FF0000"/>
                </a:solidFill>
              </a:rPr>
              <a:t>Float operators      = *, +, -, /</a:t>
            </a:r>
          </a:p>
          <a:p>
            <a:pPr lvl="1" eaLnBrk="1" hangingPunct="1">
              <a:buFont typeface="Arial" charset="0"/>
              <a:buChar char="•"/>
            </a:pPr>
            <a:r>
              <a:rPr lang="en-US" altLang="en-US" b="1" dirty="0">
                <a:solidFill>
                  <a:srgbClr val="FF0000"/>
                </a:solidFill>
              </a:rPr>
              <a:t>Boolean operators = and, or, not</a:t>
            </a:r>
          </a:p>
          <a:p>
            <a:pPr lvl="2" eaLnBrk="1" hangingPunct="1">
              <a:buFont typeface="Arial" charset="0"/>
              <a:buChar char="•"/>
            </a:pPr>
            <a:endParaRPr lang="en-US" altLang="en-US" sz="2000" b="1" dirty="0">
              <a:solidFill>
                <a:srgbClr val="FF0000"/>
              </a:solidFill>
            </a:endParaRPr>
          </a:p>
          <a:p>
            <a:pPr lvl="1" eaLnBrk="1" hangingPunct="1">
              <a:buFont typeface="Arial" charset="0"/>
              <a:buChar char="•"/>
            </a:pPr>
            <a:r>
              <a:rPr lang="en-US" altLang="en-US" sz="2400" dirty="0"/>
              <a:t>Resulting value typically assigned to variable</a:t>
            </a:r>
          </a:p>
          <a:p>
            <a:pPr eaLnBrk="1" hangingPunct="1">
              <a:buFont typeface="Arial" charset="0"/>
              <a:buChar char="•"/>
            </a:pPr>
            <a:endParaRPr lang="en-US" altLang="en-US" sz="2800" dirty="0"/>
          </a:p>
          <a:p>
            <a:pPr lvl="1" eaLnBrk="1" hangingPunct="1">
              <a:buFont typeface="Arial" charset="0"/>
              <a:buChar char="•"/>
            </a:pPr>
            <a:r>
              <a:rPr lang="en-US" altLang="en-US" sz="2400" dirty="0">
                <a:solidFill>
                  <a:srgbClr val="0070C0"/>
                </a:solidFill>
                <a:latin typeface="Courier New" charset="0"/>
                <a:ea typeface="Courier New" charset="0"/>
                <a:cs typeface="Courier New" charset="0"/>
              </a:rPr>
              <a:t>/</a:t>
            </a:r>
            <a:r>
              <a:rPr lang="en-US" altLang="en-US" sz="2400" dirty="0">
                <a:solidFill>
                  <a:srgbClr val="0070C0"/>
                </a:solidFill>
              </a:rPr>
              <a:t> operator performs floating point division</a:t>
            </a:r>
          </a:p>
          <a:p>
            <a:pPr lvl="1" eaLnBrk="1" hangingPunct="1">
              <a:buFont typeface="Arial" charset="0"/>
              <a:buChar char="•"/>
            </a:pPr>
            <a:r>
              <a:rPr lang="en-US" altLang="en-US" sz="2400" dirty="0">
                <a:solidFill>
                  <a:srgbClr val="0070C0"/>
                </a:solidFill>
                <a:latin typeface="Courier New" charset="0"/>
                <a:ea typeface="Courier New" charset="0"/>
                <a:cs typeface="Courier New" charset="0"/>
              </a:rPr>
              <a:t>//</a:t>
            </a:r>
            <a:r>
              <a:rPr lang="en-US" altLang="en-US" sz="2400" dirty="0">
                <a:solidFill>
                  <a:srgbClr val="0070C0"/>
                </a:solidFill>
              </a:rPr>
              <a:t> operator performs integer division</a:t>
            </a:r>
          </a:p>
          <a:p>
            <a:pPr lvl="2" eaLnBrk="1" hangingPunct="1">
              <a:buFont typeface="Arial" charset="0"/>
              <a:buChar char="•"/>
            </a:pPr>
            <a:r>
              <a:rPr lang="en-US" altLang="en-US" sz="2000" dirty="0">
                <a:solidFill>
                  <a:srgbClr val="0070C0"/>
                </a:solidFill>
              </a:rPr>
              <a:t>Positive results truncated, negative rounded away from zero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en-US" dirty="0"/>
              <a:t>The Exponent Operator and the Remainder Operator</a:t>
            </a:r>
            <a:endParaRPr lang="he-IL" altLang="en-US" dirty="0"/>
          </a:p>
        </p:txBody>
      </p:sp>
      <p:sp>
        <p:nvSpPr>
          <p:cNvPr id="23555" name="Content Placeholder 2"/>
          <p:cNvSpPr>
            <a:spLocks noGrp="1"/>
          </p:cNvSpPr>
          <p:nvPr>
            <p:ph idx="1"/>
          </p:nvPr>
        </p:nvSpPr>
        <p:spPr>
          <a:xfrm>
            <a:off x="609600" y="1828800"/>
            <a:ext cx="8229600" cy="4525963"/>
          </a:xfrm>
        </p:spPr>
        <p:txBody>
          <a:bodyPr/>
          <a:lstStyle/>
          <a:p>
            <a:pPr eaLnBrk="1" hangingPunct="1">
              <a:defRPr/>
            </a:pPr>
            <a:r>
              <a:rPr lang="en-US" u="sng" dirty="0">
                <a:ea typeface="+mn-ea"/>
              </a:rPr>
              <a:t>Exponent operator (</a:t>
            </a:r>
            <a:r>
              <a:rPr lang="en-US" u="sng" dirty="0">
                <a:latin typeface="Courier New" pitchFamily="49" charset="0"/>
                <a:ea typeface="+mn-ea"/>
                <a:cs typeface="Courier New" pitchFamily="49" charset="0"/>
              </a:rPr>
              <a:t>**</a:t>
            </a:r>
            <a:r>
              <a:rPr lang="en-US" u="sng" dirty="0">
                <a:ea typeface="+mn-ea"/>
              </a:rPr>
              <a:t>)</a:t>
            </a:r>
            <a:r>
              <a:rPr lang="en-US" dirty="0">
                <a:ea typeface="+mn-ea"/>
              </a:rPr>
              <a:t>: Raises a number to a power</a:t>
            </a:r>
          </a:p>
          <a:p>
            <a:pPr lvl="1" eaLnBrk="1" hangingPunct="1">
              <a:defRPr/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x ** y = x</a:t>
            </a:r>
            <a:r>
              <a:rPr lang="en-US" baseline="30000" dirty="0">
                <a:latin typeface="Courier New" pitchFamily="49" charset="0"/>
                <a:cs typeface="Courier New" pitchFamily="49" charset="0"/>
              </a:rPr>
              <a:t>y</a:t>
            </a:r>
            <a:endParaRPr lang="en-US" baseline="30000" dirty="0"/>
          </a:p>
          <a:p>
            <a:pPr eaLnBrk="1" hangingPunct="1">
              <a:defRPr/>
            </a:pPr>
            <a:r>
              <a:rPr lang="en-US" dirty="0">
                <a:latin typeface="+mj-lt"/>
                <a:ea typeface="+mn-ea"/>
                <a:cs typeface="Courier New" pitchFamily="49" charset="0"/>
              </a:rPr>
              <a:t>Remainder operator (</a:t>
            </a:r>
            <a:r>
              <a:rPr lang="en-US" dirty="0">
                <a:latin typeface="Courier New" pitchFamily="49" charset="0"/>
                <a:ea typeface="+mn-ea"/>
                <a:cs typeface="Courier New" pitchFamily="49" charset="0"/>
              </a:rPr>
              <a:t>%</a:t>
            </a:r>
            <a:r>
              <a:rPr lang="en-US" dirty="0">
                <a:latin typeface="+mj-lt"/>
                <a:ea typeface="+mn-ea"/>
                <a:cs typeface="Courier New" pitchFamily="49" charset="0"/>
              </a:rPr>
              <a:t>): Performs division and returns the remainder</a:t>
            </a:r>
          </a:p>
          <a:p>
            <a:pPr lvl="1" eaLnBrk="1" hangingPunct="1">
              <a:defRPr/>
            </a:pPr>
            <a:r>
              <a:rPr lang="en-US" dirty="0">
                <a:latin typeface="+mj-lt"/>
                <a:cs typeface="Courier New" pitchFamily="49" charset="0"/>
              </a:rPr>
              <a:t>a.k.a. modulus operator</a:t>
            </a:r>
          </a:p>
          <a:p>
            <a:pPr lvl="1" eaLnBrk="1" hangingPunct="1">
              <a:defRPr/>
            </a:pPr>
            <a:r>
              <a:rPr lang="en-US" dirty="0">
                <a:latin typeface="+mj-lt"/>
                <a:cs typeface="Courier New" pitchFamily="49" charset="0"/>
              </a:rPr>
              <a:t>e.g.,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4%2=0, 5%2=1</a:t>
            </a:r>
          </a:p>
          <a:p>
            <a:pPr lvl="1" eaLnBrk="1" hangingPunct="1">
              <a:defRPr/>
            </a:pPr>
            <a:r>
              <a:rPr lang="en-US" dirty="0">
                <a:latin typeface="+mj-lt"/>
                <a:cs typeface="Courier New" pitchFamily="49" charset="0"/>
              </a:rPr>
              <a:t>Used to detect odd or even numbers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Mixed-Type Expressions and Data Type Conversion</a:t>
            </a:r>
            <a:endParaRPr lang="he-IL" altLang="en-US" dirty="0"/>
          </a:p>
        </p:txBody>
      </p:sp>
      <p:sp>
        <p:nvSpPr>
          <p:cNvPr id="27651" name="Content Placeholder 2"/>
          <p:cNvSpPr>
            <a:spLocks noGrp="1"/>
          </p:cNvSpPr>
          <p:nvPr>
            <p:ph idx="1"/>
          </p:nvPr>
        </p:nvSpPr>
        <p:spPr>
          <a:xfrm>
            <a:off x="457200" y="1468395"/>
            <a:ext cx="8229600" cy="4932405"/>
          </a:xfrm>
        </p:spPr>
        <p:txBody>
          <a:bodyPr/>
          <a:lstStyle/>
          <a:p>
            <a:pPr eaLnBrk="1" hangingPunct="1">
              <a:buFont typeface="Arial" charset="0"/>
              <a:buChar char="•"/>
            </a:pPr>
            <a:r>
              <a:rPr lang="en-US" altLang="en-US" sz="2800" dirty="0"/>
              <a:t>Data type resulting from math operation depends on data types of operands</a:t>
            </a:r>
          </a:p>
          <a:p>
            <a:pPr eaLnBrk="1" hangingPunct="1">
              <a:buFont typeface="Arial" charset="0"/>
              <a:buChar char="•"/>
            </a:pPr>
            <a:endParaRPr lang="en-US" altLang="en-US" sz="2800" dirty="0"/>
          </a:p>
          <a:p>
            <a:pPr lvl="1" eaLnBrk="1" hangingPunct="1">
              <a:buFont typeface="Arial" charset="0"/>
              <a:buChar char="•"/>
            </a:pPr>
            <a:r>
              <a:rPr lang="en-US" altLang="en-US" sz="2400" dirty="0"/>
              <a:t>Two </a:t>
            </a:r>
            <a:r>
              <a:rPr lang="en-US" altLang="en-US" sz="2400" dirty="0" err="1">
                <a:latin typeface="Courier New" charset="0"/>
                <a:ea typeface="Courier New" charset="0"/>
                <a:cs typeface="Courier New" charset="0"/>
              </a:rPr>
              <a:t>int</a:t>
            </a:r>
            <a:r>
              <a:rPr lang="en-US" altLang="en-US" sz="2400" dirty="0"/>
              <a:t> values: result is an </a:t>
            </a:r>
            <a:r>
              <a:rPr lang="en-US" altLang="en-US" sz="2400" dirty="0" err="1">
                <a:latin typeface="Courier New" charset="0"/>
                <a:ea typeface="Courier New" charset="0"/>
                <a:cs typeface="Courier New" charset="0"/>
              </a:rPr>
              <a:t>int</a:t>
            </a:r>
            <a:endParaRPr lang="en-US" altLang="en-US" sz="2400" dirty="0">
              <a:latin typeface="Courier New" charset="0"/>
              <a:ea typeface="Courier New" charset="0"/>
              <a:cs typeface="Courier New" charset="0"/>
            </a:endParaRPr>
          </a:p>
          <a:p>
            <a:pPr lvl="1" eaLnBrk="1" hangingPunct="1">
              <a:buFont typeface="Arial" charset="0"/>
              <a:buChar char="•"/>
            </a:pPr>
            <a:r>
              <a:rPr lang="en-US" altLang="en-US" sz="2400" dirty="0"/>
              <a:t>Two </a:t>
            </a:r>
            <a:r>
              <a:rPr lang="en-US" altLang="en-US" sz="2400" dirty="0">
                <a:latin typeface="Courier New" charset="0"/>
                <a:ea typeface="Courier New" charset="0"/>
                <a:cs typeface="Courier New" charset="0"/>
              </a:rPr>
              <a:t>float</a:t>
            </a:r>
            <a:r>
              <a:rPr lang="en-US" altLang="en-US" sz="2400" dirty="0"/>
              <a:t> values: result is a </a:t>
            </a:r>
            <a:r>
              <a:rPr lang="en-US" altLang="en-US" sz="2400" dirty="0">
                <a:latin typeface="Courier New" charset="0"/>
                <a:ea typeface="Courier New" charset="0"/>
                <a:cs typeface="Courier New" charset="0"/>
              </a:rPr>
              <a:t>float</a:t>
            </a:r>
          </a:p>
          <a:p>
            <a:pPr lvl="7">
              <a:buFont typeface="Arial" charset="0"/>
              <a:buChar char="•"/>
            </a:pPr>
            <a:endParaRPr lang="en-US" altLang="en-US" sz="1600" dirty="0">
              <a:latin typeface="Courier New" charset="0"/>
              <a:ea typeface="Courier New" charset="0"/>
              <a:cs typeface="Courier New" charset="0"/>
            </a:endParaRPr>
          </a:p>
          <a:p>
            <a:pPr lvl="1" eaLnBrk="1" hangingPunct="1">
              <a:buFont typeface="Arial" charset="0"/>
              <a:buChar char="•"/>
            </a:pPr>
            <a:r>
              <a:rPr lang="en-US" altLang="en-US" sz="2400" dirty="0" err="1">
                <a:latin typeface="Courier New" charset="0"/>
                <a:ea typeface="Courier New" charset="0"/>
                <a:cs typeface="Courier New" charset="0"/>
              </a:rPr>
              <a:t>int</a:t>
            </a:r>
            <a:r>
              <a:rPr lang="en-US" altLang="en-US" sz="2400" dirty="0"/>
              <a:t> and </a:t>
            </a:r>
            <a:r>
              <a:rPr lang="en-US" altLang="en-US" sz="2400" dirty="0">
                <a:latin typeface="Courier New" charset="0"/>
                <a:ea typeface="Courier New" charset="0"/>
                <a:cs typeface="Courier New" charset="0"/>
              </a:rPr>
              <a:t>float</a:t>
            </a:r>
            <a:r>
              <a:rPr lang="en-US" altLang="en-US" sz="2400" dirty="0"/>
              <a:t>: </a:t>
            </a:r>
            <a:r>
              <a:rPr lang="en-US" altLang="en-US" sz="2400" dirty="0" err="1">
                <a:latin typeface="Courier New" charset="0"/>
                <a:ea typeface="Courier New" charset="0"/>
                <a:cs typeface="Courier New" charset="0"/>
              </a:rPr>
              <a:t>int</a:t>
            </a:r>
            <a:r>
              <a:rPr lang="en-US" altLang="en-US" sz="2400" dirty="0"/>
              <a:t> temporarily converted to </a:t>
            </a:r>
            <a:r>
              <a:rPr lang="en-US" altLang="en-US" sz="2400" dirty="0">
                <a:latin typeface="Courier New" charset="0"/>
                <a:ea typeface="Courier New" charset="0"/>
                <a:cs typeface="Courier New" charset="0"/>
              </a:rPr>
              <a:t>float</a:t>
            </a:r>
            <a:r>
              <a:rPr lang="en-US" altLang="en-US" sz="2400" dirty="0"/>
              <a:t>, result of the operation is a </a:t>
            </a:r>
            <a:r>
              <a:rPr lang="en-US" altLang="en-US" sz="2400" dirty="0">
                <a:latin typeface="Courier New" charset="0"/>
                <a:ea typeface="Courier New" charset="0"/>
                <a:cs typeface="Courier New" charset="0"/>
              </a:rPr>
              <a:t>float</a:t>
            </a:r>
          </a:p>
          <a:p>
            <a:pPr lvl="2" eaLnBrk="1" hangingPunct="1">
              <a:buFont typeface="Arial" charset="0"/>
              <a:buChar char="•"/>
            </a:pPr>
            <a:r>
              <a:rPr lang="en-US" altLang="en-US" sz="2000" dirty="0"/>
              <a:t>Mixed-type expression</a:t>
            </a:r>
          </a:p>
          <a:p>
            <a:pPr lvl="5">
              <a:buFont typeface="Arial" charset="0"/>
              <a:buChar char="•"/>
            </a:pPr>
            <a:endParaRPr lang="en-US" altLang="en-US" sz="1600" dirty="0"/>
          </a:p>
          <a:p>
            <a:pPr lvl="1" eaLnBrk="1" hangingPunct="1">
              <a:buFont typeface="Arial" charset="0"/>
              <a:buChar char="•"/>
            </a:pPr>
            <a:r>
              <a:rPr lang="en-US" altLang="en-US" sz="2400" dirty="0"/>
              <a:t>Type conversion of </a:t>
            </a:r>
            <a:r>
              <a:rPr lang="en-US" altLang="en-US" sz="2400" dirty="0">
                <a:latin typeface="Courier New" charset="0"/>
                <a:ea typeface="Courier New" charset="0"/>
                <a:cs typeface="Courier New" charset="0"/>
              </a:rPr>
              <a:t>float</a:t>
            </a:r>
            <a:r>
              <a:rPr lang="en-US" altLang="en-US" sz="2400" dirty="0"/>
              <a:t> to </a:t>
            </a:r>
            <a:r>
              <a:rPr lang="en-US" altLang="en-US" sz="2400" dirty="0" err="1">
                <a:latin typeface="Courier New" charset="0"/>
                <a:ea typeface="Courier New" charset="0"/>
                <a:cs typeface="Courier New" charset="0"/>
              </a:rPr>
              <a:t>int</a:t>
            </a:r>
            <a:r>
              <a:rPr lang="en-US" altLang="en-US" sz="2400" dirty="0"/>
              <a:t> causes truncation of fractional part</a:t>
            </a:r>
            <a:endParaRPr lang="he-IL" altLang="en-US" sz="2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>
          <a:xfrm>
            <a:off x="152400" y="0"/>
            <a:ext cx="8534400" cy="1143000"/>
          </a:xfrm>
        </p:spPr>
        <p:txBody>
          <a:bodyPr/>
          <a:lstStyle/>
          <a:p>
            <a:pPr algn="l" eaLnBrk="1" hangingPunct="1"/>
            <a:r>
              <a:rPr lang="en-US" altLang="en-US" dirty="0"/>
              <a:t>Comments  =&gt; start with #</a:t>
            </a:r>
            <a:endParaRPr lang="he-IL" altLang="en-US" dirty="0"/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4724400"/>
          </a:xfrm>
        </p:spPr>
        <p:txBody>
          <a:bodyPr/>
          <a:lstStyle/>
          <a:p>
            <a:pPr eaLnBrk="1" hangingPunct="1">
              <a:buFont typeface="Arial" charset="0"/>
              <a:buChar char="•"/>
            </a:pPr>
            <a:r>
              <a:rPr lang="en-US" altLang="en-US" u="sng" dirty="0"/>
              <a:t>Comments</a:t>
            </a:r>
            <a:r>
              <a:rPr lang="en-US" altLang="en-US" dirty="0"/>
              <a:t> are notes describing:</a:t>
            </a:r>
          </a:p>
          <a:p>
            <a:pPr lvl="1" eaLnBrk="1" hangingPunct="1">
              <a:buFont typeface="Arial" charset="0"/>
              <a:buChar char="•"/>
            </a:pPr>
            <a:r>
              <a:rPr lang="en-US" altLang="en-US" dirty="0"/>
              <a:t>What your code does and what it expects</a:t>
            </a:r>
          </a:p>
          <a:p>
            <a:pPr lvl="1" eaLnBrk="1" hangingPunct="1">
              <a:buFont typeface="Arial" charset="0"/>
              <a:buChar char="•"/>
            </a:pPr>
            <a:r>
              <a:rPr lang="en-US" altLang="en-US" dirty="0"/>
              <a:t>Steps you will add later</a:t>
            </a:r>
          </a:p>
          <a:p>
            <a:pPr lvl="1" eaLnBrk="1" hangingPunct="1">
              <a:buFont typeface="Arial" charset="0"/>
              <a:buChar char="•"/>
            </a:pPr>
            <a:r>
              <a:rPr lang="en-US" altLang="en-US" dirty="0"/>
              <a:t>Issues to fix later</a:t>
            </a:r>
          </a:p>
          <a:p>
            <a:pPr lvl="1" eaLnBrk="1" hangingPunct="1">
              <a:buFont typeface="Arial" charset="0"/>
              <a:buChar char="•"/>
            </a:pPr>
            <a:endParaRPr lang="en-US" altLang="en-US" dirty="0"/>
          </a:p>
          <a:p>
            <a:pPr eaLnBrk="1" hangingPunct="1">
              <a:buFont typeface="Arial" charset="0"/>
              <a:buChar char="•"/>
            </a:pPr>
            <a:r>
              <a:rPr lang="en-US" altLang="en-US" dirty="0"/>
              <a:t>Ignored by Python interpreter</a:t>
            </a:r>
          </a:p>
          <a:p>
            <a:pPr lvl="1" eaLnBrk="1" hangingPunct="1">
              <a:buFont typeface="Arial" charset="0"/>
              <a:buChar char="•"/>
            </a:pPr>
            <a:r>
              <a:rPr lang="en-US" altLang="en-US" dirty="0"/>
              <a:t>Intended for you and other people reading your code</a:t>
            </a:r>
          </a:p>
          <a:p>
            <a:pPr lvl="1" eaLnBrk="1" hangingPunct="1">
              <a:buFont typeface="Arial" charset="0"/>
              <a:buChar char="•"/>
            </a:pPr>
            <a:r>
              <a:rPr lang="en-US" altLang="en-US" b="1" dirty="0">
                <a:solidFill>
                  <a:srgbClr val="FF0000"/>
                </a:solidFill>
              </a:rPr>
              <a:t>Begin with a # character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9F7600E-F3CF-0315-BD2A-BBDAE8407B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Arial" charset="0"/>
              <a:buChar char="•"/>
            </a:pPr>
            <a:r>
              <a:rPr lang="en-US" altLang="en-US" sz="3200" dirty="0"/>
              <a:t>How to display a text with </a:t>
            </a:r>
            <a:r>
              <a:rPr lang="en-US" altLang="en-US" sz="3200" dirty="0">
                <a:latin typeface="Courier New" charset="0"/>
                <a:ea typeface="Courier New" charset="0"/>
                <a:cs typeface="Courier New" charset="0"/>
              </a:rPr>
              <a:t>print</a:t>
            </a:r>
            <a:r>
              <a:rPr lang="en-US" altLang="en-US" sz="3200" dirty="0"/>
              <a:t> function</a:t>
            </a:r>
          </a:p>
          <a:p>
            <a:pPr eaLnBrk="1" hangingPunct="1">
              <a:buFont typeface="Arial" charset="0"/>
              <a:buChar char="•"/>
            </a:pPr>
            <a:r>
              <a:rPr lang="en-US" altLang="en-US" dirty="0"/>
              <a:t>What is an f-string?</a:t>
            </a:r>
            <a:endParaRPr lang="en-US" altLang="en-US" sz="3200" dirty="0"/>
          </a:p>
          <a:p>
            <a:pPr eaLnBrk="1" hangingPunct="1">
              <a:buFont typeface="Arial" charset="0"/>
              <a:buChar char="•"/>
            </a:pPr>
            <a:r>
              <a:rPr lang="en-US" altLang="en-US" sz="3200" dirty="0"/>
              <a:t>How to enter data using the keyboard</a:t>
            </a:r>
          </a:p>
          <a:p>
            <a:pPr eaLnBrk="1" hangingPunct="1">
              <a:buFont typeface="Arial" charset="0"/>
              <a:buChar char="•"/>
            </a:pPr>
            <a:r>
              <a:rPr lang="en-US" altLang="en-US" sz="3200" dirty="0"/>
              <a:t>What is an operator? </a:t>
            </a:r>
          </a:p>
          <a:p>
            <a:pPr eaLnBrk="1" hangingPunct="1">
              <a:buFont typeface="Arial" charset="0"/>
              <a:buChar char="•"/>
            </a:pPr>
            <a:r>
              <a:rPr lang="en-US" altLang="en-US" dirty="0"/>
              <a:t>What is a mixed type expression?</a:t>
            </a:r>
            <a:endParaRPr lang="en-US" altLang="en-US" sz="3200" dirty="0"/>
          </a:p>
          <a:p>
            <a:r>
              <a:rPr lang="en-US" altLang="en-US" sz="3200" dirty="0"/>
              <a:t>What is a comment?</a:t>
            </a:r>
          </a:p>
          <a:p>
            <a:r>
              <a:rPr lang="en-US" altLang="en-US" dirty="0"/>
              <a:t>What is binary? </a:t>
            </a:r>
            <a:endParaRPr lang="en-US" altLang="en-US" sz="32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C0CC7E3-ACEF-B85A-E0F0-18847BEBC2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Input, output, operators</a:t>
            </a:r>
          </a:p>
        </p:txBody>
      </p:sp>
    </p:spTree>
    <p:extLst>
      <p:ext uri="{BB962C8B-B14F-4D97-AF65-F5344CB8AC3E}">
        <p14:creationId xmlns:p14="http://schemas.microsoft.com/office/powerpoint/2010/main" val="1282663685"/>
      </p:ext>
    </p:extLst>
  </p:cSld>
  <p:clrMapOvr>
    <a:masterClrMapping/>
  </p:clrMapOvr>
</p:sld>
</file>

<file path=ppt/theme/theme1.xml><?xml version="1.0" encoding="utf-8"?>
<a:theme xmlns:a="http://schemas.openxmlformats.org/drawingml/2006/main" name="Python3e">
  <a:themeElements>
    <a:clrScheme name="Custom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007DC4"/>
      </a:accent2>
      <a:accent3>
        <a:srgbClr val="FFFFFF"/>
      </a:accent3>
      <a:accent4>
        <a:srgbClr val="000000"/>
      </a:accent4>
      <a:accent5>
        <a:srgbClr val="DAEDEF"/>
      </a:accent5>
      <a:accent6>
        <a:srgbClr val="007DC4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cs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cs typeface="Arial" pitchFamily="34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14897</TotalTime>
  <Words>654</Words>
  <Application>Microsoft Macintosh PowerPoint</Application>
  <PresentationFormat>On-screen Show (4:3)</PresentationFormat>
  <Paragraphs>126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Aptos</vt:lpstr>
      <vt:lpstr>Arial</vt:lpstr>
      <vt:lpstr>Century Gothic</vt:lpstr>
      <vt:lpstr>Courier</vt:lpstr>
      <vt:lpstr>Courier New</vt:lpstr>
      <vt:lpstr>Tw Cen MT</vt:lpstr>
      <vt:lpstr>Wingdings</vt:lpstr>
      <vt:lpstr>Python3e</vt:lpstr>
      <vt:lpstr>Input, output, operators</vt:lpstr>
      <vt:lpstr>Displaying Output</vt:lpstr>
      <vt:lpstr>Sample print statements</vt:lpstr>
      <vt:lpstr>F-strings</vt:lpstr>
      <vt:lpstr>Input from the Keyboard</vt:lpstr>
      <vt:lpstr>Reading numbers with input function</vt:lpstr>
      <vt:lpstr>Examples using input </vt:lpstr>
      <vt:lpstr>What are operators</vt:lpstr>
      <vt:lpstr>The Exponent Operator and the Remainder Operator</vt:lpstr>
      <vt:lpstr>Mixed-Type Expressions and Data Type Conversion</vt:lpstr>
      <vt:lpstr>Comments  =&gt; start with #</vt:lpstr>
      <vt:lpstr>Input, output, operators</vt:lpstr>
    </vt:vector>
  </TitlesOfParts>
  <Company>PEARSON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Chelsea Bell</dc:creator>
  <cp:lastModifiedBy>Simona Doboli</cp:lastModifiedBy>
  <cp:revision>190</cp:revision>
  <cp:lastPrinted>2025-09-02T15:57:32Z</cp:lastPrinted>
  <dcterms:created xsi:type="dcterms:W3CDTF">2011-02-21T19:15:53Z</dcterms:created>
  <dcterms:modified xsi:type="dcterms:W3CDTF">2025-09-02T15:57:42Z</dcterms:modified>
</cp:coreProperties>
</file>