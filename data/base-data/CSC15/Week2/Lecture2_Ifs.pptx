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sldIdLst>
    <p:sldId id="270" r:id="rId2"/>
    <p:sldId id="275" r:id="rId3"/>
    <p:sldId id="258" r:id="rId4"/>
    <p:sldId id="271" r:id="rId5"/>
    <p:sldId id="259" r:id="rId6"/>
    <p:sldId id="272" r:id="rId7"/>
    <p:sldId id="260" r:id="rId8"/>
    <p:sldId id="274" r:id="rId9"/>
    <p:sldId id="261" r:id="rId10"/>
    <p:sldId id="263" r:id="rId11"/>
    <p:sldId id="265" r:id="rId12"/>
    <p:sldId id="264" r:id="rId13"/>
    <p:sldId id="266" r:id="rId14"/>
    <p:sldId id="267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1"/>
    <p:restoredTop sz="94648"/>
  </p:normalViewPr>
  <p:slideViewPr>
    <p:cSldViewPr snapToGrid="0" snapToObjects="1">
      <p:cViewPr>
        <p:scale>
          <a:sx n="120" d="100"/>
          <a:sy n="120" d="100"/>
        </p:scale>
        <p:origin x="6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8944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05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0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39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573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78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749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45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53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3068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13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964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92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482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2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9468887-D334-5646-9B23-0DD319AE0DA0}" type="datetimeFigureOut">
              <a:rPr lang="en-US" smtClean="0"/>
              <a:t>9/8/25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9DAA6E6-803A-B04D-9995-9F797258D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21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Week 2: If Statements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9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E2CD-2731-0834-B7E3-D22388829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9622"/>
            <a:ext cx="8534400" cy="1507067"/>
          </a:xfrm>
        </p:spPr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DDE0-4C2A-0C33-E5DF-E7936C05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799897"/>
            <a:ext cx="8534400" cy="3615267"/>
          </a:xfrm>
        </p:spPr>
        <p:txBody>
          <a:bodyPr/>
          <a:lstStyle/>
          <a:p>
            <a:r>
              <a:rPr lang="en-US" sz="2400" dirty="0"/>
              <a:t>What is an if/else statement?</a:t>
            </a:r>
          </a:p>
          <a:p>
            <a:r>
              <a:rPr lang="en-US" sz="2400" dirty="0"/>
              <a:t>What is an if statement?</a:t>
            </a:r>
          </a:p>
          <a:p>
            <a:r>
              <a:rPr lang="en-US" sz="2400" dirty="0"/>
              <a:t>What is a nested if statement?</a:t>
            </a:r>
          </a:p>
          <a:p>
            <a:r>
              <a:rPr lang="en-US" sz="2400" dirty="0"/>
              <a:t>What is a Boolean expression?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71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6" y="281816"/>
            <a:ext cx="11051934" cy="583737"/>
          </a:xfrm>
        </p:spPr>
        <p:txBody>
          <a:bodyPr>
            <a:normAutofit fontScale="90000"/>
          </a:bodyPr>
          <a:lstStyle/>
          <a:p>
            <a:r>
              <a:rPr lang="en-US" dirty="0"/>
              <a:t>IF/ELSE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064" y="1771837"/>
            <a:ext cx="45032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expression: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statement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statement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else: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instruction 3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instruction 4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endParaRPr lang="en-US" sz="2400" b="1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after if</a:t>
            </a:r>
          </a:p>
        </p:txBody>
      </p:sp>
      <p:sp>
        <p:nvSpPr>
          <p:cNvPr id="8" name="Diamond 7"/>
          <p:cNvSpPr/>
          <p:nvPr/>
        </p:nvSpPr>
        <p:spPr>
          <a:xfrm>
            <a:off x="6495393" y="1623849"/>
            <a:ext cx="2932386" cy="993227"/>
          </a:xfrm>
          <a:prstGeom prst="diamond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44255" y="1797296"/>
            <a:ext cx="143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Boolean expression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7386" y="3463159"/>
            <a:ext cx="2222938" cy="92333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Instruction 3</a:t>
            </a:r>
          </a:p>
          <a:p>
            <a:r>
              <a:rPr lang="en-US" dirty="0">
                <a:solidFill>
                  <a:schemeClr val="bg1"/>
                </a:solidFill>
              </a:rPr>
              <a:t>Instruction 4</a:t>
            </a:r>
          </a:p>
          <a:p>
            <a:r>
              <a:rPr lang="is-IS" dirty="0">
                <a:solidFill>
                  <a:schemeClr val="bg1"/>
                </a:solidFill>
              </a:rPr>
              <a:t>….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1317" y="3473669"/>
            <a:ext cx="2222938" cy="92333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dirty="0">
                <a:solidFill>
                  <a:schemeClr val="bg1"/>
                </a:solidFill>
              </a:rPr>
              <a:t>….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2" name="Elbow Connector 11"/>
          <p:cNvCxnSpPr>
            <a:stCxn id="8" idx="3"/>
          </p:cNvCxnSpPr>
          <p:nvPr/>
        </p:nvCxnSpPr>
        <p:spPr>
          <a:xfrm>
            <a:off x="9427779" y="2120463"/>
            <a:ext cx="331076" cy="1381319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8" idx="1"/>
            <a:endCxn id="11" idx="0"/>
          </p:cNvCxnSpPr>
          <p:nvPr/>
        </p:nvCxnSpPr>
        <p:spPr>
          <a:xfrm rot="10800000" flipV="1">
            <a:off x="6132787" y="2120463"/>
            <a:ext cx="362607" cy="1353206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88401" y="1771837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1817" y="1623849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6" name="Oval 15"/>
          <p:cNvSpPr/>
          <p:nvPr/>
        </p:nvSpPr>
        <p:spPr>
          <a:xfrm>
            <a:off x="7559566" y="4903076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7736928" y="5218387"/>
            <a:ext cx="0" cy="51252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0" idx="2"/>
            <a:endCxn id="16" idx="6"/>
          </p:cNvCxnSpPr>
          <p:nvPr/>
        </p:nvCxnSpPr>
        <p:spPr>
          <a:xfrm rot="5400000">
            <a:off x="8499452" y="3801328"/>
            <a:ext cx="674243" cy="1844565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/>
          <p:cNvCxnSpPr/>
          <p:nvPr/>
        </p:nvCxnSpPr>
        <p:spPr>
          <a:xfrm>
            <a:off x="6125596" y="4396999"/>
            <a:ext cx="1422146" cy="663732"/>
          </a:xfrm>
          <a:prstGeom prst="bentConnector3">
            <a:avLst>
              <a:gd name="adj1" fmla="val -994"/>
            </a:avLst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7952390" y="1111326"/>
            <a:ext cx="0" cy="51252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06650" y="5797080"/>
            <a:ext cx="2260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Continue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7386" y="1079250"/>
            <a:ext cx="3281639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sz="2400"/>
              <a:t>If-Else </a:t>
            </a:r>
            <a:r>
              <a:rPr lang="en-US" sz="2400" dirty="0"/>
              <a:t>Flowchart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208373" y="5651846"/>
            <a:ext cx="1245674" cy="869430"/>
          </a:xfrm>
          <a:prstGeom prst="wedgeRoundRectCallout">
            <a:avLst>
              <a:gd name="adj1" fmla="val -34260"/>
              <a:gd name="adj2" fmla="val -38849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Same indent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1454047" y="2278505"/>
            <a:ext cx="0" cy="599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Arrow 19"/>
          <p:cNvSpPr/>
          <p:nvPr/>
        </p:nvSpPr>
        <p:spPr>
          <a:xfrm>
            <a:off x="397331" y="2617076"/>
            <a:ext cx="981601" cy="179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>
            <a:off x="397330" y="3985294"/>
            <a:ext cx="981601" cy="1799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388" y="0"/>
            <a:ext cx="8534400" cy="1507067"/>
          </a:xfrm>
        </p:spPr>
        <p:txBody>
          <a:bodyPr/>
          <a:lstStyle/>
          <a:p>
            <a:r>
              <a:rPr lang="en-US" dirty="0"/>
              <a:t>Example If-Else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387" y="974371"/>
            <a:ext cx="10888196" cy="35543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temperature = float(input('What is the temperature? '))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if temperature &gt; 70: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	print(’Dress lightly.’)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else: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	print(’Wear jacket')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print('Go outside')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76" y="4461060"/>
            <a:ext cx="11158019" cy="2246769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What is the output for:</a:t>
            </a:r>
          </a:p>
          <a:p>
            <a:r>
              <a:rPr lang="en-US" sz="2800" dirty="0"/>
              <a:t>A) temperature  = 80 </a:t>
            </a:r>
          </a:p>
          <a:p>
            <a:r>
              <a:rPr lang="en-US" sz="2800" dirty="0"/>
              <a:t>B) temperature   = 50</a:t>
            </a:r>
          </a:p>
          <a:p>
            <a:r>
              <a:rPr lang="en-US" sz="2800" dirty="0"/>
              <a:t>C) temperature   = 70 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01912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742" y="264770"/>
            <a:ext cx="8534400" cy="1507067"/>
          </a:xfrm>
        </p:spPr>
        <p:txBody>
          <a:bodyPr/>
          <a:lstStyle/>
          <a:p>
            <a:r>
              <a:rPr lang="en-US" dirty="0"/>
              <a:t>IF Statement (No else)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9742" y="1771837"/>
            <a:ext cx="4240263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sz="24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expression: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1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instruction 2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 </a:t>
            </a:r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endParaRPr lang="en-US" sz="2400" b="1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3;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4;</a:t>
            </a:r>
          </a:p>
          <a:p>
            <a:r>
              <a:rPr lang="is-IS" sz="24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…</a:t>
            </a:r>
            <a:endParaRPr lang="en-US" sz="2400" b="1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3" name="Diamond 2"/>
          <p:cNvSpPr/>
          <p:nvPr/>
        </p:nvSpPr>
        <p:spPr>
          <a:xfrm>
            <a:off x="6495393" y="1623849"/>
            <a:ext cx="2932386" cy="993227"/>
          </a:xfrm>
          <a:prstGeom prst="diamond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44255" y="1797296"/>
            <a:ext cx="1434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Boolean expression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3113" y="5557489"/>
            <a:ext cx="2222938" cy="92333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Instruction 3</a:t>
            </a:r>
          </a:p>
          <a:p>
            <a:r>
              <a:rPr lang="en-US" dirty="0">
                <a:solidFill>
                  <a:schemeClr val="bg1"/>
                </a:solidFill>
              </a:rPr>
              <a:t>Instruction 4</a:t>
            </a:r>
          </a:p>
          <a:p>
            <a:r>
              <a:rPr lang="is-IS" dirty="0">
                <a:solidFill>
                  <a:schemeClr val="bg1"/>
                </a:solidFill>
              </a:rPr>
              <a:t>….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1317" y="3473669"/>
            <a:ext cx="2222938" cy="923330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Instruction 1</a:t>
            </a:r>
          </a:p>
          <a:p>
            <a:r>
              <a:rPr lang="en-US" dirty="0">
                <a:solidFill>
                  <a:schemeClr val="bg1"/>
                </a:solidFill>
              </a:rPr>
              <a:t>Instruction 2</a:t>
            </a:r>
          </a:p>
          <a:p>
            <a:r>
              <a:rPr lang="is-IS" dirty="0">
                <a:solidFill>
                  <a:schemeClr val="bg1"/>
                </a:solidFill>
              </a:rPr>
              <a:t>….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1" name="Elbow Connector 10"/>
          <p:cNvCxnSpPr>
            <a:stCxn id="3" idx="3"/>
            <a:endCxn id="20" idx="6"/>
          </p:cNvCxnSpPr>
          <p:nvPr/>
        </p:nvCxnSpPr>
        <p:spPr>
          <a:xfrm flipH="1">
            <a:off x="7961586" y="2120463"/>
            <a:ext cx="1466193" cy="2766848"/>
          </a:xfrm>
          <a:prstGeom prst="bentConnector3">
            <a:avLst>
              <a:gd name="adj1" fmla="val -15591"/>
            </a:avLst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3" idx="1"/>
            <a:endCxn id="9" idx="0"/>
          </p:cNvCxnSpPr>
          <p:nvPr/>
        </p:nvCxnSpPr>
        <p:spPr>
          <a:xfrm rot="10800000" flipV="1">
            <a:off x="6132787" y="2120463"/>
            <a:ext cx="362607" cy="1353206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801817" y="1623849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20" name="Oval 19"/>
          <p:cNvSpPr/>
          <p:nvPr/>
        </p:nvSpPr>
        <p:spPr>
          <a:xfrm>
            <a:off x="7606862" y="4729655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Elbow Connector 23"/>
          <p:cNvCxnSpPr>
            <a:stCxn id="9" idx="2"/>
            <a:endCxn id="20" idx="2"/>
          </p:cNvCxnSpPr>
          <p:nvPr/>
        </p:nvCxnSpPr>
        <p:spPr>
          <a:xfrm rot="16200000" flipH="1">
            <a:off x="6624668" y="3905117"/>
            <a:ext cx="490312" cy="1474076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0" idx="4"/>
          </p:cNvCxnSpPr>
          <p:nvPr/>
        </p:nvCxnSpPr>
        <p:spPr>
          <a:xfrm>
            <a:off x="7784224" y="5044966"/>
            <a:ext cx="0" cy="51252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7961586" y="1111326"/>
            <a:ext cx="0" cy="51252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47386" y="1079250"/>
            <a:ext cx="3281639" cy="46166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If  Flowchart</a:t>
            </a:r>
          </a:p>
        </p:txBody>
      </p:sp>
    </p:spTree>
    <p:extLst>
      <p:ext uri="{BB962C8B-B14F-4D97-AF65-F5344CB8AC3E}">
        <p14:creationId xmlns:p14="http://schemas.microsoft.com/office/powerpoint/2010/main" val="1504991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861" y="0"/>
            <a:ext cx="8534400" cy="1507067"/>
          </a:xfrm>
        </p:spPr>
        <p:txBody>
          <a:bodyPr/>
          <a:lstStyle/>
          <a:p>
            <a:r>
              <a:rPr lang="en-US" dirty="0"/>
              <a:t>Example IF </a:t>
            </a:r>
            <a:r>
              <a:rPr lang="mr-IN" dirty="0"/>
              <a:t>–</a:t>
            </a:r>
            <a:r>
              <a:rPr lang="en-US" dirty="0"/>
              <a:t> no 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515" y="1118570"/>
            <a:ext cx="11202989" cy="33894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Courier New" charset="0"/>
                <a:ea typeface="Courier New" charset="0"/>
                <a:cs typeface="Courier New" charset="0"/>
              </a:rPr>
              <a:t>weight = float(input("How many pounds does your luggage weigh? ")) </a:t>
            </a:r>
          </a:p>
          <a:p>
            <a:pPr marL="0" indent="0">
              <a:buNone/>
            </a:pPr>
            <a:r>
              <a:rPr lang="en-US" sz="2400" b="1" dirty="0">
                <a:latin typeface="Courier New" charset="0"/>
                <a:ea typeface="Courier New" charset="0"/>
                <a:cs typeface="Courier New" charset="0"/>
              </a:rPr>
              <a:t>if weight &gt; 53: </a:t>
            </a:r>
          </a:p>
          <a:p>
            <a:pPr marL="0" indent="0">
              <a:buNone/>
            </a:pPr>
            <a:r>
              <a:rPr lang="en-US" sz="2400" b="1" dirty="0">
                <a:latin typeface="Courier New" charset="0"/>
                <a:ea typeface="Courier New" charset="0"/>
                <a:cs typeface="Courier New" charset="0"/>
              </a:rPr>
              <a:t>	print("There is a $50 charge for luggage that heavy.") </a:t>
            </a:r>
          </a:p>
          <a:p>
            <a:pPr marL="0" indent="0">
              <a:buNone/>
            </a:pPr>
            <a:r>
              <a:rPr lang="en-US" sz="2400" b="1" dirty="0">
                <a:latin typeface="Courier New" charset="0"/>
                <a:ea typeface="Courier New" charset="0"/>
                <a:cs typeface="Courier New" charset="0"/>
              </a:rPr>
              <a:t>print("Thank you for your business.")</a:t>
            </a:r>
            <a:endParaRPr lang="en-US" sz="2400" b="1" dirty="0">
              <a:solidFill>
                <a:schemeClr val="bg1"/>
              </a:solidFill>
              <a:latin typeface="Courier New" charset="0"/>
              <a:ea typeface="Courier New" charset="0"/>
              <a:cs typeface="Courier New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4485" y="4313140"/>
            <a:ext cx="11158019" cy="2246769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What is the output for:</a:t>
            </a:r>
          </a:p>
          <a:p>
            <a:r>
              <a:rPr lang="en-US" sz="2800" dirty="0"/>
              <a:t>A) weight =  40 </a:t>
            </a:r>
          </a:p>
          <a:p>
            <a:r>
              <a:rPr lang="en-US" sz="2800" dirty="0"/>
              <a:t>B) weight   = 60</a:t>
            </a:r>
          </a:p>
          <a:p>
            <a:r>
              <a:rPr lang="en-US" sz="2800" dirty="0"/>
              <a:t>C) weight =  53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4835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267" y="-60624"/>
            <a:ext cx="8534400" cy="1507067"/>
          </a:xfrm>
        </p:spPr>
        <p:txBody>
          <a:bodyPr/>
          <a:lstStyle/>
          <a:p>
            <a:r>
              <a:rPr lang="en-US" b="1" dirty="0"/>
              <a:t>Nested IF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7743" y="1654453"/>
            <a:ext cx="4185761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sz="20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expression1: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instruction 1</a:t>
            </a:r>
          </a:p>
          <a:p>
            <a:r>
              <a:rPr lang="en-US" sz="20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elif</a:t>
            </a:r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boolean</a:t>
            </a:r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expression2: 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instruction 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else: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   instruction 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Instruction after if</a:t>
            </a:r>
          </a:p>
          <a:p>
            <a:endParaRPr lang="en-US" sz="20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8" name="Diamond 7"/>
          <p:cNvSpPr/>
          <p:nvPr/>
        </p:nvSpPr>
        <p:spPr>
          <a:xfrm>
            <a:off x="6495394" y="1623849"/>
            <a:ext cx="2510658" cy="993227"/>
          </a:xfrm>
          <a:prstGeom prst="diamond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82956" y="1772872"/>
            <a:ext cx="1802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boolean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expression1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3113" y="5557489"/>
            <a:ext cx="2222938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Instruction after 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5205" y="2556985"/>
            <a:ext cx="2039050" cy="374742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Instruction 1</a:t>
            </a:r>
          </a:p>
        </p:txBody>
      </p:sp>
      <p:cxnSp>
        <p:nvCxnSpPr>
          <p:cNvPr id="12" name="Elbow Connector 11"/>
          <p:cNvCxnSpPr>
            <a:stCxn id="47" idx="2"/>
            <a:endCxn id="15" idx="6"/>
          </p:cNvCxnSpPr>
          <p:nvPr/>
        </p:nvCxnSpPr>
        <p:spPr>
          <a:xfrm rot="5400000">
            <a:off x="9068106" y="2909218"/>
            <a:ext cx="871573" cy="3084612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endCxn id="11" idx="0"/>
          </p:cNvCxnSpPr>
          <p:nvPr/>
        </p:nvCxnSpPr>
        <p:spPr>
          <a:xfrm rot="5400000">
            <a:off x="6147586" y="2197605"/>
            <a:ext cx="436524" cy="282236"/>
          </a:xfrm>
          <a:prstGeom prst="bentConnector3">
            <a:avLst>
              <a:gd name="adj1" fmla="val -1510"/>
            </a:avLst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801817" y="1623849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15" name="Oval 14"/>
          <p:cNvSpPr/>
          <p:nvPr/>
        </p:nvSpPr>
        <p:spPr>
          <a:xfrm>
            <a:off x="7606862" y="4729655"/>
            <a:ext cx="354724" cy="315311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Elbow Connector 15"/>
          <p:cNvCxnSpPr>
            <a:stCxn id="11" idx="2"/>
            <a:endCxn id="15" idx="2"/>
          </p:cNvCxnSpPr>
          <p:nvPr/>
        </p:nvCxnSpPr>
        <p:spPr>
          <a:xfrm rot="16200000" flipH="1">
            <a:off x="5938004" y="3218453"/>
            <a:ext cx="1955584" cy="1382132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784224" y="5044966"/>
            <a:ext cx="0" cy="51252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7750723" y="1111326"/>
            <a:ext cx="0" cy="512523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34593" y="1494870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False</a:t>
            </a:r>
          </a:p>
        </p:txBody>
      </p:sp>
      <p:sp>
        <p:nvSpPr>
          <p:cNvPr id="32" name="Diamond 31"/>
          <p:cNvSpPr/>
          <p:nvPr/>
        </p:nvSpPr>
        <p:spPr>
          <a:xfrm>
            <a:off x="8335275" y="2662519"/>
            <a:ext cx="2510658" cy="993227"/>
          </a:xfrm>
          <a:prstGeom prst="diamond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36468" y="2806924"/>
            <a:ext cx="1708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boolean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sz="18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expression2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28132" y="3596517"/>
            <a:ext cx="1802535" cy="369332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Instruction 2</a:t>
            </a:r>
          </a:p>
        </p:txBody>
      </p:sp>
      <p:cxnSp>
        <p:nvCxnSpPr>
          <p:cNvPr id="35" name="Elbow Connector 34"/>
          <p:cNvCxnSpPr/>
          <p:nvPr/>
        </p:nvCxnSpPr>
        <p:spPr>
          <a:xfrm rot="5400000">
            <a:off x="7987467" y="3236275"/>
            <a:ext cx="436524" cy="282236"/>
          </a:xfrm>
          <a:prstGeom prst="bentConnector3">
            <a:avLst>
              <a:gd name="adj1" fmla="val -1510"/>
            </a:avLst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641698" y="2662519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True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4474" y="2533540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False</a:t>
            </a:r>
          </a:p>
        </p:txBody>
      </p:sp>
      <p:cxnSp>
        <p:nvCxnSpPr>
          <p:cNvPr id="38" name="Elbow Connector 37"/>
          <p:cNvCxnSpPr>
            <a:stCxn id="8" idx="3"/>
            <a:endCxn id="32" idx="0"/>
          </p:cNvCxnSpPr>
          <p:nvPr/>
        </p:nvCxnSpPr>
        <p:spPr>
          <a:xfrm>
            <a:off x="9006052" y="2120463"/>
            <a:ext cx="584552" cy="542056"/>
          </a:xfrm>
          <a:prstGeom prst="bentConnector2">
            <a:avLst/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0055294" y="3646406"/>
            <a:ext cx="1981808" cy="369332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Instruction 3</a:t>
            </a:r>
          </a:p>
        </p:txBody>
      </p:sp>
      <p:cxnSp>
        <p:nvCxnSpPr>
          <p:cNvPr id="48" name="Elbow Connector 47"/>
          <p:cNvCxnSpPr/>
          <p:nvPr/>
        </p:nvCxnSpPr>
        <p:spPr>
          <a:xfrm rot="16200000" flipH="1">
            <a:off x="10786269" y="3254812"/>
            <a:ext cx="450901" cy="332285"/>
          </a:xfrm>
          <a:prstGeom prst="bentConnector3">
            <a:avLst>
              <a:gd name="adj1" fmla="val -6516"/>
            </a:avLst>
          </a:prstGeom>
          <a:ln w="254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endCxn id="15" idx="0"/>
          </p:cNvCxnSpPr>
          <p:nvPr/>
        </p:nvCxnSpPr>
        <p:spPr>
          <a:xfrm>
            <a:off x="7784224" y="3965849"/>
            <a:ext cx="0" cy="763806"/>
          </a:xfrm>
          <a:prstGeom prst="straightConnector1">
            <a:avLst/>
          </a:prstGeom>
          <a:ln w="28575">
            <a:solidFill>
              <a:schemeClr val="bg1">
                <a:alpha val="6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028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525" y="0"/>
            <a:ext cx="8534400" cy="1133561"/>
          </a:xfrm>
        </p:spPr>
        <p:txBody>
          <a:bodyPr/>
          <a:lstStyle/>
          <a:p>
            <a:r>
              <a:rPr lang="en-US" dirty="0"/>
              <a:t>Example nested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4249" y="1043620"/>
            <a:ext cx="4307515" cy="5456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if score &gt;= 90: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	letter ='A' 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elif</a:t>
            </a: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score &gt;= 80: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	letter = 'B' 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elif</a:t>
            </a: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score &gt;= 70: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	letter = 'C' </a:t>
            </a:r>
          </a:p>
          <a:p>
            <a:pPr marL="0" indent="0">
              <a:buNone/>
            </a:pPr>
            <a:r>
              <a:rPr lang="en-US" sz="2400" b="1" dirty="0" err="1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elif</a:t>
            </a: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score &gt;= 60: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	letter = 'D'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else: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charset="0"/>
                <a:ea typeface="Courier New" charset="0"/>
                <a:cs typeface="Courier New" charset="0"/>
              </a:rPr>
              <a:t> letter = 'F'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186" y="753533"/>
            <a:ext cx="5852013" cy="2677656"/>
          </a:xfrm>
          <a:prstGeom prst="rect">
            <a:avLst/>
          </a:prstGeom>
          <a:solidFill>
            <a:schemeClr val="accent5"/>
          </a:solidFill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What is the value of letter for:</a:t>
            </a:r>
          </a:p>
          <a:p>
            <a:endParaRPr lang="en-US" sz="2800" dirty="0"/>
          </a:p>
          <a:p>
            <a:r>
              <a:rPr lang="en-US" sz="2800" dirty="0"/>
              <a:t>A) score = 87      letter = </a:t>
            </a:r>
          </a:p>
          <a:p>
            <a:r>
              <a:rPr lang="en-US" sz="2800" dirty="0"/>
              <a:t>B) score  = 73	 letter = </a:t>
            </a:r>
          </a:p>
          <a:p>
            <a:r>
              <a:rPr lang="en-US" sz="2800" dirty="0"/>
              <a:t>C) score = 45 	 letter =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8104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43957"/>
            <a:ext cx="8534400" cy="1312041"/>
          </a:xfrm>
        </p:spPr>
        <p:txBody>
          <a:bodyPr/>
          <a:lstStyle/>
          <a:p>
            <a:r>
              <a:rPr lang="en-US" dirty="0"/>
              <a:t>Boolean </a:t>
            </a:r>
            <a:r>
              <a:rPr lang="en-US" dirty="0" err="1"/>
              <a:t>EXpresSion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80" y="1575918"/>
            <a:ext cx="11547761" cy="4955511"/>
          </a:xfrm>
        </p:spPr>
        <p:txBody>
          <a:bodyPr anchor="t" anchorCtr="0">
            <a:no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Evaluates to true or false</a:t>
            </a:r>
          </a:p>
          <a:p>
            <a:r>
              <a:rPr lang="en-US" sz="3000" dirty="0">
                <a:solidFill>
                  <a:schemeClr val="bg1"/>
                </a:solidFill>
              </a:rPr>
              <a:t>Comparison operators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Equal           ==  (don’t use between two floats)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Not equal   !=   (don’t use between two  floats)</a:t>
            </a:r>
          </a:p>
          <a:p>
            <a:pPr lvl="1"/>
            <a:r>
              <a:rPr lang="en-US" sz="3000" dirty="0">
                <a:solidFill>
                  <a:schemeClr val="bg1"/>
                </a:solidFill>
              </a:rPr>
              <a:t>Inequality    &gt;, &gt;, &gt;=, &lt;=</a:t>
            </a:r>
          </a:p>
          <a:p>
            <a:r>
              <a:rPr lang="en-US" sz="3000" dirty="0">
                <a:solidFill>
                  <a:schemeClr val="bg1"/>
                </a:solidFill>
              </a:rPr>
              <a:t>Logic operators: and, or not</a:t>
            </a:r>
          </a:p>
          <a:p>
            <a:pPr lvl="1"/>
            <a:r>
              <a:rPr lang="en-US" sz="3000" b="1" dirty="0">
                <a:solidFill>
                  <a:schemeClr val="bg1"/>
                </a:solidFill>
              </a:rPr>
              <a:t>Don’t forget </a:t>
            </a:r>
            <a:r>
              <a:rPr lang="en-US" sz="3000" b="1" dirty="0" err="1">
                <a:solidFill>
                  <a:schemeClr val="bg1"/>
                </a:solidFill>
              </a:rPr>
              <a:t>DeMorgan’s</a:t>
            </a:r>
            <a:r>
              <a:rPr lang="en-US" sz="3000" b="1" dirty="0">
                <a:solidFill>
                  <a:schemeClr val="bg1"/>
                </a:solidFill>
              </a:rPr>
              <a:t> rule:  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Not(Cold AND Rain) = Not Cold OR NOT Rain</a:t>
            </a:r>
          </a:p>
          <a:p>
            <a:pPr lvl="1"/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9884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488731"/>
            <a:ext cx="8534400" cy="1312041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800771"/>
            <a:ext cx="10761554" cy="4739513"/>
          </a:xfrm>
        </p:spPr>
        <p:txBody>
          <a:bodyPr anchor="t" anchorCtr="0">
            <a:normAutofit/>
          </a:bodyPr>
          <a:lstStyle/>
          <a:p>
            <a:r>
              <a:rPr lang="en-US" sz="2400" dirty="0"/>
              <a:t>Write an </a:t>
            </a:r>
            <a:r>
              <a:rPr lang="en-US" sz="2400" dirty="0">
                <a:solidFill>
                  <a:srgbClr val="FFFF00"/>
                </a:solidFill>
              </a:rPr>
              <a:t>if statement </a:t>
            </a:r>
            <a:r>
              <a:rPr lang="en-US" sz="2400" dirty="0"/>
              <a:t>for the following problem: </a:t>
            </a:r>
          </a:p>
          <a:p>
            <a:r>
              <a:rPr lang="en-US" sz="2400" dirty="0"/>
              <a:t>An integer value is entered by the user and stored in a variable called </a:t>
            </a:r>
            <a:r>
              <a:rPr lang="en-US" sz="2400" dirty="0" err="1">
                <a:solidFill>
                  <a:srgbClr val="FFFF00"/>
                </a:solidFill>
              </a:rPr>
              <a:t>intInput</a:t>
            </a:r>
            <a:r>
              <a:rPr lang="en-US" sz="2400" dirty="0"/>
              <a:t>. If </a:t>
            </a:r>
            <a:r>
              <a:rPr lang="en-US" sz="2400" dirty="0" err="1">
                <a:solidFill>
                  <a:srgbClr val="FFFF00"/>
                </a:solidFill>
              </a:rPr>
              <a:t>intInput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/>
              <a:t>is even, then output "Even". If it is odd, output odd.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Step 1: Use cases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2  Even</a:t>
            </a:r>
          </a:p>
          <a:p>
            <a:pPr lvl="1"/>
            <a:r>
              <a:rPr lang="en-US" sz="2200" dirty="0">
                <a:solidFill>
                  <a:srgbClr val="FF0000"/>
                </a:solidFill>
              </a:rPr>
              <a:t>3 Odd</a:t>
            </a:r>
          </a:p>
          <a:p>
            <a:r>
              <a:rPr lang="en-US" sz="2400" dirty="0">
                <a:solidFill>
                  <a:srgbClr val="FF0000"/>
                </a:solidFill>
              </a:rPr>
              <a:t>Step 2: Algorithm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if remainder of input to 2 is 0 then input is even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Else input is odd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3162" y="3228945"/>
            <a:ext cx="51308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# Step 3: Write your code here</a:t>
            </a:r>
          </a:p>
          <a:p>
            <a:endParaRPr lang="en-US" sz="20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0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intInput</a:t>
            </a:r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= int(input())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if </a:t>
            </a:r>
            <a:r>
              <a:rPr lang="en-US" sz="20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intInput</a:t>
            </a:r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%2 == 0: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print(‘Even’)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else: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print(‘Odd’)</a:t>
            </a:r>
          </a:p>
          <a:p>
            <a:endParaRPr lang="en-US" sz="20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6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242" y="1"/>
            <a:ext cx="8534400" cy="886468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679" y="1039627"/>
            <a:ext cx="11580321" cy="4931905"/>
          </a:xfrm>
        </p:spPr>
        <p:txBody>
          <a:bodyPr anchor="t" anchorCtr="0">
            <a:normAutofit/>
          </a:bodyPr>
          <a:lstStyle/>
          <a:p>
            <a:r>
              <a:rPr lang="en-US" sz="2200" dirty="0"/>
              <a:t>Write a READABLE </a:t>
            </a:r>
            <a:r>
              <a:rPr lang="en-US" sz="2200" dirty="0">
                <a:solidFill>
                  <a:srgbClr val="FFFF00"/>
                </a:solidFill>
              </a:rPr>
              <a:t>if statement </a:t>
            </a:r>
            <a:r>
              <a:rPr lang="en-US" sz="2200" dirty="0"/>
              <a:t>for the following case. There are 3 integer variables: </a:t>
            </a:r>
            <a:r>
              <a:rPr lang="en-US" sz="2200" dirty="0">
                <a:solidFill>
                  <a:srgbClr val="FFFF00"/>
                </a:solidFill>
              </a:rPr>
              <a:t>vInt1, vInt2 and vInt3</a:t>
            </a:r>
            <a:r>
              <a:rPr lang="en-US" sz="2200" dirty="0"/>
              <a:t>. If </a:t>
            </a:r>
            <a:r>
              <a:rPr lang="en-US" sz="2200" dirty="0">
                <a:solidFill>
                  <a:srgbClr val="FFFF00"/>
                </a:solidFill>
              </a:rPr>
              <a:t>vInt1</a:t>
            </a:r>
            <a:r>
              <a:rPr lang="en-US" sz="2200" dirty="0"/>
              <a:t> is  between 0 and 5 and </a:t>
            </a:r>
            <a:r>
              <a:rPr lang="en-US" sz="2200" dirty="0">
                <a:solidFill>
                  <a:srgbClr val="FFFF00"/>
                </a:solidFill>
              </a:rPr>
              <a:t>vInt2</a:t>
            </a:r>
            <a:r>
              <a:rPr lang="en-US" sz="2200" dirty="0"/>
              <a:t> is less than 0, then </a:t>
            </a:r>
            <a:r>
              <a:rPr lang="en-US" sz="2200" dirty="0">
                <a:solidFill>
                  <a:srgbClr val="FFFF00"/>
                </a:solidFill>
              </a:rPr>
              <a:t>vInt3= vInt1 + vInt2</a:t>
            </a:r>
            <a:r>
              <a:rPr lang="en-US" sz="2200" dirty="0"/>
              <a:t>. If vInt1 is between 0 and 5 and </a:t>
            </a:r>
            <a:r>
              <a:rPr lang="en-US" sz="2200" dirty="0">
                <a:solidFill>
                  <a:srgbClr val="FFFF00"/>
                </a:solidFill>
              </a:rPr>
              <a:t>vInt2</a:t>
            </a:r>
            <a:r>
              <a:rPr lang="en-US" sz="2200" dirty="0"/>
              <a:t> is greater than or equal to 0, then </a:t>
            </a:r>
            <a:r>
              <a:rPr lang="en-US" sz="2200" dirty="0">
                <a:solidFill>
                  <a:srgbClr val="FFFF00"/>
                </a:solidFill>
              </a:rPr>
              <a:t>vInt3 = vInt1 – vInt2</a:t>
            </a:r>
            <a:r>
              <a:rPr lang="en-US" sz="2200" dirty="0"/>
              <a:t>. If </a:t>
            </a:r>
            <a:r>
              <a:rPr lang="en-US" sz="2200" dirty="0">
                <a:solidFill>
                  <a:srgbClr val="FFFF00"/>
                </a:solidFill>
              </a:rPr>
              <a:t>vInt1</a:t>
            </a:r>
            <a:r>
              <a:rPr lang="en-US" sz="2200" dirty="0"/>
              <a:t> is less than 0 then </a:t>
            </a:r>
            <a:r>
              <a:rPr lang="en-US" sz="2200" dirty="0">
                <a:solidFill>
                  <a:srgbClr val="FFFF00"/>
                </a:solidFill>
              </a:rPr>
              <a:t>vInt3 = vInt2</a:t>
            </a:r>
            <a:r>
              <a:rPr lang="en-US" sz="2200" dirty="0"/>
              <a:t>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0683" y="2679052"/>
            <a:ext cx="54864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charset="0"/>
              <a:buChar char="•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Ask questions that eliminate most input cases first 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Ask questions with no nested ifs first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Avoid nesting more than 2 levels of if statements. 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Avoid too many comparisons in the same expression.</a:t>
            </a:r>
          </a:p>
          <a:p>
            <a:pPr marL="800100" lvl="1" indent="-342900">
              <a:buFont typeface="Arial" charset="0"/>
              <a:buChar char="•"/>
            </a:pPr>
            <a:r>
              <a:rPr lang="en-US" sz="2200" dirty="0">
                <a:solidFill>
                  <a:srgbClr val="FF0000"/>
                </a:solidFill>
              </a:rPr>
              <a:t>Simplify </a:t>
            </a:r>
            <a:r>
              <a:rPr lang="en-US" sz="2200" dirty="0" err="1">
                <a:solidFill>
                  <a:srgbClr val="FF0000"/>
                </a:solidFill>
              </a:rPr>
              <a:t>boolean</a:t>
            </a:r>
            <a:r>
              <a:rPr lang="en-US" sz="2200" dirty="0">
                <a:solidFill>
                  <a:srgbClr val="FF0000"/>
                </a:solidFill>
              </a:rPr>
              <a:t> expression to make it easy to understand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9242" y="2606850"/>
            <a:ext cx="684063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//Write your code here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vInt1 = int(input())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vInt2 = int(input())</a:t>
            </a:r>
          </a:p>
          <a:p>
            <a:endParaRPr lang="en-US" sz="20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if vInt1 &lt; 0: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vInt3 = vInt2 </a:t>
            </a:r>
          </a:p>
          <a:p>
            <a:r>
              <a:rPr lang="en-US" sz="20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elif</a:t>
            </a:r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vInt1 &lt;= 5: 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if vInt2 &lt; 0: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	vInt3 = vInt1 + vInt2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else: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	vInt3 = vInt1 – vInt2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else: # anything that is not on the above</a:t>
            </a:r>
          </a:p>
          <a:p>
            <a:r>
              <a:rPr lang="en-US" sz="20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print(‘do nothing’)	</a:t>
            </a:r>
          </a:p>
        </p:txBody>
      </p:sp>
    </p:spTree>
    <p:extLst>
      <p:ext uri="{BB962C8B-B14F-4D97-AF65-F5344CB8AC3E}">
        <p14:creationId xmlns:p14="http://schemas.microsoft.com/office/powerpoint/2010/main" val="1821690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259" y="119714"/>
            <a:ext cx="8534400" cy="1312041"/>
          </a:xfrm>
        </p:spPr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409569"/>
            <a:ext cx="10761554" cy="4929238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en-US" sz="2200" dirty="0"/>
              <a:t>Write a clear and readable if statement for the following problem: A double variable  </a:t>
            </a:r>
            <a:r>
              <a:rPr lang="en-US" sz="2200" dirty="0">
                <a:solidFill>
                  <a:srgbClr val="FFFF00"/>
                </a:solidFill>
              </a:rPr>
              <a:t>reward</a:t>
            </a:r>
            <a:r>
              <a:rPr lang="en-US" sz="2200" dirty="0"/>
              <a:t> represents a reward between 0 and 1. </a:t>
            </a:r>
            <a:r>
              <a:rPr lang="en-US" sz="2200" dirty="0">
                <a:solidFill>
                  <a:srgbClr val="FFFF00"/>
                </a:solidFill>
              </a:rPr>
              <a:t>Weight</a:t>
            </a:r>
            <a:r>
              <a:rPr lang="en-US" sz="2200" dirty="0"/>
              <a:t> is another double  variable whose change depends on the value of </a:t>
            </a:r>
            <a:r>
              <a:rPr lang="en-US" sz="2200" dirty="0">
                <a:solidFill>
                  <a:srgbClr val="FFFF00"/>
                </a:solidFill>
              </a:rPr>
              <a:t>reward</a:t>
            </a:r>
            <a:r>
              <a:rPr lang="en-US" sz="2200" dirty="0"/>
              <a:t>. Initially </a:t>
            </a:r>
            <a:r>
              <a:rPr lang="en-US" sz="2200" dirty="0">
                <a:solidFill>
                  <a:srgbClr val="FFFF00"/>
                </a:solidFill>
              </a:rPr>
              <a:t>weight </a:t>
            </a:r>
            <a:r>
              <a:rPr lang="en-US" sz="2200" dirty="0"/>
              <a:t>is  equal to 0.5. If </a:t>
            </a:r>
            <a:r>
              <a:rPr lang="en-US" sz="2200" dirty="0">
                <a:solidFill>
                  <a:srgbClr val="FFFF00"/>
                </a:solidFill>
              </a:rPr>
              <a:t>reward</a:t>
            </a:r>
            <a:r>
              <a:rPr lang="en-US" sz="2200" dirty="0"/>
              <a:t> is 0, then subtract 0.2 from </a:t>
            </a:r>
            <a:r>
              <a:rPr lang="en-US" sz="2200" dirty="0">
                <a:solidFill>
                  <a:srgbClr val="FFFF00"/>
                </a:solidFill>
              </a:rPr>
              <a:t>weight</a:t>
            </a:r>
            <a:r>
              <a:rPr lang="en-US" sz="2200" dirty="0"/>
              <a:t>. If </a:t>
            </a:r>
            <a:r>
              <a:rPr lang="en-US" sz="2200" dirty="0">
                <a:solidFill>
                  <a:srgbClr val="FFFF00"/>
                </a:solidFill>
              </a:rPr>
              <a:t>reward</a:t>
            </a:r>
            <a:r>
              <a:rPr lang="en-US" sz="2200" dirty="0"/>
              <a:t>  is greater than 0.7, then add 0.5 to </a:t>
            </a:r>
            <a:r>
              <a:rPr lang="en-US" sz="2200" dirty="0">
                <a:solidFill>
                  <a:srgbClr val="FFFF00"/>
                </a:solidFill>
              </a:rPr>
              <a:t>weight </a:t>
            </a:r>
            <a:r>
              <a:rPr lang="en-US" sz="2200" dirty="0"/>
              <a:t>. If </a:t>
            </a:r>
            <a:r>
              <a:rPr lang="en-US" sz="2200" dirty="0">
                <a:solidFill>
                  <a:srgbClr val="FFFF00"/>
                </a:solidFill>
              </a:rPr>
              <a:t>reward</a:t>
            </a:r>
            <a:r>
              <a:rPr lang="en-US" sz="2200" dirty="0"/>
              <a:t> is less than 0.2,  do nothing, and if it is in between 0.2 and 0.7, add to </a:t>
            </a:r>
            <a:r>
              <a:rPr lang="en-US" sz="2200" dirty="0">
                <a:solidFill>
                  <a:srgbClr val="FFFF00"/>
                </a:solidFill>
              </a:rPr>
              <a:t>weight, reward</a:t>
            </a:r>
            <a:r>
              <a:rPr lang="en-US" sz="2200" dirty="0"/>
              <a:t> *0.4.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8500" y="3707725"/>
            <a:ext cx="344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//Write your code here</a:t>
            </a:r>
          </a:p>
        </p:txBody>
      </p:sp>
    </p:spTree>
    <p:extLst>
      <p:ext uri="{BB962C8B-B14F-4D97-AF65-F5344CB8AC3E}">
        <p14:creationId xmlns:p14="http://schemas.microsoft.com/office/powerpoint/2010/main" val="1924894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723" y="0"/>
            <a:ext cx="8534400" cy="1312041"/>
          </a:xfrm>
        </p:spPr>
        <p:txBody>
          <a:bodyPr/>
          <a:lstStyle/>
          <a:p>
            <a:r>
              <a:rPr lang="en-US" dirty="0"/>
              <a:t>Example 4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5723" y="1092322"/>
            <a:ext cx="10761554" cy="2156373"/>
          </a:xfrm>
        </p:spPr>
        <p:txBody>
          <a:bodyPr anchor="t" anchorCtr="0">
            <a:normAutofit/>
          </a:bodyPr>
          <a:lstStyle/>
          <a:p>
            <a:pPr marL="0" indent="0">
              <a:buNone/>
            </a:pPr>
            <a:r>
              <a:rPr lang="en-US" sz="2200" dirty="0"/>
              <a:t>Write an if statement that checks the following conditions for the the value of a character  stored in </a:t>
            </a:r>
            <a:r>
              <a:rPr lang="en-US" sz="2200" dirty="0" err="1"/>
              <a:t>ch</a:t>
            </a:r>
            <a:r>
              <a:rPr lang="en-US" sz="2200" dirty="0"/>
              <a:t>: if </a:t>
            </a:r>
            <a:r>
              <a:rPr lang="en-US" sz="2200" dirty="0" err="1">
                <a:solidFill>
                  <a:srgbClr val="FFFF00"/>
                </a:solidFill>
              </a:rPr>
              <a:t>ch</a:t>
            </a:r>
            <a:r>
              <a:rPr lang="en-US" sz="2200" dirty="0">
                <a:solidFill>
                  <a:srgbClr val="FFFF00"/>
                </a:solidFill>
              </a:rPr>
              <a:t> </a:t>
            </a:r>
            <a:r>
              <a:rPr lang="en-US" sz="2200" dirty="0"/>
              <a:t>is an uppercase letter then output on  the screen "Uppercase letter", followed by the letter; if </a:t>
            </a:r>
            <a:r>
              <a:rPr lang="en-US" sz="2200" dirty="0" err="1">
                <a:solidFill>
                  <a:srgbClr val="FFFF00"/>
                </a:solidFill>
              </a:rPr>
              <a:t>ch</a:t>
            </a:r>
            <a:r>
              <a:rPr lang="en-US" sz="2200" dirty="0">
                <a:solidFill>
                  <a:srgbClr val="FFFF00"/>
                </a:solidFill>
              </a:rPr>
              <a:t> </a:t>
            </a:r>
            <a:r>
              <a:rPr lang="en-US" sz="2200" dirty="0"/>
              <a:t>a  lowercase letter, then output on the screen ”Lowercase letter",   followed by the letter. If the </a:t>
            </a:r>
            <a:r>
              <a:rPr lang="en-US" sz="2200" dirty="0" err="1">
                <a:solidFill>
                  <a:srgbClr val="FFFF00"/>
                </a:solidFill>
              </a:rPr>
              <a:t>ch</a:t>
            </a:r>
            <a:r>
              <a:rPr lang="en-US" sz="2200" dirty="0">
                <a:solidFill>
                  <a:srgbClr val="FFFF00"/>
                </a:solidFill>
              </a:rPr>
              <a:t> </a:t>
            </a:r>
            <a:r>
              <a:rPr lang="en-US" sz="2200" dirty="0"/>
              <a:t>is a digit, then output:   "Digit", followed by the value, else </a:t>
            </a:r>
            <a:r>
              <a:rPr lang="en-US" sz="2200" dirty="0" err="1">
                <a:solidFill>
                  <a:srgbClr val="FFFF00"/>
                </a:solidFill>
              </a:rPr>
              <a:t>ch</a:t>
            </a:r>
            <a:r>
              <a:rPr lang="en-US" sz="2200" dirty="0"/>
              <a:t> is a special character,   output: "Special character" followed by it.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908" y="3158529"/>
            <a:ext cx="648429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Step 1: Use cases: ‘b’, ‘X’, ’0’, ‘/’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Step 2: algorithm: 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Input </a:t>
            </a:r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ch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is lower case letter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output lowercase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Else if </a:t>
            </a:r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ch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is upper case letter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output uppercase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Else if </a:t>
            </a:r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ch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is a digit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output digit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Else 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output special </a:t>
            </a:r>
          </a:p>
          <a:p>
            <a:endParaRPr lang="en-US" sz="22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DF7BA-BD33-2510-8660-F310A3394AFE}"/>
              </a:ext>
            </a:extLst>
          </p:cNvPr>
          <p:cNvSpPr txBox="1"/>
          <p:nvPr/>
        </p:nvSpPr>
        <p:spPr>
          <a:xfrm>
            <a:off x="6794206" y="3158528"/>
            <a:ext cx="801538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# write the code</a:t>
            </a:r>
          </a:p>
          <a:p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ch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= input()</a:t>
            </a:r>
          </a:p>
          <a:p>
            <a:endParaRPr lang="en-US" sz="2200" dirty="0">
              <a:solidFill>
                <a:srgbClr val="FFFF00"/>
              </a:solidFill>
              <a:latin typeface="Courier" charset="0"/>
              <a:ea typeface="Courier" charset="0"/>
              <a:cs typeface="Courier" charset="0"/>
            </a:endParaRP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if ‘a’ &lt;= </a:t>
            </a:r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ch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&lt;= ‘z’: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print(‘lowercase’)</a:t>
            </a:r>
          </a:p>
          <a:p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elif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‘A’ &lt;= </a:t>
            </a:r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ch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&lt;= ‘Z’: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print(‘uppercase’)</a:t>
            </a:r>
          </a:p>
          <a:p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elif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‘0’ &lt;= </a:t>
            </a:r>
            <a:r>
              <a:rPr lang="en-US" sz="2200" dirty="0" err="1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ch</a:t>
            </a:r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 &lt;= ‘9’: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print(‘digit’)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else: </a:t>
            </a:r>
          </a:p>
          <a:p>
            <a:r>
              <a:rPr lang="en-US" sz="2200" dirty="0">
                <a:solidFill>
                  <a:srgbClr val="FFFF00"/>
                </a:solidFill>
                <a:latin typeface="Courier" charset="0"/>
                <a:ea typeface="Courier" charset="0"/>
                <a:cs typeface="Courier" charset="0"/>
              </a:rPr>
              <a:t>	print(‘special character’) </a:t>
            </a:r>
          </a:p>
        </p:txBody>
      </p:sp>
    </p:spTree>
    <p:extLst>
      <p:ext uri="{BB962C8B-B14F-4D97-AF65-F5344CB8AC3E}">
        <p14:creationId xmlns:p14="http://schemas.microsoft.com/office/powerpoint/2010/main" val="367618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31076"/>
            <a:ext cx="8534400" cy="1312041"/>
          </a:xfrm>
        </p:spPr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1643116"/>
            <a:ext cx="10761554" cy="4432219"/>
          </a:xfrm>
        </p:spPr>
        <p:txBody>
          <a:bodyPr anchor="t" anchorCtr="0">
            <a:normAutofit lnSpcReduction="1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Writing clear and readable IFs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Simplify the </a:t>
            </a:r>
            <a:r>
              <a:rPr lang="en-US" sz="2400" dirty="0" err="1">
                <a:solidFill>
                  <a:schemeClr val="bg1"/>
                </a:solidFill>
              </a:rPr>
              <a:t>boolean</a:t>
            </a:r>
            <a:r>
              <a:rPr lang="en-US" sz="2400" dirty="0">
                <a:solidFill>
                  <a:schemeClr val="bg1"/>
                </a:solidFill>
              </a:rPr>
              <a:t> expression  =&gt; no more than two variables in it. 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Introduce intermediary variables if needed.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Avoid nesting IF’S when possible. 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It is hard to keep track of multiple, nested expressions.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Treat the simple case first (fewest conditions).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Use positive expression when possible = easier to understand 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Avoid if (!</a:t>
            </a:r>
            <a:r>
              <a:rPr lang="en-US" sz="2400" dirty="0" err="1">
                <a:solidFill>
                  <a:schemeClr val="bg1"/>
                </a:solidFill>
              </a:rPr>
              <a:t>happenning</a:t>
            </a:r>
            <a:r>
              <a:rPr lang="en-US" sz="2400" dirty="0">
                <a:solidFill>
                  <a:schemeClr val="bg1"/>
                </a:solidFill>
              </a:rPr>
              <a:t>)   use if (</a:t>
            </a:r>
            <a:r>
              <a:rPr lang="en-US" sz="2400" dirty="0" err="1">
                <a:solidFill>
                  <a:schemeClr val="bg1"/>
                </a:solidFill>
              </a:rPr>
              <a:t>happenning</a:t>
            </a:r>
            <a:r>
              <a:rPr lang="en-US" sz="2400" dirty="0">
                <a:solidFill>
                  <a:schemeClr val="bg1"/>
                </a:solidFill>
              </a:rPr>
              <a:t>)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325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1E2CD-2731-0834-B7E3-D22388829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9622"/>
            <a:ext cx="8534400" cy="1507067"/>
          </a:xfrm>
        </p:spPr>
        <p:txBody>
          <a:bodyPr/>
          <a:lstStyle/>
          <a:p>
            <a:r>
              <a:rPr lang="en-US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DDE0-4C2A-0C33-E5DF-E7936C053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799897"/>
            <a:ext cx="8534400" cy="3615267"/>
          </a:xfrm>
        </p:spPr>
        <p:txBody>
          <a:bodyPr/>
          <a:lstStyle/>
          <a:p>
            <a:r>
              <a:rPr lang="en-US" sz="2400" dirty="0"/>
              <a:t>What is an if/else statement?</a:t>
            </a:r>
          </a:p>
          <a:p>
            <a:r>
              <a:rPr lang="en-US" sz="2400" dirty="0"/>
              <a:t>What is an if statement?</a:t>
            </a:r>
          </a:p>
          <a:p>
            <a:r>
              <a:rPr lang="en-US" sz="2400" dirty="0"/>
              <a:t>What is a nested if statement?</a:t>
            </a:r>
          </a:p>
          <a:p>
            <a:r>
              <a:rPr lang="en-US" sz="2400" dirty="0"/>
              <a:t>What is a Boolean expression?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563782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14837</TotalTime>
  <Words>1148</Words>
  <Application>Microsoft Macintosh PowerPoint</Application>
  <PresentationFormat>Widescreen</PresentationFormat>
  <Paragraphs>184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Century Gothic</vt:lpstr>
      <vt:lpstr>Courier</vt:lpstr>
      <vt:lpstr>Courier New</vt:lpstr>
      <vt:lpstr>Wingdings 3</vt:lpstr>
      <vt:lpstr>Slice</vt:lpstr>
      <vt:lpstr>Week 2: If Statements</vt:lpstr>
      <vt:lpstr>Conditional Statements</vt:lpstr>
      <vt:lpstr>IF/ELSE statement</vt:lpstr>
      <vt:lpstr>Example If-Else</vt:lpstr>
      <vt:lpstr>IF Statement (No else)</vt:lpstr>
      <vt:lpstr>Example IF – no else</vt:lpstr>
      <vt:lpstr>Nested IF Statement</vt:lpstr>
      <vt:lpstr>Example nested if</vt:lpstr>
      <vt:lpstr>Boolean EXpresSion</vt:lpstr>
      <vt:lpstr>Example 1</vt:lpstr>
      <vt:lpstr>Example 2</vt:lpstr>
      <vt:lpstr>Example 3</vt:lpstr>
      <vt:lpstr>Example 4 </vt:lpstr>
      <vt:lpstr>Review</vt:lpstr>
      <vt:lpstr>Conditional Statements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</dc:title>
  <dc:creator>Simona Doboli</dc:creator>
  <cp:lastModifiedBy>Simona Doboli</cp:lastModifiedBy>
  <cp:revision>35</cp:revision>
  <cp:lastPrinted>2025-09-08T17:12:26Z</cp:lastPrinted>
  <dcterms:created xsi:type="dcterms:W3CDTF">2017-01-17T20:23:48Z</dcterms:created>
  <dcterms:modified xsi:type="dcterms:W3CDTF">2025-09-10T19:57:16Z</dcterms:modified>
</cp:coreProperties>
</file>