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/>
    <p:restoredTop sz="94663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4706-F9ED-12BE-EFFE-3341F15A9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02081-E7C6-51FA-4057-C7FCAE3F2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6045C-B7B9-7722-8B5A-A8C80F12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A456-3784-F455-FDAE-D91B5421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2A2C-36E6-CBD6-1FE5-457825E5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8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431E-04EA-B9DA-4689-3F2AA984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2FBC-1CD8-80FD-4742-004087436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1EB29-A534-7BD4-216E-73CD5FC2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95778-E897-690C-91BA-E6AF1FE5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D2D01-FCCD-D992-DD9F-F146E6CF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1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555C-FBFC-762B-AEF1-AF9E17FA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6D068-056D-C3A5-E0F4-9F0BA624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6F94D-F3FD-9D8E-607E-64258BD3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FB02-ED91-0856-4450-BA8D04EA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037D-7E1A-33E2-6FA5-42BF04DD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E3DF-9867-3292-5F28-418603E1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D6AB9-645C-AABA-ED3D-90C18D1C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6CFBA-7AA9-5383-C255-7CE6F01B3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B45EC-6069-6CB6-07FF-A1C79F43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1D222-3452-BF1A-423B-46141FF5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B660-1ACC-91C1-80E3-65AA0D15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9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0701-8111-62AA-BD20-FD6B09F2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29844-C681-28CA-19D8-EE36A425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D3DC5-2C80-6C47-6ADF-E5BC609FD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54CE4-37C0-7892-C5E5-E5E037D04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33CF3-31FD-286A-4744-ED1DCB9D5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4D895-0122-B986-B86C-7F15580A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A2BC2-F240-4DA2-09DD-8A52F4E6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25000-88DA-C720-B686-742C73BD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A06F-EC48-5D23-E1B8-C72EE386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8C600-EABD-279D-B474-B91A4BD2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5D947-CF55-72BB-8C3E-2D92B110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F3F2B-7AC3-C0E5-1432-CB97630D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0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568D8-1014-B18D-24AD-F1DFE48F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3F01C-3B3B-AE7D-A5A7-8C2DC375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5314E-815C-92C9-549F-FDF8A992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8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94A9-A4BB-40BF-65CF-3DE77341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F079-0E78-7C4A-19B5-5113511A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E70B8-4CF6-36DF-892E-9D4537B2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7FCBE-35B7-51D9-9A5D-F10F8B97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19AD4-37B1-4959-6763-D9EA6D84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FE764-83AD-8311-3BC6-41FDA55D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8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B0EE-A6AF-60EE-5274-A7E76A7C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A9501-57BE-FF97-227C-2729BD3EF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03B9F-2722-DB16-46D1-D11D91C2D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597D5-B819-0241-BA92-1F7DA7C8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D34CF-04B6-698E-AB7B-E8BA46CF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FC66B-AD2A-6EAA-2F4B-6156BCAA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6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0833-CF90-3252-902B-0D13F747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15D10-47A0-FCB9-27D0-FEE440BC3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60C2-457D-9BE0-36EB-057B6D62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E1892-6F5F-F445-F516-D72619DB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4ED7-3986-5020-D2DB-BF78FB4C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0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BEC4C-FCFD-2A86-B0E7-60186C652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DD695-65F6-38B5-BA2B-C4076E7D1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64C7A-D10C-A96A-F135-6EAD83CC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466F8-2D63-F27E-79B0-CCA17C76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04449-2625-8761-A6D0-E271F19C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1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D134A-DD8E-9B5D-6698-60D78FA6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E2A89-8241-7BC7-09BC-D78615037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EAAEC-B03C-0CBB-E54F-4B349034F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5A265-4BD6-4047-A55A-2C3455BF7D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48B4-05C9-EB92-25D5-5A8FE7E75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8A75C-E711-9B91-1FF7-AA87C924E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59E03-A0A5-E343-8EFE-EBEA23745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3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BE04-CC8A-316E-7E8D-3B520DB112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290D2-24CE-DB9D-2F65-BE21350A5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E895-B443-59ED-3DCC-90585502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E0FC3-CE8F-F0F2-7304-E460034A3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  <a:p>
            <a:r>
              <a:rPr lang="en-US" dirty="0"/>
              <a:t>Example recursion</a:t>
            </a:r>
          </a:p>
          <a:p>
            <a:r>
              <a:rPr lang="en-US" dirty="0"/>
              <a:t>What are the elements of a recursive function?</a:t>
            </a:r>
          </a:p>
          <a:p>
            <a:r>
              <a:rPr lang="en-US" dirty="0"/>
              <a:t>How do we write a recursive function?</a:t>
            </a:r>
          </a:p>
          <a:p>
            <a:r>
              <a:rPr lang="en-US" dirty="0"/>
              <a:t>How do we test a recursive function</a:t>
            </a:r>
          </a:p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80611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1E8D-F085-1102-4D53-CA50E7D0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6F94A-FB7B-6B71-6257-49E2C5E06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recursive function</a:t>
            </a:r>
            <a:r>
              <a:rPr lang="en-US" dirty="0">
                <a:solidFill>
                  <a:srgbClr val="FF0000"/>
                </a:solidFill>
              </a:rPr>
              <a:t> is a function that </a:t>
            </a:r>
            <a:r>
              <a:rPr lang="en-US" b="1" dirty="0">
                <a:solidFill>
                  <a:srgbClr val="FF0000"/>
                </a:solidFill>
              </a:rPr>
              <a:t>calls itself</a:t>
            </a:r>
            <a:r>
              <a:rPr lang="en-US" dirty="0">
                <a:solidFill>
                  <a:srgbClr val="FF0000"/>
                </a:solidFill>
              </a:rPr>
              <a:t> to solve a smaller version of the same problem.</a:t>
            </a:r>
          </a:p>
          <a:p>
            <a:pPr lvl="1"/>
            <a:r>
              <a:rPr lang="en-US" dirty="0"/>
              <a:t>Each recursive call should bring the problem </a:t>
            </a:r>
            <a:r>
              <a:rPr lang="en-US" b="1" dirty="0"/>
              <a:t>closer to a base case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Used for </a:t>
            </a:r>
            <a:r>
              <a:rPr lang="en-US" dirty="0">
                <a:solidFill>
                  <a:srgbClr val="FF0000"/>
                </a:solidFill>
              </a:rPr>
              <a:t>problems that can be divided into </a:t>
            </a:r>
            <a:r>
              <a:rPr lang="en-US" b="1" dirty="0">
                <a:solidFill>
                  <a:srgbClr val="FF0000"/>
                </a:solidFill>
              </a:rPr>
              <a:t>similar subproblems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such as:</a:t>
            </a:r>
          </a:p>
          <a:p>
            <a:pPr lvl="1"/>
            <a:r>
              <a:rPr lang="en-US" dirty="0"/>
              <a:t>Factorials</a:t>
            </a:r>
          </a:p>
          <a:p>
            <a:pPr lvl="1"/>
            <a:r>
              <a:rPr lang="en-US" dirty="0"/>
              <a:t>Fibonacci numbers</a:t>
            </a:r>
          </a:p>
          <a:p>
            <a:pPr lvl="1"/>
            <a:r>
              <a:rPr lang="en-US" dirty="0"/>
              <a:t>Searching or sorting lists</a:t>
            </a:r>
          </a:p>
        </p:txBody>
      </p:sp>
    </p:spTree>
    <p:extLst>
      <p:ext uri="{BB962C8B-B14F-4D97-AF65-F5344CB8AC3E}">
        <p14:creationId xmlns:p14="http://schemas.microsoft.com/office/powerpoint/2010/main" val="178980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444E-B97E-9776-2E58-87359AA2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41" y="388378"/>
            <a:ext cx="10515600" cy="1325563"/>
          </a:xfrm>
        </p:spPr>
        <p:txBody>
          <a:bodyPr/>
          <a:lstStyle/>
          <a:p>
            <a:r>
              <a:rPr lang="en-US" dirty="0"/>
              <a:t>Example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076D-E822-7A74-D6CF-48D8A4B14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9011" y="1713941"/>
            <a:ext cx="4931229" cy="4351338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factorial(0) -&gt; returns 1 (if n== 0)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 other calls are made to factorial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-&gt; 0 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03EFA-52D6-B45C-1485-A90D80EFD02B}"/>
              </a:ext>
            </a:extLst>
          </p:cNvPr>
          <p:cNvSpPr txBox="1"/>
          <p:nvPr/>
        </p:nvSpPr>
        <p:spPr>
          <a:xfrm>
            <a:off x="649941" y="1948598"/>
            <a:ext cx="6073588" cy="40934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 *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factorial(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- 1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6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444E-B97E-9776-2E58-87359AA2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03EFA-52D6-B45C-1485-A90D80EFD02B}"/>
              </a:ext>
            </a:extLst>
          </p:cNvPr>
          <p:cNvSpPr txBox="1"/>
          <p:nvPr/>
        </p:nvSpPr>
        <p:spPr>
          <a:xfrm>
            <a:off x="649941" y="1948598"/>
            <a:ext cx="6073588" cy="40934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 * factorial(n - 1)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C8FC56-2659-EFF1-2A46-57C70FEA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459" y="1727389"/>
            <a:ext cx="4930775" cy="4351337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factorial(1) ??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Calls factorial(0)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Factorial(0) returns 1 to factorial(1)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Factorial(1) returns 1 * factorial(0) = 1</a:t>
            </a: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Prints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6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444E-B97E-9776-2E58-87359AA2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03EFA-52D6-B45C-1485-A90D80EFD02B}"/>
              </a:ext>
            </a:extLst>
          </p:cNvPr>
          <p:cNvSpPr txBox="1"/>
          <p:nvPr/>
        </p:nvSpPr>
        <p:spPr>
          <a:xfrm>
            <a:off x="649941" y="1948598"/>
            <a:ext cx="6073588" cy="40934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 * factorial(n - 1)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87F884-23C2-B170-31C0-73A63D50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0" y="1690688"/>
            <a:ext cx="4930775" cy="4351337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factorial(2) ??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9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444E-B97E-9776-2E58-87359AA2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076D-E822-7A74-D6CF-48D8A4B14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799" y="1690688"/>
            <a:ext cx="4931229" cy="4351338"/>
          </a:xfrm>
        </p:spPr>
        <p:txBody>
          <a:bodyPr/>
          <a:lstStyle/>
          <a:p>
            <a:r>
              <a:rPr lang="en-US" dirty="0"/>
              <a:t>factorial(5)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03EFA-52D6-B45C-1485-A90D80EFD02B}"/>
              </a:ext>
            </a:extLst>
          </p:cNvPr>
          <p:cNvSpPr txBox="1"/>
          <p:nvPr/>
        </p:nvSpPr>
        <p:spPr>
          <a:xfrm>
            <a:off x="704370" y="1948598"/>
            <a:ext cx="8951259" cy="40934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  # base case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 * factorial(n-1) # recursive case 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5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D13C-71C9-13F3-F17B-D700500D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955"/>
            <a:ext cx="10515600" cy="1325563"/>
          </a:xfrm>
        </p:spPr>
        <p:txBody>
          <a:bodyPr/>
          <a:lstStyle/>
          <a:p>
            <a:r>
              <a:rPr lang="en-US" dirty="0"/>
              <a:t>Elements of a recursive function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5BCC-4B13-5EC0-C92C-627DF723C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94" y="1519518"/>
            <a:ext cx="10515600" cy="5338482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Base Case</a:t>
            </a:r>
            <a:endParaRPr lang="en-US" sz="3200" dirty="0">
              <a:solidFill>
                <a:srgbClr val="FF0000"/>
              </a:solidFill>
            </a:endParaRPr>
          </a:p>
          <a:p>
            <a:pPr lvl="1"/>
            <a:r>
              <a:rPr lang="en-US" sz="3200" dirty="0"/>
              <a:t>The condition that stops recursion.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Returns the solution to the smallest size and simplest problem</a:t>
            </a:r>
          </a:p>
          <a:p>
            <a:pPr lvl="1"/>
            <a:r>
              <a:rPr lang="en-US" sz="3200" dirty="0"/>
              <a:t>Without it → infinite loop / crash (stack overflow).</a:t>
            </a:r>
          </a:p>
          <a:p>
            <a:pPr lvl="1"/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Recursive Call</a:t>
            </a:r>
            <a:endParaRPr lang="en-US" sz="3200" dirty="0">
              <a:solidFill>
                <a:srgbClr val="FF0000"/>
              </a:solidFill>
            </a:endParaRPr>
          </a:p>
          <a:p>
            <a:pPr lvl="1"/>
            <a:r>
              <a:rPr lang="en-US" sz="3200" dirty="0"/>
              <a:t>The function calls itself with </a:t>
            </a:r>
            <a:r>
              <a:rPr lang="en-US" sz="3200" b="1" dirty="0">
                <a:solidFill>
                  <a:srgbClr val="FF0000"/>
                </a:solidFill>
              </a:rPr>
              <a:t>smaller size input</a:t>
            </a:r>
            <a:r>
              <a:rPr lang="en-US" sz="3200" dirty="0"/>
              <a:t>.</a:t>
            </a:r>
          </a:p>
          <a:p>
            <a:pPr lvl="1"/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Progress Toward Base Case</a:t>
            </a:r>
            <a:endParaRPr lang="en-US" sz="3200" dirty="0">
              <a:solidFill>
                <a:srgbClr val="FF0000"/>
              </a:solidFill>
            </a:endParaRPr>
          </a:p>
          <a:p>
            <a:pPr lvl="1"/>
            <a:r>
              <a:rPr lang="en-US" sz="3200" dirty="0"/>
              <a:t>Each call must reduce the problem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0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0F18-555F-B2A3-0BAB-DDD03127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Recursive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4FB8-A453-E12E-FAD3-2A980299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9413"/>
            <a:ext cx="10941424" cy="435133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Identify the </a:t>
            </a:r>
            <a:r>
              <a:rPr lang="en-US" sz="3200" b="1" dirty="0"/>
              <a:t>problem</a:t>
            </a:r>
            <a:r>
              <a:rPr lang="en-US" sz="3200" dirty="0"/>
              <a:t> and how it can be broken into smaller parts.</a:t>
            </a:r>
          </a:p>
          <a:p>
            <a:endParaRPr lang="en-US" sz="3200" dirty="0"/>
          </a:p>
          <a:p>
            <a:r>
              <a:rPr lang="en-US" sz="3200" dirty="0"/>
              <a:t>Define the </a:t>
            </a:r>
            <a:r>
              <a:rPr lang="en-US" sz="3200" b="1" dirty="0"/>
              <a:t>base case</a:t>
            </a:r>
            <a:r>
              <a:rPr lang="en-US" sz="3200" dirty="0"/>
              <a:t> (the simplest situation).</a:t>
            </a:r>
          </a:p>
          <a:p>
            <a:endParaRPr lang="en-US" sz="3200" dirty="0"/>
          </a:p>
          <a:p>
            <a:r>
              <a:rPr lang="en-US" sz="3200" dirty="0"/>
              <a:t>Write the </a:t>
            </a:r>
            <a:r>
              <a:rPr lang="en-US" sz="3200" b="1" dirty="0"/>
              <a:t>recursive case</a:t>
            </a:r>
            <a:r>
              <a:rPr lang="en-US" sz="3200" dirty="0"/>
              <a:t> that moves closer to the base.</a:t>
            </a:r>
          </a:p>
          <a:p>
            <a:endParaRPr lang="en-US" sz="3200" dirty="0"/>
          </a:p>
          <a:p>
            <a:r>
              <a:rPr lang="en-US" sz="3200" dirty="0"/>
              <a:t>Make sure each call changes the input  (e.g., n-1, </a:t>
            </a:r>
            <a:r>
              <a:rPr lang="en-US" sz="3200" dirty="0" err="1"/>
              <a:t>lst</a:t>
            </a:r>
            <a:r>
              <a:rPr lang="en-US" sz="3200" dirty="0"/>
              <a:t>[1:]).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4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EF69-9779-CC95-1148-48225FF0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 Recursive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2B6C-853B-EF3E-2589-CCC386CDB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9852212" cy="1159622"/>
          </a:xfrm>
        </p:spPr>
        <p:txBody>
          <a:bodyPr/>
          <a:lstStyle/>
          <a:p>
            <a:r>
              <a:rPr lang="en-US" dirty="0"/>
              <a:t>Start with the </a:t>
            </a:r>
            <a:r>
              <a:rPr lang="en-US" b="1" dirty="0"/>
              <a:t>base case</a:t>
            </a:r>
            <a:r>
              <a:rPr lang="en-US" dirty="0"/>
              <a:t> → test smallest input first.</a:t>
            </a:r>
          </a:p>
          <a:p>
            <a:r>
              <a:rPr lang="en-US" dirty="0"/>
              <a:t>Add </a:t>
            </a:r>
            <a:r>
              <a:rPr lang="en-US" b="1" dirty="0"/>
              <a:t>print statements</a:t>
            </a:r>
            <a:r>
              <a:rPr lang="en-US" dirty="0"/>
              <a:t> to trace each call: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D15FD-CD52-A60A-4347-C6E0F06A78E7}"/>
              </a:ext>
            </a:extLst>
          </p:cNvPr>
          <p:cNvSpPr txBox="1"/>
          <p:nvPr/>
        </p:nvSpPr>
        <p:spPr>
          <a:xfrm>
            <a:off x="1247214" y="3283631"/>
            <a:ext cx="8757398" cy="28007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print("Calling factorial(", n, ")")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= n * factorial(n - 1)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print("Returning", result, "for n =", n)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</a:t>
            </a:r>
          </a:p>
        </p:txBody>
      </p:sp>
    </p:spTree>
    <p:extLst>
      <p:ext uri="{BB962C8B-B14F-4D97-AF65-F5344CB8AC3E}">
        <p14:creationId xmlns:p14="http://schemas.microsoft.com/office/powerpoint/2010/main" val="328515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E668-4EB3-9F91-813E-FD5B4071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5" y="348503"/>
            <a:ext cx="10515600" cy="1325563"/>
          </a:xfrm>
        </p:spPr>
        <p:txBody>
          <a:bodyPr/>
          <a:lstStyle/>
          <a:p>
            <a:r>
              <a:rPr lang="en-US" dirty="0"/>
              <a:t>What does the function 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7ADD-CA8E-2DB5-5C02-443717FC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8164" y="1674066"/>
            <a:ext cx="3242982" cy="4704753"/>
          </a:xfrm>
        </p:spPr>
        <p:txBody>
          <a:bodyPr/>
          <a:lstStyle/>
          <a:p>
            <a:r>
              <a:rPr lang="en-US" dirty="0"/>
              <a:t>factorial(0)</a:t>
            </a:r>
          </a:p>
          <a:p>
            <a:r>
              <a:rPr lang="en-US" dirty="0"/>
              <a:t>Calling factorial(0)</a:t>
            </a:r>
          </a:p>
          <a:p>
            <a:r>
              <a:rPr lang="en-US" dirty="0"/>
              <a:t>Print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E025-5773-47C6-3005-F7EC6F1ED53A}"/>
              </a:ext>
            </a:extLst>
          </p:cNvPr>
          <p:cNvSpPr txBox="1"/>
          <p:nvPr/>
        </p:nvSpPr>
        <p:spPr>
          <a:xfrm>
            <a:off x="313765" y="1674066"/>
            <a:ext cx="8359588" cy="4493538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print("Calling factorial(", n, ")")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= n * factorial(n - 1)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print("Returning", result, "for n =", n)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</p:txBody>
      </p:sp>
    </p:spTree>
    <p:extLst>
      <p:ext uri="{BB962C8B-B14F-4D97-AF65-F5344CB8AC3E}">
        <p14:creationId xmlns:p14="http://schemas.microsoft.com/office/powerpoint/2010/main" val="101534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E668-4EB3-9F91-813E-FD5B4071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5" y="348503"/>
            <a:ext cx="10515600" cy="1325563"/>
          </a:xfrm>
        </p:spPr>
        <p:txBody>
          <a:bodyPr/>
          <a:lstStyle/>
          <a:p>
            <a:r>
              <a:rPr lang="en-US" dirty="0"/>
              <a:t>What does the function 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7ADD-CA8E-2DB5-5C02-443717FC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5025" y="381320"/>
            <a:ext cx="4296975" cy="4704753"/>
          </a:xfrm>
        </p:spPr>
        <p:txBody>
          <a:bodyPr/>
          <a:lstStyle/>
          <a:p>
            <a:r>
              <a:rPr lang="en-US" dirty="0"/>
              <a:t>factorial(1)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factorial(1)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factorial(0)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(returns 1 to factorial(1))</a:t>
            </a:r>
          </a:p>
          <a:p>
            <a:pPr marL="0" indent="0">
              <a:buNone/>
            </a:pPr>
            <a:r>
              <a:rPr lang="en-US" dirty="0"/>
              <a:t> Returning 1 for n = 1</a:t>
            </a:r>
          </a:p>
          <a:p>
            <a:pPr marL="0" indent="0">
              <a:buNone/>
            </a:pPr>
            <a:r>
              <a:rPr lang="en-US" dirty="0"/>
              <a:t>Print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E025-5773-47C6-3005-F7EC6F1ED53A}"/>
              </a:ext>
            </a:extLst>
          </p:cNvPr>
          <p:cNvSpPr txBox="1"/>
          <p:nvPr/>
        </p:nvSpPr>
        <p:spPr>
          <a:xfrm>
            <a:off x="313765" y="1674066"/>
            <a:ext cx="7012321" cy="483209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print("Calling factorial(", n, ")")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= n * factorial(n - 1)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print("Returning", result, "for 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 =", n)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</p:txBody>
      </p:sp>
    </p:spTree>
    <p:extLst>
      <p:ext uri="{BB962C8B-B14F-4D97-AF65-F5344CB8AC3E}">
        <p14:creationId xmlns:p14="http://schemas.microsoft.com/office/powerpoint/2010/main" val="1048485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E668-4EB3-9F91-813E-FD5B4071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5" y="348503"/>
            <a:ext cx="10515600" cy="1325563"/>
          </a:xfrm>
        </p:spPr>
        <p:txBody>
          <a:bodyPr/>
          <a:lstStyle/>
          <a:p>
            <a:r>
              <a:rPr lang="en-US" dirty="0"/>
              <a:t>What does the function 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7ADD-CA8E-2DB5-5C02-443717FC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383" y="1445466"/>
            <a:ext cx="4605617" cy="4704753"/>
          </a:xfrm>
        </p:spPr>
        <p:txBody>
          <a:bodyPr/>
          <a:lstStyle/>
          <a:p>
            <a:r>
              <a:rPr lang="en-US" dirty="0"/>
              <a:t>factorial(2):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factorial(2)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factorial(1)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factorial(0)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1 for 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ning 2 for n=2</a:t>
            </a:r>
            <a:endParaRPr lang="en-US" sz="2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E025-5773-47C6-3005-F7EC6F1ED53A}"/>
              </a:ext>
            </a:extLst>
          </p:cNvPr>
          <p:cNvSpPr txBox="1"/>
          <p:nvPr/>
        </p:nvSpPr>
        <p:spPr>
          <a:xfrm>
            <a:off x="313765" y="1674066"/>
            <a:ext cx="8359588" cy="483209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print("Calling factorial(", n, ")")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= n * factorial(n - 1)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print("Returning", result, 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"for n =", n)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</p:txBody>
      </p:sp>
    </p:spTree>
    <p:extLst>
      <p:ext uri="{BB962C8B-B14F-4D97-AF65-F5344CB8AC3E}">
        <p14:creationId xmlns:p14="http://schemas.microsoft.com/office/powerpoint/2010/main" val="3883884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E668-4EB3-9F91-813E-FD5B4071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5" y="348503"/>
            <a:ext cx="10515600" cy="1325563"/>
          </a:xfrm>
        </p:spPr>
        <p:txBody>
          <a:bodyPr/>
          <a:lstStyle/>
          <a:p>
            <a:r>
              <a:rPr lang="en-US" dirty="0"/>
              <a:t>What does the function 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7ADD-CA8E-2DB5-5C02-443717FC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371" y="348504"/>
            <a:ext cx="4982775" cy="60303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factorial(5)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 5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 1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factorial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returns 1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1 for n=1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2 for n=2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6 for n=3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24 for n=4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Returning 120 for n=5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E025-5773-47C6-3005-F7EC6F1ED53A}"/>
              </a:ext>
            </a:extLst>
          </p:cNvPr>
          <p:cNvSpPr txBox="1"/>
          <p:nvPr/>
        </p:nvSpPr>
        <p:spPr>
          <a:xfrm>
            <a:off x="313765" y="1674066"/>
            <a:ext cx="8359588" cy="483209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factorial(n):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print("Calling factorial(", n, ")")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= n * factorial(n - 1)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print("Returning", result, </a:t>
            </a:r>
            <a:b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"for n =", n)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print(factorial(0))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print(factorial(1))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print(factorial(2))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print(factorial(5))</a:t>
            </a:r>
          </a:p>
        </p:txBody>
      </p:sp>
    </p:spTree>
    <p:extLst>
      <p:ext uri="{BB962C8B-B14F-4D97-AF65-F5344CB8AC3E}">
        <p14:creationId xmlns:p14="http://schemas.microsoft.com/office/powerpoint/2010/main" val="281353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62D8-19DE-F294-3508-472158BA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A459-7740-9F87-C4D1-4CAE4B97A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if a string is a palindrome</a:t>
            </a:r>
          </a:p>
        </p:txBody>
      </p:sp>
    </p:spTree>
    <p:extLst>
      <p:ext uri="{BB962C8B-B14F-4D97-AF65-F5344CB8AC3E}">
        <p14:creationId xmlns:p14="http://schemas.microsoft.com/office/powerpoint/2010/main" val="221644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62D8-19DE-F294-3508-472158BA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A459-7740-9F87-C4D1-4CAE4B97A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the number of occurrences of an item in a list</a:t>
            </a:r>
          </a:p>
        </p:txBody>
      </p:sp>
    </p:spTree>
    <p:extLst>
      <p:ext uri="{BB962C8B-B14F-4D97-AF65-F5344CB8AC3E}">
        <p14:creationId xmlns:p14="http://schemas.microsoft.com/office/powerpoint/2010/main" val="158104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62D8-19DE-F294-3508-472158BA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A459-7740-9F87-C4D1-4CAE4B97A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x to the power of n</a:t>
            </a:r>
          </a:p>
        </p:txBody>
      </p:sp>
    </p:spTree>
    <p:extLst>
      <p:ext uri="{BB962C8B-B14F-4D97-AF65-F5344CB8AC3E}">
        <p14:creationId xmlns:p14="http://schemas.microsoft.com/office/powerpoint/2010/main" val="2149028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62D8-19DE-F294-3508-472158BA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A459-7740-9F87-C4D1-4CAE4B97A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max item in a list </a:t>
            </a:r>
          </a:p>
        </p:txBody>
      </p:sp>
    </p:spTree>
    <p:extLst>
      <p:ext uri="{BB962C8B-B14F-4D97-AF65-F5344CB8AC3E}">
        <p14:creationId xmlns:p14="http://schemas.microsoft.com/office/powerpoint/2010/main" val="3937762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E895-B443-59ED-3DCC-90585502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E0FC3-CE8F-F0F2-7304-E460034A3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  <a:p>
            <a:r>
              <a:rPr lang="en-US" dirty="0"/>
              <a:t>Example recursion</a:t>
            </a:r>
          </a:p>
          <a:p>
            <a:r>
              <a:rPr lang="en-US" dirty="0"/>
              <a:t>What are the elements of a recursive function?</a:t>
            </a:r>
          </a:p>
          <a:p>
            <a:r>
              <a:rPr lang="en-US" dirty="0"/>
              <a:t>How do we write a recursive function?</a:t>
            </a:r>
          </a:p>
          <a:p>
            <a:r>
              <a:rPr lang="en-US" dirty="0"/>
              <a:t>How do we test a recursive function</a:t>
            </a:r>
          </a:p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32356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1105</Words>
  <Application>Microsoft Macintosh PowerPoint</Application>
  <PresentationFormat>Widescreen</PresentationFormat>
  <Paragraphs>207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Recursion</vt:lpstr>
      <vt:lpstr>Topics  </vt:lpstr>
      <vt:lpstr>What is recursion?</vt:lpstr>
      <vt:lpstr>Example recursion</vt:lpstr>
      <vt:lpstr>Example recursion</vt:lpstr>
      <vt:lpstr>Example recursion</vt:lpstr>
      <vt:lpstr>Example recursion</vt:lpstr>
      <vt:lpstr>Elements of a recursive function definition</vt:lpstr>
      <vt:lpstr>Writing a Recursive Function</vt:lpstr>
      <vt:lpstr>Testing a Recursive Function</vt:lpstr>
      <vt:lpstr>What does the function print?</vt:lpstr>
      <vt:lpstr>What does the function print?</vt:lpstr>
      <vt:lpstr>What does the function print?</vt:lpstr>
      <vt:lpstr>What does the function print?</vt:lpstr>
      <vt:lpstr>Examples </vt:lpstr>
      <vt:lpstr>Examples</vt:lpstr>
      <vt:lpstr>Examples  </vt:lpstr>
      <vt:lpstr>Examples</vt:lpstr>
      <vt:lpstr>Topics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3</cp:revision>
  <cp:lastPrinted>2025-11-10T19:25:15Z</cp:lastPrinted>
  <dcterms:created xsi:type="dcterms:W3CDTF">2025-11-10T19:05:16Z</dcterms:created>
  <dcterms:modified xsi:type="dcterms:W3CDTF">2025-11-10T21:04:34Z</dcterms:modified>
</cp:coreProperties>
</file>