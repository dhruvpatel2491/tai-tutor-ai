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305" r:id="rId2"/>
    <p:sldId id="306" r:id="rId3"/>
    <p:sldId id="271" r:id="rId4"/>
    <p:sldId id="309" r:id="rId5"/>
    <p:sldId id="310" r:id="rId6"/>
    <p:sldId id="311" r:id="rId7"/>
    <p:sldId id="312" r:id="rId8"/>
    <p:sldId id="313" r:id="rId9"/>
    <p:sldId id="316" r:id="rId10"/>
    <p:sldId id="307" r:id="rId11"/>
    <p:sldId id="282" r:id="rId12"/>
    <p:sldId id="302" r:id="rId13"/>
    <p:sldId id="303" r:id="rId14"/>
    <p:sldId id="304" r:id="rId15"/>
    <p:sldId id="263" r:id="rId16"/>
    <p:sldId id="298" r:id="rId17"/>
    <p:sldId id="301" r:id="rId18"/>
    <p:sldId id="275" r:id="rId19"/>
    <p:sldId id="297" r:id="rId20"/>
    <p:sldId id="30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94670"/>
  </p:normalViewPr>
  <p:slideViewPr>
    <p:cSldViewPr snapToGrid="0" snapToObjects="1">
      <p:cViewPr varScale="1">
        <p:scale>
          <a:sx n="117" d="100"/>
          <a:sy n="117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71D5D-D077-914C-8F1D-23D3A070AA1A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5398-8748-8440-B1AA-F195E3340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7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3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46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5398-8748-8440-B1AA-F195E33400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3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8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0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0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463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7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45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57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1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468887-D334-5646-9B23-0DD319AE0DA0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4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1F616-8E3F-5AC4-1134-34123A53F9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3: While </a:t>
            </a:r>
            <a:r>
              <a:rPr lang="en-US" dirty="0"/>
              <a:t>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0AC9EB-3A2E-64D6-56DD-3F206F987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6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19" y="1292771"/>
            <a:ext cx="8534400" cy="3902221"/>
          </a:xfrm>
        </p:spPr>
        <p:txBody>
          <a:bodyPr/>
          <a:lstStyle/>
          <a:p>
            <a:r>
              <a:rPr lang="en-US" dirty="0"/>
              <a:t>What are loops?</a:t>
            </a:r>
          </a:p>
          <a:p>
            <a:r>
              <a:rPr lang="en-US" dirty="0"/>
              <a:t>What are while loops?</a:t>
            </a:r>
          </a:p>
          <a:p>
            <a:r>
              <a:rPr lang="en-US" dirty="0"/>
              <a:t>When do we use while loops?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11167"/>
            <a:ext cx="8534400" cy="1507067"/>
          </a:xfrm>
        </p:spPr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972937"/>
            <a:ext cx="11125496" cy="4396865"/>
          </a:xfrm>
        </p:spPr>
        <p:txBody>
          <a:bodyPr anchor="t" anchorCtr="0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LOOP = block of code that repeats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While value entered is &gt; 0, add it to the sum.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 Compute the sum of the first N positive integer numbers.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</a:rPr>
              <a:t>While loops</a:t>
            </a:r>
          </a:p>
          <a:p>
            <a:r>
              <a:rPr lang="en-US" sz="2800" dirty="0">
                <a:solidFill>
                  <a:schemeClr val="bg1"/>
                </a:solidFill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106739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818" y="85043"/>
            <a:ext cx="8534400" cy="1507067"/>
          </a:xfrm>
        </p:spPr>
        <p:txBody>
          <a:bodyPr/>
          <a:lstStyle/>
          <a:p>
            <a:r>
              <a:rPr lang="en-US" dirty="0"/>
              <a:t>Example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252" y="1471448"/>
            <a:ext cx="11125496" cy="4940396"/>
          </a:xfrm>
        </p:spPr>
        <p:txBody>
          <a:bodyPr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Check if at least one character in a string is upper case letter: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For each character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If it is an upper-case letter exit the loop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Else go to the next character in the string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Ask repeatedly the user to enter  an integer number between 1 and 6 until the user enters such a number.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Ask user to enter a value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While the value is not between 1 and 6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Ask the user to enter a new value </a:t>
            </a:r>
          </a:p>
        </p:txBody>
      </p:sp>
    </p:spTree>
    <p:extLst>
      <p:ext uri="{BB962C8B-B14F-4D97-AF65-F5344CB8AC3E}">
        <p14:creationId xmlns:p14="http://schemas.microsoft.com/office/powerpoint/2010/main" val="182133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91" y="162910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3"/>
            <a:ext cx="10761554" cy="1628228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Ask the user repeatedly to enter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0.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0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1,2,3,0</a:t>
            </a:r>
          </a:p>
        </p:txBody>
      </p:sp>
    </p:spTree>
    <p:extLst>
      <p:ext uri="{BB962C8B-B14F-4D97-AF65-F5344CB8AC3E}">
        <p14:creationId xmlns:p14="http://schemas.microsoft.com/office/powerpoint/2010/main" val="181202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557" y="0"/>
            <a:ext cx="8534400" cy="1312041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557" y="1096579"/>
            <a:ext cx="10761554" cy="2876331"/>
          </a:xfrm>
        </p:spPr>
        <p:txBody>
          <a:bodyPr anchor="t" anchorCtr="0">
            <a:noAutofit/>
          </a:bodyPr>
          <a:lstStyle/>
          <a:p>
            <a:r>
              <a:rPr lang="en-US" dirty="0"/>
              <a:t>Ask the user repeatedly to enter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between 0 and 10. </a:t>
            </a:r>
          </a:p>
          <a:p>
            <a:r>
              <a:rPr lang="en-US" dirty="0"/>
              <a:t>Use cases: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9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-1, 10 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User enters: 20, 15, -1, 5 </a:t>
            </a:r>
          </a:p>
        </p:txBody>
      </p:sp>
    </p:spTree>
    <p:extLst>
      <p:ext uri="{BB962C8B-B14F-4D97-AF65-F5344CB8AC3E}">
        <p14:creationId xmlns:p14="http://schemas.microsoft.com/office/powerpoint/2010/main" val="191638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793766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computes the sum of positive even numbers up to and including a max value entered by the user.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 Max value = 10, Values entered 1,3,4, 5,6, -2, 7 </a:t>
            </a:r>
          </a:p>
        </p:txBody>
      </p:sp>
    </p:spTree>
    <p:extLst>
      <p:ext uri="{BB962C8B-B14F-4D97-AF65-F5344CB8AC3E}">
        <p14:creationId xmlns:p14="http://schemas.microsoft.com/office/powerpoint/2010/main" val="341618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846318"/>
          </a:xfrm>
        </p:spPr>
        <p:txBody>
          <a:bodyPr anchor="t" anchorCtr="0">
            <a:normAutofit fontScale="92500" lnSpcReduction="10000"/>
          </a:bodyPr>
          <a:lstStyle/>
          <a:p>
            <a:r>
              <a:rPr lang="en-US" dirty="0"/>
              <a:t>Write a while loop that computes the average of a series of  integer values (</a:t>
            </a:r>
            <a:r>
              <a:rPr lang="en-US" dirty="0" err="1">
                <a:solidFill>
                  <a:srgbClr val="FFFF00"/>
                </a:solidFill>
              </a:rPr>
              <a:t>vInt</a:t>
            </a:r>
            <a:r>
              <a:rPr lang="en-US" dirty="0"/>
              <a:t>) entered by the user. The loop stops when user enters 0 or a negative number.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2, 3, 4,5 -1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4,7,0</a:t>
            </a:r>
          </a:p>
        </p:txBody>
      </p:sp>
    </p:spTree>
    <p:extLst>
      <p:ext uri="{BB962C8B-B14F-4D97-AF65-F5344CB8AC3E}">
        <p14:creationId xmlns:p14="http://schemas.microsoft.com/office/powerpoint/2010/main" val="327172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loop that reads a character </a:t>
            </a:r>
            <a:r>
              <a:rPr lang="en-US" dirty="0" err="1">
                <a:solidFill>
                  <a:srgbClr val="FFFF00"/>
                </a:solidFill>
              </a:rPr>
              <a:t>ch</a:t>
            </a:r>
            <a:r>
              <a:rPr lang="en-US" dirty="0"/>
              <a:t> from the keyboard until that character is either 'q' or 'Q'. </a:t>
            </a:r>
          </a:p>
        </p:txBody>
      </p:sp>
    </p:spTree>
    <p:extLst>
      <p:ext uri="{BB962C8B-B14F-4D97-AF65-F5344CB8AC3E}">
        <p14:creationId xmlns:p14="http://schemas.microsoft.com/office/powerpoint/2010/main" val="68422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644" y="98556"/>
            <a:ext cx="8534400" cy="1507067"/>
          </a:xfrm>
        </p:spPr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940" y="1605623"/>
            <a:ext cx="62680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Initialize vars in bool condition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while bool condition: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update statement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// change boolean condition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loop</a:t>
            </a:r>
          </a:p>
        </p:txBody>
      </p:sp>
      <p:sp>
        <p:nvSpPr>
          <p:cNvPr id="8" name="Diamond 7"/>
          <p:cNvSpPr/>
          <p:nvPr/>
        </p:nvSpPr>
        <p:spPr>
          <a:xfrm>
            <a:off x="7946247" y="3470931"/>
            <a:ext cx="2932386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5044" y="3644378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Boolean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590" y="5465845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8445" y="2594753"/>
            <a:ext cx="222293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b="1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Elbow Connector 12"/>
          <p:cNvCxnSpPr>
            <a:cxnSpLocks/>
            <a:stCxn id="16" idx="2"/>
          </p:cNvCxnSpPr>
          <p:nvPr/>
        </p:nvCxnSpPr>
        <p:spPr>
          <a:xfrm rot="10800000" flipV="1">
            <a:off x="7501187" y="1321506"/>
            <a:ext cx="1705721" cy="463595"/>
          </a:xfrm>
          <a:prstGeom prst="bentConnector3">
            <a:avLst>
              <a:gd name="adj1" fmla="val 99911"/>
            </a:avLst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71532" y="472711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8507" y="409482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9206907" y="1163851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9412440" y="4464158"/>
            <a:ext cx="0" cy="99643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  <a:endCxn id="11" idx="2"/>
          </p:cNvCxnSpPr>
          <p:nvPr/>
        </p:nvCxnSpPr>
        <p:spPr>
          <a:xfrm rot="10800000">
            <a:off x="7539915" y="3518083"/>
            <a:ext cx="406333" cy="449462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stCxn id="16" idx="4"/>
            <a:endCxn id="8" idx="0"/>
          </p:cNvCxnSpPr>
          <p:nvPr/>
        </p:nvCxnSpPr>
        <p:spPr>
          <a:xfrm>
            <a:off x="9384269" y="1479162"/>
            <a:ext cx="28171" cy="1991769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12223" y="1777737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</p:txBody>
      </p:sp>
      <p:cxnSp>
        <p:nvCxnSpPr>
          <p:cNvPr id="48" name="Straight Arrow Connector 47"/>
          <p:cNvCxnSpPr>
            <a:stCxn id="11" idx="0"/>
            <a:endCxn id="39" idx="2"/>
          </p:cNvCxnSpPr>
          <p:nvPr/>
        </p:nvCxnSpPr>
        <p:spPr>
          <a:xfrm flipH="1" flipV="1">
            <a:off x="7523692" y="2147069"/>
            <a:ext cx="16222" cy="447684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endCxn id="16" idx="0"/>
          </p:cNvCxnSpPr>
          <p:nvPr/>
        </p:nvCxnSpPr>
        <p:spPr>
          <a:xfrm>
            <a:off x="9384269" y="767255"/>
            <a:ext cx="0" cy="39659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6F81FA-1269-653E-D9C1-CE59683B1585}"/>
              </a:ext>
            </a:extLst>
          </p:cNvPr>
          <p:cNvSpPr txBox="1"/>
          <p:nvPr/>
        </p:nvSpPr>
        <p:spPr>
          <a:xfrm>
            <a:off x="7539914" y="372624"/>
            <a:ext cx="355320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Initialize vars in bool condition</a:t>
            </a:r>
          </a:p>
        </p:txBody>
      </p:sp>
    </p:spTree>
    <p:extLst>
      <p:ext uri="{BB962C8B-B14F-4D97-AF65-F5344CB8AC3E}">
        <p14:creationId xmlns:p14="http://schemas.microsoft.com/office/powerpoint/2010/main" val="279120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62" y="-66648"/>
            <a:ext cx="8534400" cy="1507067"/>
          </a:xfrm>
        </p:spPr>
        <p:txBody>
          <a:bodyPr/>
          <a:lstStyle/>
          <a:p>
            <a:r>
              <a:rPr lang="en-US" dirty="0"/>
              <a:t>Example While loop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" y="1161126"/>
            <a:ext cx="8211002" cy="5586867"/>
          </a:xfrm>
          <a:prstGeom prst="rect">
            <a:avLst/>
          </a:prstGeom>
        </p:spPr>
      </p:pic>
      <p:sp>
        <p:nvSpPr>
          <p:cNvPr id="8" name="Diamond 7"/>
          <p:cNvSpPr/>
          <p:nvPr/>
        </p:nvSpPr>
        <p:spPr>
          <a:xfrm>
            <a:off x="9444410" y="3552427"/>
            <a:ext cx="2747590" cy="993227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8306" y="3725874"/>
            <a:ext cx="178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temperature</a:t>
            </a:r>
            <a:r>
              <a:rPr lang="en-US" b="1" dirty="0">
                <a:solidFill>
                  <a:schemeClr val="bg1"/>
                </a:solidFill>
              </a:rPr>
              <a:t> &gt; </a:t>
            </a:r>
            <a:r>
              <a:rPr lang="en-US" b="1" dirty="0" err="1">
                <a:solidFill>
                  <a:schemeClr val="bg1"/>
                </a:solidFill>
              </a:rPr>
              <a:t>max_temp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342" y="5552847"/>
            <a:ext cx="273652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loop</a:t>
            </a:r>
          </a:p>
          <a:p>
            <a:r>
              <a:rPr lang="is-IS" b="1" dirty="0">
                <a:solidFill>
                  <a:schemeClr val="bg1"/>
                </a:solidFill>
              </a:rPr>
              <a:t>….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0177" y="2961600"/>
            <a:ext cx="15063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print(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</a:rPr>
              <a:t>print 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.)</a:t>
            </a:r>
          </a:p>
        </p:txBody>
      </p:sp>
      <p:cxnSp>
        <p:nvCxnSpPr>
          <p:cNvPr id="13" name="Elbow Connector 12"/>
          <p:cNvCxnSpPr>
            <a:stCxn id="16" idx="2"/>
            <a:endCxn id="39" idx="0"/>
          </p:cNvCxnSpPr>
          <p:nvPr/>
        </p:nvCxnSpPr>
        <p:spPr>
          <a:xfrm rot="10800000" flipV="1">
            <a:off x="9503365" y="1054565"/>
            <a:ext cx="1137479" cy="527261"/>
          </a:xfrm>
          <a:prstGeom prst="bentConnector2">
            <a:avLst/>
          </a:prstGeom>
          <a:ln w="25400">
            <a:solidFill>
              <a:schemeClr val="bg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2754" y="481746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4016" y="4124923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10640843" y="896910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7" name="Straight Arrow Connector 16"/>
          <p:cNvCxnSpPr>
            <a:stCxn id="8" idx="2"/>
          </p:cNvCxnSpPr>
          <p:nvPr/>
        </p:nvCxnSpPr>
        <p:spPr>
          <a:xfrm>
            <a:off x="10818205" y="4545654"/>
            <a:ext cx="0" cy="100719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8" idx="1"/>
          </p:cNvCxnSpPr>
          <p:nvPr/>
        </p:nvCxnSpPr>
        <p:spPr>
          <a:xfrm rot="10800000">
            <a:off x="9286746" y="3606663"/>
            <a:ext cx="157664" cy="44237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4"/>
            <a:endCxn id="8" idx="0"/>
          </p:cNvCxnSpPr>
          <p:nvPr/>
        </p:nvCxnSpPr>
        <p:spPr>
          <a:xfrm>
            <a:off x="10818205" y="1212221"/>
            <a:ext cx="0" cy="234020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66253" y="1581827"/>
            <a:ext cx="2274221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Update statement</a:t>
            </a:r>
          </a:p>
          <a:p>
            <a:r>
              <a:rPr lang="en-US" b="1" dirty="0">
                <a:solidFill>
                  <a:srgbClr val="FF0000"/>
                </a:solidFill>
              </a:rPr>
              <a:t>temperature </a:t>
            </a:r>
            <a:r>
              <a:rPr lang="en-US" b="1" dirty="0">
                <a:solidFill>
                  <a:schemeClr val="bg1"/>
                </a:solidFill>
              </a:rPr>
              <a:t>=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input(</a:t>
            </a:r>
            <a:r>
              <a:rPr lang="mr-IN" b="1" dirty="0">
                <a:solidFill>
                  <a:schemeClr val="bg1"/>
                </a:solidFill>
              </a:rPr>
              <a:t>…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8" name="Straight Arrow Connector 47"/>
          <p:cNvCxnSpPr>
            <a:stCxn id="11" idx="0"/>
            <a:endCxn id="39" idx="2"/>
          </p:cNvCxnSpPr>
          <p:nvPr/>
        </p:nvCxnSpPr>
        <p:spPr>
          <a:xfrm flipH="1" flipV="1">
            <a:off x="9503364" y="2505157"/>
            <a:ext cx="1" cy="45644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4" idx="2"/>
            <a:endCxn id="16" idx="0"/>
          </p:cNvCxnSpPr>
          <p:nvPr/>
        </p:nvCxnSpPr>
        <p:spPr>
          <a:xfrm>
            <a:off x="10818205" y="625098"/>
            <a:ext cx="0" cy="271812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F4ED18-AD76-2F6B-1BC9-A0C528A0C24E}"/>
              </a:ext>
            </a:extLst>
          </p:cNvPr>
          <p:cNvSpPr txBox="1"/>
          <p:nvPr/>
        </p:nvSpPr>
        <p:spPr>
          <a:xfrm>
            <a:off x="9737943" y="255766"/>
            <a:ext cx="21605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temp  = 102.5</a:t>
            </a:r>
          </a:p>
        </p:txBody>
      </p:sp>
    </p:spTree>
    <p:extLst>
      <p:ext uri="{BB962C8B-B14F-4D97-AF65-F5344CB8AC3E}">
        <p14:creationId xmlns:p14="http://schemas.microsoft.com/office/powerpoint/2010/main" val="122503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264955"/>
            <a:ext cx="8534400" cy="1507067"/>
          </a:xfrm>
        </p:spPr>
        <p:txBody>
          <a:bodyPr/>
          <a:lstStyle/>
          <a:p>
            <a:r>
              <a:rPr lang="en-US" dirty="0"/>
              <a:t>Continue AND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01" y="1555612"/>
            <a:ext cx="11507788" cy="512396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continue</a:t>
            </a:r>
            <a:r>
              <a:rPr lang="en-US" sz="2400" dirty="0"/>
              <a:t> inside of a loop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jumps to the beginning of the loop (condition)</a:t>
            </a:r>
          </a:p>
          <a:p>
            <a:pPr lvl="6"/>
            <a:r>
              <a:rPr lang="en-US" sz="1800" dirty="0">
                <a:solidFill>
                  <a:srgbClr val="FFFF00"/>
                </a:solidFill>
              </a:rPr>
              <a:t>Skip remaining lines in the loop</a:t>
            </a:r>
          </a:p>
          <a:p>
            <a:r>
              <a:rPr lang="en-US" sz="2400" dirty="0">
                <a:solidFill>
                  <a:srgbClr val="FFFF00"/>
                </a:solidFill>
              </a:rPr>
              <a:t>break</a:t>
            </a:r>
            <a:r>
              <a:rPr lang="en-US" sz="2400" dirty="0"/>
              <a:t> inside of a loop       </a:t>
            </a:r>
            <a:r>
              <a:rPr lang="en-US" sz="2400" dirty="0">
                <a:sym typeface="Wingdings"/>
              </a:rPr>
              <a:t> jumps to the first line after the loop </a:t>
            </a:r>
          </a:p>
          <a:p>
            <a:pPr lvl="4"/>
            <a:r>
              <a:rPr lang="en-US" sz="1800" dirty="0">
                <a:highlight>
                  <a:srgbClr val="FFFF00"/>
                </a:highlight>
                <a:sym typeface="Wingdings"/>
              </a:rPr>
              <a:t>The program exits the loop immediately and continues first line after the loop </a:t>
            </a:r>
          </a:p>
          <a:p>
            <a:r>
              <a:rPr lang="en-US" sz="2200" dirty="0">
                <a:sym typeface="Wingdings"/>
              </a:rPr>
              <a:t>Use </a:t>
            </a:r>
            <a:r>
              <a:rPr lang="en-US" sz="2200" dirty="0">
                <a:solidFill>
                  <a:srgbClr val="FFFF00"/>
                </a:solidFill>
              </a:rPr>
              <a:t>break</a:t>
            </a:r>
            <a:r>
              <a:rPr lang="en-US" sz="2200" dirty="0"/>
              <a:t>  and </a:t>
            </a:r>
            <a:r>
              <a:rPr lang="en-US" sz="2200" dirty="0">
                <a:solidFill>
                  <a:srgbClr val="FFFF00"/>
                </a:solidFill>
              </a:rPr>
              <a:t>continue</a:t>
            </a:r>
            <a:r>
              <a:rPr lang="en-US" sz="2200" dirty="0"/>
              <a:t> </a:t>
            </a:r>
            <a:r>
              <a:rPr lang="en-US" sz="2200" dirty="0">
                <a:sym typeface="Wingdings"/>
              </a:rPr>
              <a:t>only if it improves the readability of your code</a:t>
            </a:r>
          </a:p>
          <a:p>
            <a:pPr lvl="7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5803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77" y="0"/>
            <a:ext cx="8534400" cy="1507067"/>
          </a:xfrm>
        </p:spPr>
        <p:txBody>
          <a:bodyPr/>
          <a:lstStyle/>
          <a:p>
            <a:r>
              <a:rPr lang="en-US" dirty="0"/>
              <a:t>Break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6" y="658223"/>
            <a:ext cx="11507788" cy="4558317"/>
          </a:xfrm>
        </p:spPr>
        <p:txBody>
          <a:bodyPr anchor="t" anchorCtr="0">
            <a:noAutofit/>
          </a:bodyPr>
          <a:lstStyle/>
          <a:p>
            <a:pPr lvl="5"/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prints false if a string contains non-digit numbers and true otherwise. 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User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‘1234’    -&gt; Print True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‘123ab’ -&gt; Print False</a:t>
            </a:r>
          </a:p>
          <a:p>
            <a:pPr lvl="1"/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9E916-8445-040B-AC0D-7B310AEF0892}"/>
              </a:ext>
            </a:extLst>
          </p:cNvPr>
          <p:cNvSpPr txBox="1"/>
          <p:nvPr/>
        </p:nvSpPr>
        <p:spPr>
          <a:xfrm>
            <a:off x="756646" y="3502962"/>
            <a:ext cx="7437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inp_str</a:t>
            </a:r>
            <a:r>
              <a:rPr lang="en-US" dirty="0">
                <a:solidFill>
                  <a:srgbClr val="FFFF00"/>
                </a:solidFill>
              </a:rPr>
              <a:t> = input(“Enter a number”) # read as a string 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F357-1C08-1DD3-7184-0DD9F5CF8C5A}"/>
              </a:ext>
            </a:extLst>
          </p:cNvPr>
          <p:cNvSpPr txBox="1"/>
          <p:nvPr/>
        </p:nvSpPr>
        <p:spPr>
          <a:xfrm>
            <a:off x="7298818" y="2438473"/>
            <a:ext cx="4016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          </a:t>
            </a:r>
            <a:r>
              <a:rPr lang="en-US" dirty="0">
                <a:solidFill>
                  <a:srgbClr val="FFFF00"/>
                </a:solidFill>
              </a:rPr>
              <a:t>0</a:t>
            </a:r>
            <a:r>
              <a:rPr lang="en-US" dirty="0"/>
              <a:t>   |  1  | 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 |   </a:t>
            </a:r>
            <a:r>
              <a:rPr lang="en-US" dirty="0">
                <a:solidFill>
                  <a:srgbClr val="FFFF00"/>
                </a:solidFill>
              </a:rPr>
              <a:t>3</a:t>
            </a:r>
            <a:r>
              <a:rPr lang="en-US" dirty="0"/>
              <a:t> |</a:t>
            </a:r>
          </a:p>
          <a:p>
            <a:r>
              <a:rPr lang="en-US" dirty="0" err="1"/>
              <a:t>inp_str</a:t>
            </a:r>
            <a:r>
              <a:rPr lang="en-US" dirty="0"/>
              <a:t>  = | ‘1’ |’2’ | ‘3’ | ‘4’ 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4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71" y="0"/>
            <a:ext cx="8534400" cy="1507067"/>
          </a:xfrm>
        </p:spPr>
        <p:txBody>
          <a:bodyPr/>
          <a:lstStyle/>
          <a:p>
            <a:r>
              <a:rPr lang="en-US" dirty="0" err="1"/>
              <a:t>ConTINUE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392" y="867016"/>
            <a:ext cx="11507788" cy="5123967"/>
          </a:xfrm>
        </p:spPr>
        <p:txBody>
          <a:bodyPr anchor="t" anchorCtr="0">
            <a:noAutofit/>
          </a:bodyPr>
          <a:lstStyle/>
          <a:p>
            <a:pPr marL="2286000" lvl="5" indent="0">
              <a:buNone/>
            </a:pPr>
            <a:endParaRPr lang="en-US" sz="18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Write a program that extracts the non-alpha characters from a string and prints the resulting string:</a:t>
            </a:r>
          </a:p>
          <a:p>
            <a:r>
              <a:rPr lang="en-US" sz="2400" dirty="0">
                <a:solidFill>
                  <a:schemeClr val="tx1"/>
                </a:solidFill>
              </a:rPr>
              <a:t>Use cases: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‘john85’  program displays: ‘john’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User enters: ‘45 apples’ program displays ‘apples’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DAC10-1201-73A3-4892-A5D709FBBBB7}"/>
              </a:ext>
            </a:extLst>
          </p:cNvPr>
          <p:cNvSpPr txBox="1"/>
          <p:nvPr/>
        </p:nvSpPr>
        <p:spPr>
          <a:xfrm>
            <a:off x="337371" y="3721610"/>
            <a:ext cx="76798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FFFF00"/>
                </a:solidFill>
              </a:rPr>
              <a:t>inp_str</a:t>
            </a:r>
            <a:r>
              <a:rPr lang="en-US" sz="2000" dirty="0">
                <a:solidFill>
                  <a:srgbClr val="FFFF00"/>
                </a:solidFill>
              </a:rPr>
              <a:t> = input(“Enter a number”) # read as a string 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en-US" sz="1600" dirty="0">
                <a:solidFill>
                  <a:srgbClr val="FFFF00"/>
                </a:solidFill>
              </a:rPr>
              <a:t> </a:t>
            </a:r>
          </a:p>
          <a:p>
            <a:pPr marL="342900" indent="-342900">
              <a:buAutoNum type="arabicPeriod"/>
            </a:pPr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21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226058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0. 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0 -&gt; body while loop does not run condition is false the first time is evaluated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User enters: 1,2,3,0 -&gt; while loop body runs three times, for values 1,2, and 3, then stops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764748-5742-8539-3980-340F4A2F9063}"/>
              </a:ext>
            </a:extLst>
          </p:cNvPr>
          <p:cNvSpPr txBox="1"/>
          <p:nvPr/>
        </p:nvSpPr>
        <p:spPr>
          <a:xfrm>
            <a:off x="1508165" y="4037610"/>
            <a:ext cx="9167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code 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before while loop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#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body - empty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#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statement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int(input(“Enter an int value, 0 to stop”))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33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43" y="0"/>
            <a:ext cx="8534400" cy="1312041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577" y="1019452"/>
            <a:ext cx="10761554" cy="1820969"/>
          </a:xfrm>
        </p:spPr>
        <p:txBody>
          <a:bodyPr anchor="t" anchorCtr="0">
            <a:normAutofit fontScale="85000" lnSpcReduction="20000"/>
          </a:bodyPr>
          <a:lstStyle/>
          <a:p>
            <a:r>
              <a:rPr lang="en-US" dirty="0"/>
              <a:t>Write a while loop that reads an integer value </a:t>
            </a:r>
            <a:r>
              <a:rPr lang="en-US" dirty="0" err="1">
                <a:solidFill>
                  <a:srgbClr val="FFFF00"/>
                </a:solidFill>
              </a:rPr>
              <a:t>v_int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from the keyboard until the value entered is between 0 and 10. (negate until to while the value entered is less than 0 or greater than 10)</a:t>
            </a:r>
          </a:p>
          <a:p>
            <a:r>
              <a:rPr lang="en-US" dirty="0"/>
              <a:t>Use cases: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9 -&gt; while stops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-1, 10 -&gt; while stops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User enters: 20, 15, -1, 5 -&gt; while stops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AC59B-4C63-722F-9886-9BADC5410BDF}"/>
              </a:ext>
            </a:extLst>
          </p:cNvPr>
          <p:cNvSpPr txBox="1"/>
          <p:nvPr/>
        </p:nvSpPr>
        <p:spPr>
          <a:xfrm>
            <a:off x="808918" y="2934950"/>
            <a:ext cx="9984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0 or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10: #condition	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print(’Incorrect’)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3: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print(’Sorry no more tries’)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break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num_tries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# update statement</a:t>
            </a:r>
          </a:p>
          <a:p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v_int</a:t>
            </a:r>
            <a:r>
              <a:rPr lang="en-US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int(input(“Enter a value between 0 and 10”))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436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1312041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Write a while loop that computes the sum of positive even numbers up to and including a max value entered by the user. </a:t>
            </a:r>
          </a:p>
          <a:p>
            <a:r>
              <a:rPr lang="en-US" dirty="0">
                <a:highlight>
                  <a:srgbClr val="FFFF00"/>
                </a:highlight>
              </a:rPr>
              <a:t> Max value = 10, Values entered 1,3,4, 5,6, -2, 7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13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433" y="50313"/>
            <a:ext cx="8534400" cy="1312041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433" y="1362354"/>
            <a:ext cx="10761554" cy="1780240"/>
          </a:xfrm>
        </p:spPr>
        <p:txBody>
          <a:bodyPr anchor="t" anchorCtr="0">
            <a:normAutofit fontScale="92500" lnSpcReduction="20000"/>
          </a:bodyPr>
          <a:lstStyle/>
          <a:p>
            <a:r>
              <a:rPr lang="en-US" dirty="0"/>
              <a:t>Write a while loop that computes the average of a series of  integer values (</a:t>
            </a:r>
            <a:r>
              <a:rPr lang="en-US" dirty="0" err="1">
                <a:solidFill>
                  <a:srgbClr val="FFFF00"/>
                </a:solidFill>
              </a:rPr>
              <a:t>vInt</a:t>
            </a:r>
            <a:r>
              <a:rPr lang="en-US" dirty="0"/>
              <a:t>) entered by the user. The loop stops when user enters 0 or a negative number.</a:t>
            </a:r>
          </a:p>
          <a:p>
            <a:r>
              <a:rPr lang="en-US" dirty="0"/>
              <a:t>Use cases: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2, 3, 4,5 -1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4,7,0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14746" y="2815471"/>
            <a:ext cx="4577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!!!Avoid dividing by 0</a:t>
            </a:r>
          </a:p>
          <a:p>
            <a:endParaRPr lang="en-US" sz="2000" dirty="0">
              <a:solidFill>
                <a:srgbClr val="FF00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!!!Average is a real number, don’t cut the decimal part.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993" y="3624767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304308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2"/>
            <a:ext cx="10761554" cy="784773"/>
          </a:xfrm>
        </p:spPr>
        <p:txBody>
          <a:bodyPr anchor="t" anchorCtr="0"/>
          <a:lstStyle/>
          <a:p>
            <a:r>
              <a:rPr lang="en-US" dirty="0"/>
              <a:t>Write a loop that reads a character </a:t>
            </a:r>
            <a:r>
              <a:rPr lang="en-US" dirty="0" err="1">
                <a:solidFill>
                  <a:srgbClr val="FFFF00"/>
                </a:solidFill>
              </a:rPr>
              <a:t>ch</a:t>
            </a:r>
            <a:r>
              <a:rPr lang="en-US" dirty="0"/>
              <a:t> from the keyboard until that character is either 'q' or 'Q'.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64989" y="3112813"/>
            <a:ext cx="5681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Use De Morgan’s rule to write</a:t>
            </a:r>
          </a:p>
          <a:p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the </a:t>
            </a:r>
            <a:r>
              <a:rPr lang="en-US" sz="2000" dirty="0" err="1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0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condition: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326A1-DEA9-5EC5-5EFD-FD027A65551B}"/>
              </a:ext>
            </a:extLst>
          </p:cNvPr>
          <p:cNvSpPr txBox="1"/>
          <p:nvPr/>
        </p:nvSpPr>
        <p:spPr>
          <a:xfrm>
            <a:off x="1057526" y="2851329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 Enter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244191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BC8-FCF6-C3E1-E5CD-88C8268D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6590"/>
            <a:ext cx="8534400" cy="1507067"/>
          </a:xfrm>
        </p:spPr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5E5EF-3DF4-D30F-A82A-F5C4F097B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19" y="1292771"/>
            <a:ext cx="8534400" cy="3902221"/>
          </a:xfrm>
        </p:spPr>
        <p:txBody>
          <a:bodyPr/>
          <a:lstStyle/>
          <a:p>
            <a:r>
              <a:rPr lang="en-US" dirty="0"/>
              <a:t>What are loops?</a:t>
            </a:r>
          </a:p>
          <a:p>
            <a:r>
              <a:rPr lang="en-US" dirty="0"/>
              <a:t>What are while loops?</a:t>
            </a:r>
          </a:p>
          <a:p>
            <a:r>
              <a:rPr lang="en-US" dirty="0"/>
              <a:t>When do we use while loops?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65402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44567</TotalTime>
  <Words>1091</Words>
  <Application>Microsoft Macintosh PowerPoint</Application>
  <PresentationFormat>Widescreen</PresentationFormat>
  <Paragraphs>151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Century Gothic</vt:lpstr>
      <vt:lpstr>Courier</vt:lpstr>
      <vt:lpstr>Courier New</vt:lpstr>
      <vt:lpstr>Wingdings</vt:lpstr>
      <vt:lpstr>Wingdings 3</vt:lpstr>
      <vt:lpstr>Slice</vt:lpstr>
      <vt:lpstr>Week 3: While Loops</vt:lpstr>
      <vt:lpstr>Outline </vt:lpstr>
      <vt:lpstr>Loops</vt:lpstr>
      <vt:lpstr>Example Loops</vt:lpstr>
      <vt:lpstr>Example 1</vt:lpstr>
      <vt:lpstr>Example 2</vt:lpstr>
      <vt:lpstr>Example 3</vt:lpstr>
      <vt:lpstr>Example 4</vt:lpstr>
      <vt:lpstr>Example 5</vt:lpstr>
      <vt:lpstr>While loop</vt:lpstr>
      <vt:lpstr>Example While loop</vt:lpstr>
      <vt:lpstr>Continue AND Break</vt:lpstr>
      <vt:lpstr>Break Example</vt:lpstr>
      <vt:lpstr>ConTINUE Example</vt:lpstr>
      <vt:lpstr>Example 1</vt:lpstr>
      <vt:lpstr>Example 2</vt:lpstr>
      <vt:lpstr>Example 3</vt:lpstr>
      <vt:lpstr>Example 4</vt:lpstr>
      <vt:lpstr>Example 5</vt:lpstr>
      <vt:lpstr>Outline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Simona Doboli</dc:creator>
  <cp:lastModifiedBy>Simona Doboli</cp:lastModifiedBy>
  <cp:revision>62</cp:revision>
  <dcterms:created xsi:type="dcterms:W3CDTF">2017-01-17T20:23:48Z</dcterms:created>
  <dcterms:modified xsi:type="dcterms:W3CDTF">2025-09-15T14:07:43Z</dcterms:modified>
</cp:coreProperties>
</file>