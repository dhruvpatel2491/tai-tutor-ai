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66" r:id="rId2"/>
    <p:sldId id="267" r:id="rId3"/>
    <p:sldId id="268" r:id="rId4"/>
    <p:sldId id="269" r:id="rId5"/>
    <p:sldId id="270" r:id="rId6"/>
    <p:sldId id="257" r:id="rId7"/>
    <p:sldId id="271" r:id="rId8"/>
    <p:sldId id="272" r:id="rId9"/>
    <p:sldId id="258" r:id="rId10"/>
    <p:sldId id="259" r:id="rId11"/>
    <p:sldId id="275" r:id="rId12"/>
    <p:sldId id="276" r:id="rId13"/>
    <p:sldId id="277" r:id="rId14"/>
    <p:sldId id="273" r:id="rId15"/>
    <p:sldId id="260" r:id="rId16"/>
    <p:sldId id="261" r:id="rId17"/>
    <p:sldId id="274" r:id="rId18"/>
    <p:sldId id="262" r:id="rId19"/>
    <p:sldId id="263" r:id="rId20"/>
    <p:sldId id="264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1"/>
    <p:restoredTop sz="94663"/>
  </p:normalViewPr>
  <p:slideViewPr>
    <p:cSldViewPr>
      <p:cViewPr varScale="1">
        <p:scale>
          <a:sx n="117" d="100"/>
          <a:sy n="117" d="100"/>
        </p:scale>
        <p:origin x="4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8D2AD-B8DD-FB49-A1EF-81A62DE245C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DBC2D-6579-E948-84BB-0889DA677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110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DFDE-0A4E-0740-B4EA-8351A24BC7E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DABED-823C-C44E-AB02-29E3DCE2A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2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DABED-823C-C44E-AB02-29E3DCE2A3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39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6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1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5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5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0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5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4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1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7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01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9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2D9D6-D5DD-4A62-AEF5-2284FA3F340E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1A10D-C6DD-4F82-9580-0A1DB59DD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2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3190-34B8-62B3-491F-615C2C96C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sorting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8A48-93AD-96F4-E94F-ECF37FC26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is sorting?</a:t>
            </a:r>
          </a:p>
          <a:p>
            <a:r>
              <a:rPr lang="en-US" dirty="0"/>
              <a:t>Sorting functions in Python</a:t>
            </a:r>
          </a:p>
          <a:p>
            <a:r>
              <a:rPr lang="en-US" dirty="0"/>
              <a:t>Why we need to learn sorting algorithms?</a:t>
            </a:r>
          </a:p>
          <a:p>
            <a:r>
              <a:rPr lang="en-US" dirty="0"/>
              <a:t>Sorting in CSC 15</a:t>
            </a:r>
          </a:p>
          <a:p>
            <a:r>
              <a:rPr lang="en-US" dirty="0"/>
              <a:t>Basic sorting algorithms</a:t>
            </a:r>
          </a:p>
          <a:p>
            <a:pPr lvl="1"/>
            <a:r>
              <a:rPr lang="en-US" dirty="0"/>
              <a:t>Bubble-sort</a:t>
            </a:r>
          </a:p>
          <a:p>
            <a:pPr lvl="1"/>
            <a:r>
              <a:rPr lang="en-US" dirty="0"/>
              <a:t>Insertion-sort</a:t>
            </a:r>
          </a:p>
          <a:p>
            <a:pPr lvl="1"/>
            <a:r>
              <a:rPr lang="en-US" dirty="0"/>
              <a:t>Selection-sort</a:t>
            </a:r>
          </a:p>
          <a:p>
            <a:r>
              <a:rPr lang="en-US" dirty="0"/>
              <a:t>Compare algorithms</a:t>
            </a:r>
          </a:p>
        </p:txBody>
      </p:sp>
    </p:spTree>
    <p:extLst>
      <p:ext uri="{BB962C8B-B14F-4D97-AF65-F5344CB8AC3E}">
        <p14:creationId xmlns:p14="http://schemas.microsoft.com/office/powerpoint/2010/main" val="211010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AA91-9855-FCFE-B8A2-6AB08F22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sorting?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D45D1-7B72-3410-4238-24AB08C79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62000"/>
          </a:xfrm>
        </p:spPr>
        <p:txBody>
          <a:bodyPr/>
          <a:lstStyle/>
          <a:p>
            <a:r>
              <a:rPr lang="en-US" dirty="0"/>
              <a:t>What is sorting: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569288-7026-4ECC-E487-B939031CE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021433"/>
              </p:ext>
            </p:extLst>
          </p:nvPr>
        </p:nvGraphicFramePr>
        <p:xfrm>
          <a:off x="914400" y="2555650"/>
          <a:ext cx="3505200" cy="457200"/>
        </p:xfrm>
        <a:graphic>
          <a:graphicData uri="http://schemas.openxmlformats.org/drawingml/2006/table">
            <a:tbl>
              <a:tblPr/>
              <a:tblGrid>
                <a:gridCol w="905839">
                  <a:extLst>
                    <a:ext uri="{9D8B030D-6E8A-4147-A177-3AD203B41FA5}">
                      <a16:colId xmlns:a16="http://schemas.microsoft.com/office/drawing/2014/main" val="3215931983"/>
                    </a:ext>
                  </a:extLst>
                </a:gridCol>
                <a:gridCol w="931641">
                  <a:extLst>
                    <a:ext uri="{9D8B030D-6E8A-4147-A177-3AD203B41FA5}">
                      <a16:colId xmlns:a16="http://schemas.microsoft.com/office/drawing/2014/main" val="2746377087"/>
                    </a:ext>
                  </a:extLst>
                </a:gridCol>
                <a:gridCol w="931641">
                  <a:extLst>
                    <a:ext uri="{9D8B030D-6E8A-4147-A177-3AD203B41FA5}">
                      <a16:colId xmlns:a16="http://schemas.microsoft.com/office/drawing/2014/main" val="2942907329"/>
                    </a:ext>
                  </a:extLst>
                </a:gridCol>
                <a:gridCol w="736079">
                  <a:extLst>
                    <a:ext uri="{9D8B030D-6E8A-4147-A177-3AD203B41FA5}">
                      <a16:colId xmlns:a16="http://schemas.microsoft.com/office/drawing/2014/main" val="30444312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John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</a:rPr>
                        <a:t>Emily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</a:rPr>
                        <a:t>Mary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Alex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5201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0E24CC-BB6B-75DD-5845-D2B71914A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964566"/>
              </p:ext>
            </p:extLst>
          </p:nvPr>
        </p:nvGraphicFramePr>
        <p:xfrm>
          <a:off x="5181600" y="2555650"/>
          <a:ext cx="3505200" cy="457200"/>
        </p:xfrm>
        <a:graphic>
          <a:graphicData uri="http://schemas.openxmlformats.org/drawingml/2006/table">
            <a:tbl>
              <a:tblPr/>
              <a:tblGrid>
                <a:gridCol w="905839">
                  <a:extLst>
                    <a:ext uri="{9D8B030D-6E8A-4147-A177-3AD203B41FA5}">
                      <a16:colId xmlns:a16="http://schemas.microsoft.com/office/drawing/2014/main" val="3215931983"/>
                    </a:ext>
                  </a:extLst>
                </a:gridCol>
                <a:gridCol w="931641">
                  <a:extLst>
                    <a:ext uri="{9D8B030D-6E8A-4147-A177-3AD203B41FA5}">
                      <a16:colId xmlns:a16="http://schemas.microsoft.com/office/drawing/2014/main" val="2746377087"/>
                    </a:ext>
                  </a:extLst>
                </a:gridCol>
                <a:gridCol w="931641">
                  <a:extLst>
                    <a:ext uri="{9D8B030D-6E8A-4147-A177-3AD203B41FA5}">
                      <a16:colId xmlns:a16="http://schemas.microsoft.com/office/drawing/2014/main" val="2942907329"/>
                    </a:ext>
                  </a:extLst>
                </a:gridCol>
                <a:gridCol w="736079">
                  <a:extLst>
                    <a:ext uri="{9D8B030D-6E8A-4147-A177-3AD203B41FA5}">
                      <a16:colId xmlns:a16="http://schemas.microsoft.com/office/drawing/2014/main" val="30444312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Alex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Emily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John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Mary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520168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242C3DA6-2867-9396-6BBE-D8EDB39C0276}"/>
              </a:ext>
            </a:extLst>
          </p:cNvPr>
          <p:cNvSpPr/>
          <p:nvPr/>
        </p:nvSpPr>
        <p:spPr>
          <a:xfrm>
            <a:off x="4457702" y="2687525"/>
            <a:ext cx="533400" cy="193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8B7E28-5847-8AB2-ED5C-1266A4A1B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365777"/>
              </p:ext>
            </p:extLst>
          </p:nvPr>
        </p:nvGraphicFramePr>
        <p:xfrm>
          <a:off x="1066800" y="4191000"/>
          <a:ext cx="3505200" cy="457200"/>
        </p:xfrm>
        <a:graphic>
          <a:graphicData uri="http://schemas.openxmlformats.org/drawingml/2006/table">
            <a:tbl>
              <a:tblPr/>
              <a:tblGrid>
                <a:gridCol w="905839">
                  <a:extLst>
                    <a:ext uri="{9D8B030D-6E8A-4147-A177-3AD203B41FA5}">
                      <a16:colId xmlns:a16="http://schemas.microsoft.com/office/drawing/2014/main" val="3215931983"/>
                    </a:ext>
                  </a:extLst>
                </a:gridCol>
                <a:gridCol w="931641">
                  <a:extLst>
                    <a:ext uri="{9D8B030D-6E8A-4147-A177-3AD203B41FA5}">
                      <a16:colId xmlns:a16="http://schemas.microsoft.com/office/drawing/2014/main" val="2746377087"/>
                    </a:ext>
                  </a:extLst>
                </a:gridCol>
                <a:gridCol w="931641">
                  <a:extLst>
                    <a:ext uri="{9D8B030D-6E8A-4147-A177-3AD203B41FA5}">
                      <a16:colId xmlns:a16="http://schemas.microsoft.com/office/drawing/2014/main" val="2942907329"/>
                    </a:ext>
                  </a:extLst>
                </a:gridCol>
                <a:gridCol w="736079">
                  <a:extLst>
                    <a:ext uri="{9D8B030D-6E8A-4147-A177-3AD203B41FA5}">
                      <a16:colId xmlns:a16="http://schemas.microsoft.com/office/drawing/2014/main" val="30444312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52016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EBA958-7A1A-A186-6576-0EE699DA9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783903"/>
              </p:ext>
            </p:extLst>
          </p:nvPr>
        </p:nvGraphicFramePr>
        <p:xfrm>
          <a:off x="5306784" y="4233295"/>
          <a:ext cx="3505200" cy="457200"/>
        </p:xfrm>
        <a:graphic>
          <a:graphicData uri="http://schemas.openxmlformats.org/drawingml/2006/table">
            <a:tbl>
              <a:tblPr/>
              <a:tblGrid>
                <a:gridCol w="905839">
                  <a:extLst>
                    <a:ext uri="{9D8B030D-6E8A-4147-A177-3AD203B41FA5}">
                      <a16:colId xmlns:a16="http://schemas.microsoft.com/office/drawing/2014/main" val="3215931983"/>
                    </a:ext>
                  </a:extLst>
                </a:gridCol>
                <a:gridCol w="931641">
                  <a:extLst>
                    <a:ext uri="{9D8B030D-6E8A-4147-A177-3AD203B41FA5}">
                      <a16:colId xmlns:a16="http://schemas.microsoft.com/office/drawing/2014/main" val="2746377087"/>
                    </a:ext>
                  </a:extLst>
                </a:gridCol>
                <a:gridCol w="931641">
                  <a:extLst>
                    <a:ext uri="{9D8B030D-6E8A-4147-A177-3AD203B41FA5}">
                      <a16:colId xmlns:a16="http://schemas.microsoft.com/office/drawing/2014/main" val="2942907329"/>
                    </a:ext>
                  </a:extLst>
                </a:gridCol>
                <a:gridCol w="736079">
                  <a:extLst>
                    <a:ext uri="{9D8B030D-6E8A-4147-A177-3AD203B41FA5}">
                      <a16:colId xmlns:a16="http://schemas.microsoft.com/office/drawing/2014/main" val="30444312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520168"/>
                  </a:ext>
                </a:extLst>
              </a:tr>
            </a:tbl>
          </a:graphicData>
        </a:graphic>
      </p:graphicFrame>
      <p:sp>
        <p:nvSpPr>
          <p:cNvPr id="9" name="Right Arrow 8">
            <a:extLst>
              <a:ext uri="{FF2B5EF4-FFF2-40B4-BE49-F238E27FC236}">
                <a16:creationId xmlns:a16="http://schemas.microsoft.com/office/drawing/2014/main" id="{4B3B7659-3938-1260-AEC9-19973BCF479F}"/>
              </a:ext>
            </a:extLst>
          </p:cNvPr>
          <p:cNvSpPr/>
          <p:nvPr/>
        </p:nvSpPr>
        <p:spPr>
          <a:xfrm>
            <a:off x="4604657" y="4322875"/>
            <a:ext cx="533400" cy="193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E92DB2-7EDE-74C1-8F07-E2550E4F3F27}"/>
              </a:ext>
            </a:extLst>
          </p:cNvPr>
          <p:cNvSpPr txBox="1">
            <a:spLocks/>
          </p:cNvSpPr>
          <p:nvPr/>
        </p:nvSpPr>
        <p:spPr>
          <a:xfrm>
            <a:off x="582384" y="5177858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Python, typically sort a list or a tuple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30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0D6F-7CF2-7A5A-6CD8-FF51AE03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functions in Python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3C812-1495-215F-0FD7-45F452B16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list.sort</a:t>
            </a:r>
            <a:r>
              <a:rPr lang="en-US" dirty="0">
                <a:solidFill>
                  <a:srgbClr val="FF0000"/>
                </a:solidFill>
              </a:rPr>
              <a:t>() – sorts in place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sorted() – returns a new list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72577-71F8-BE16-AAB0-4B09621C09EF}"/>
              </a:ext>
            </a:extLst>
          </p:cNvPr>
          <p:cNvSpPr txBox="1"/>
          <p:nvPr/>
        </p:nvSpPr>
        <p:spPr>
          <a:xfrm>
            <a:off x="587829" y="2286000"/>
            <a:ext cx="8305800" cy="1292662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400050" lvl="1" indent="0">
              <a:buNone/>
            </a:pPr>
            <a:r>
              <a:rPr lang="en-US" sz="2000" b="1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my_list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sz="2000" b="1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1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1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1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1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1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1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]</a:t>
            </a:r>
            <a:br>
              <a:rPr lang="en-US" sz="2000" b="1" dirty="0"/>
            </a:br>
            <a:r>
              <a:rPr lang="en-US" sz="2000" b="1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my_list.sort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()</a:t>
            </a:r>
            <a:br>
              <a:rPr lang="en-US" sz="2000" b="1" dirty="0"/>
            </a:b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print(</a:t>
            </a:r>
            <a:r>
              <a:rPr lang="en-US" sz="2000" b="1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my_list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# Output: [1, 1, 2, 3, 4, 5, 9]</a:t>
            </a:r>
          </a:p>
          <a:p>
            <a:pPr marL="400050" lvl="1" indent="0">
              <a:buNone/>
            </a:pPr>
            <a:endParaRPr lang="en-US" sz="1800" dirty="0">
              <a:solidFill>
                <a:srgbClr val="0A0A0A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67D98-559C-338C-064A-737B554125D4}"/>
              </a:ext>
            </a:extLst>
          </p:cNvPr>
          <p:cNvSpPr txBox="1"/>
          <p:nvPr/>
        </p:nvSpPr>
        <p:spPr>
          <a:xfrm>
            <a:off x="838200" y="4657635"/>
            <a:ext cx="8077200" cy="1323439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400050" lvl="1" indent="0">
              <a:buNone/>
            </a:pPr>
            <a:r>
              <a:rPr lang="en-US" sz="2000" b="1" dirty="0" err="1">
                <a:solidFill>
                  <a:srgbClr val="0A0A0A"/>
                </a:solidFill>
                <a:latin typeface="Courier New" panose="02070309020205020404" pitchFamily="49" charset="0"/>
              </a:rPr>
              <a:t>my_list</a:t>
            </a:r>
            <a:r>
              <a:rPr lang="en-US" sz="2000" b="1" dirty="0">
                <a:solidFill>
                  <a:srgbClr val="0A0A0A"/>
                </a:solidFill>
                <a:latin typeface="Courier New" panose="02070309020205020404" pitchFamily="49" charset="0"/>
              </a:rPr>
              <a:t> = [3, 1, 4, 1, 5, 9, 2]</a:t>
            </a:r>
          </a:p>
          <a:p>
            <a:pPr marL="400050" lvl="1" indent="0">
              <a:buNone/>
            </a:pPr>
            <a:r>
              <a:rPr lang="en-US" sz="2000" b="1" dirty="0" err="1">
                <a:solidFill>
                  <a:srgbClr val="0A0A0A"/>
                </a:solidFill>
                <a:latin typeface="Courier New" panose="02070309020205020404" pitchFamily="49" charset="0"/>
              </a:rPr>
              <a:t>new_list</a:t>
            </a:r>
            <a:r>
              <a:rPr lang="en-US" sz="2000" b="1" dirty="0">
                <a:solidFill>
                  <a:srgbClr val="0A0A0A"/>
                </a:solidFill>
                <a:latin typeface="Courier New" panose="02070309020205020404" pitchFamily="49" charset="0"/>
              </a:rPr>
              <a:t> = sorted(</a:t>
            </a:r>
            <a:r>
              <a:rPr lang="en-US" sz="2000" b="1" dirty="0" err="1">
                <a:solidFill>
                  <a:srgbClr val="0A0A0A"/>
                </a:solidFill>
                <a:latin typeface="Courier New" panose="02070309020205020404" pitchFamily="49" charset="0"/>
              </a:rPr>
              <a:t>my_list</a:t>
            </a:r>
            <a:r>
              <a:rPr lang="en-US" sz="2000" b="1" dirty="0">
                <a:solidFill>
                  <a:srgbClr val="0A0A0A"/>
                </a:solidFill>
                <a:latin typeface="Courier New" panose="02070309020205020404" pitchFamily="49" charset="0"/>
              </a:rPr>
              <a:t>)</a:t>
            </a:r>
          </a:p>
          <a:p>
            <a:pPr marL="400050" lvl="1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Courier New" panose="02070309020205020404" pitchFamily="49" charset="0"/>
              </a:rPr>
              <a:t>print(</a:t>
            </a:r>
            <a:r>
              <a:rPr lang="en-US" sz="2000" b="1" dirty="0" err="1">
                <a:solidFill>
                  <a:srgbClr val="0A0A0A"/>
                </a:solidFill>
                <a:latin typeface="Courier New" panose="02070309020205020404" pitchFamily="49" charset="0"/>
              </a:rPr>
              <a:t>new_list</a:t>
            </a:r>
            <a:r>
              <a:rPr lang="en-US" sz="2000" b="1" dirty="0">
                <a:solidFill>
                  <a:srgbClr val="0A0A0A"/>
                </a:solidFill>
                <a:latin typeface="Courier New" panose="02070309020205020404" pitchFamily="49" charset="0"/>
              </a:rPr>
              <a:t>)  # Output: [1, 1, 2, 3, 4, 5, 9]</a:t>
            </a:r>
          </a:p>
          <a:p>
            <a:pPr marL="400050" lvl="1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Courier New" panose="02070309020205020404" pitchFamily="49" charset="0"/>
              </a:rPr>
              <a:t>print(</a:t>
            </a:r>
            <a:r>
              <a:rPr lang="en-US" sz="2000" b="1" dirty="0" err="1">
                <a:solidFill>
                  <a:srgbClr val="0A0A0A"/>
                </a:solidFill>
                <a:latin typeface="Courier New" panose="02070309020205020404" pitchFamily="49" charset="0"/>
              </a:rPr>
              <a:t>my_list</a:t>
            </a:r>
            <a:r>
              <a:rPr lang="en-US" sz="2000" b="1" dirty="0">
                <a:solidFill>
                  <a:srgbClr val="0A0A0A"/>
                </a:solidFill>
                <a:latin typeface="Courier New" panose="02070309020205020404" pitchFamily="49" charset="0"/>
              </a:rPr>
              <a:t>)  # Output: (3, 1, 4, 1, 5, 9, 2)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4325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4BFB-8824-BF6A-FA90-BC3B7242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0337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/>
              <a:t>Why we learn sorting algorithms?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C4620-E5BB-4313-EFEE-26655E395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very important task in many problems</a:t>
            </a:r>
          </a:p>
          <a:p>
            <a:endParaRPr lang="en-US" dirty="0"/>
          </a:p>
          <a:p>
            <a:r>
              <a:rPr lang="en-US" dirty="0"/>
              <a:t>To understand the time it takes to sort a list as its size grows to infinity</a:t>
            </a:r>
          </a:p>
          <a:p>
            <a:endParaRPr lang="en-US" dirty="0"/>
          </a:p>
          <a:p>
            <a:r>
              <a:rPr lang="en-US" dirty="0"/>
              <a:t>Differences between slow and fast sorting algorithms.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17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FD6B-4AFA-DCEA-75AE-79FF3C9C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in CSC 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63593-91B4-959B-A445-7ED7DD9A6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learn three basic sorting algorithms. </a:t>
            </a:r>
          </a:p>
          <a:p>
            <a:r>
              <a:rPr lang="en-US" dirty="0"/>
              <a:t>You will have to understand and apply all. </a:t>
            </a:r>
          </a:p>
          <a:p>
            <a:r>
              <a:rPr lang="en-US" dirty="0"/>
              <a:t>You have to be able to implement perfectly at least one of the three basic sorting algorithms. </a:t>
            </a:r>
          </a:p>
        </p:txBody>
      </p:sp>
    </p:spTree>
    <p:extLst>
      <p:ext uri="{BB962C8B-B14F-4D97-AF65-F5344CB8AC3E}">
        <p14:creationId xmlns:p14="http://schemas.microsoft.com/office/powerpoint/2010/main" val="2324072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Bubble sort:</a:t>
            </a:r>
          </a:p>
          <a:p>
            <a:pPr lvl="1"/>
            <a:r>
              <a:rPr lang="en-US" dirty="0"/>
              <a:t>Compares consecutive items swaps them if they are in incorrect order</a:t>
            </a:r>
          </a:p>
          <a:p>
            <a:pPr lvl="1"/>
            <a:r>
              <a:rPr lang="en-US" dirty="0"/>
              <a:t> Repeat until a clean pass: no more swaps are necessary</a:t>
            </a:r>
          </a:p>
          <a:p>
            <a:r>
              <a:rPr lang="en-US" dirty="0">
                <a:solidFill>
                  <a:srgbClr val="FF0000"/>
                </a:solidFill>
              </a:rPr>
              <a:t>Insertion sort: </a:t>
            </a:r>
          </a:p>
          <a:p>
            <a:pPr lvl="1"/>
            <a:r>
              <a:rPr lang="en-US" dirty="0"/>
              <a:t>Insert one item at a time in the right position in a partial sorted array. </a:t>
            </a:r>
          </a:p>
          <a:p>
            <a:pPr lvl="1"/>
            <a:r>
              <a:rPr lang="en-US" dirty="0"/>
              <a:t>Repeat until all items are sorted</a:t>
            </a:r>
          </a:p>
          <a:p>
            <a:r>
              <a:rPr lang="en-US" dirty="0">
                <a:solidFill>
                  <a:srgbClr val="FF0000"/>
                </a:solidFill>
              </a:rPr>
              <a:t>Selection sort: </a:t>
            </a:r>
          </a:p>
          <a:p>
            <a:pPr lvl="1"/>
            <a:r>
              <a:rPr lang="en-US" dirty="0"/>
              <a:t>Find the smallest item and move it in the first position; </a:t>
            </a:r>
          </a:p>
          <a:p>
            <a:pPr lvl="1"/>
            <a:r>
              <a:rPr lang="en-US" dirty="0"/>
              <a:t>Find the second smallest, move it in the second position</a:t>
            </a:r>
          </a:p>
          <a:p>
            <a:pPr lvl="1"/>
            <a:r>
              <a:rPr lang="en-US" dirty="0"/>
              <a:t>Repeat until the end of the array.</a:t>
            </a:r>
          </a:p>
        </p:txBody>
      </p:sp>
    </p:spTree>
    <p:extLst>
      <p:ext uri="{BB962C8B-B14F-4D97-AF65-F5344CB8AC3E}">
        <p14:creationId xmlns:p14="http://schemas.microsoft.com/office/powerpoint/2010/main" val="142361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3D1F-5828-2CCB-8CC9-1182267B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BB700-E36E-77A6-3337-2B110DAE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‘</a:t>
            </a:r>
            <a:r>
              <a:rPr lang="en-US" dirty="0">
                <a:solidFill>
                  <a:srgbClr val="FF0000"/>
                </a:solidFill>
              </a:rPr>
              <a:t>pass</a:t>
            </a:r>
            <a:r>
              <a:rPr lang="en-US" dirty="0"/>
              <a:t>’?</a:t>
            </a:r>
          </a:p>
          <a:p>
            <a:pPr lvl="1"/>
            <a:r>
              <a:rPr lang="en-US" dirty="0"/>
              <a:t>A pass is a for loop that does something through each element of a list</a:t>
            </a:r>
          </a:p>
          <a:p>
            <a:pPr lvl="1"/>
            <a:r>
              <a:rPr lang="en-US" dirty="0"/>
              <a:t>Ex. You need one pass to find the maximum item of an array. </a:t>
            </a:r>
          </a:p>
          <a:p>
            <a:r>
              <a:rPr lang="en-US" dirty="0"/>
              <a:t>What is a ‘</a:t>
            </a:r>
            <a:r>
              <a:rPr lang="en-US" dirty="0">
                <a:solidFill>
                  <a:srgbClr val="FF0000"/>
                </a:solidFill>
              </a:rPr>
              <a:t>swap</a:t>
            </a:r>
            <a:r>
              <a:rPr lang="en-US" dirty="0"/>
              <a:t>’?</a:t>
            </a:r>
          </a:p>
          <a:p>
            <a:pPr lvl="1"/>
            <a:r>
              <a:rPr lang="en-US" dirty="0"/>
              <a:t>A swap is a switch of values in two different positions in the array.</a:t>
            </a:r>
          </a:p>
          <a:p>
            <a:pPr lvl="1"/>
            <a:r>
              <a:rPr lang="en-US" dirty="0"/>
              <a:t>Ex. Swap values in indices 3 and 5. </a:t>
            </a:r>
          </a:p>
        </p:txBody>
      </p:sp>
    </p:spTree>
    <p:extLst>
      <p:ext uri="{BB962C8B-B14F-4D97-AF65-F5344CB8AC3E}">
        <p14:creationId xmlns:p14="http://schemas.microsoft.com/office/powerpoint/2010/main" val="240785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Bubble sort: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Compares consecutive items swaps them if they are in incorrect order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 Repeat until a clean pass: no more swaps are necessary</a:t>
            </a:r>
          </a:p>
          <a:p>
            <a:r>
              <a:rPr lang="en-US" dirty="0"/>
              <a:t>Insertion sort: </a:t>
            </a:r>
          </a:p>
          <a:p>
            <a:pPr lvl="1"/>
            <a:r>
              <a:rPr lang="en-US" dirty="0"/>
              <a:t>Insert one item at a time in the right position in a partial sorted array. </a:t>
            </a:r>
          </a:p>
          <a:p>
            <a:pPr lvl="1"/>
            <a:r>
              <a:rPr lang="en-US" dirty="0"/>
              <a:t>Repeat until all items are sorted</a:t>
            </a:r>
          </a:p>
          <a:p>
            <a:r>
              <a:rPr lang="en-US" dirty="0"/>
              <a:t>Selection sort: </a:t>
            </a:r>
          </a:p>
          <a:p>
            <a:pPr lvl="1"/>
            <a:r>
              <a:rPr lang="en-US" dirty="0"/>
              <a:t>Find the smallest item and move it in the first position; </a:t>
            </a:r>
          </a:p>
          <a:p>
            <a:pPr lvl="1"/>
            <a:r>
              <a:rPr lang="en-US" dirty="0"/>
              <a:t>Find the second smallest, move it in the second position</a:t>
            </a:r>
          </a:p>
          <a:p>
            <a:pPr lvl="1"/>
            <a:r>
              <a:rPr lang="en-US" dirty="0"/>
              <a:t>Repeat until the end of the array.</a:t>
            </a:r>
          </a:p>
        </p:txBody>
      </p:sp>
    </p:spTree>
    <p:extLst>
      <p:ext uri="{BB962C8B-B14F-4D97-AF65-F5344CB8AC3E}">
        <p14:creationId xmlns:p14="http://schemas.microsoft.com/office/powerpoint/2010/main" val="1340191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Bubble-sort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191000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pass   </a:t>
            </a:r>
            <a:r>
              <a:rPr lang="en-US" dirty="0"/>
              <a:t>swaps:  (3,1), (5,4), (5,2) # swaps = 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3 1</a:t>
            </a:r>
            <a:r>
              <a:rPr lang="en-US" dirty="0"/>
              <a:t> 5 4 2 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FF0000"/>
                </a:solidFill>
              </a:rPr>
              <a:t>1 3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5 4</a:t>
            </a:r>
            <a:r>
              <a:rPr lang="en-US" dirty="0"/>
              <a:t> 2 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1 3 </a:t>
            </a:r>
            <a:r>
              <a:rPr lang="en-US" dirty="0">
                <a:solidFill>
                  <a:srgbClr val="FF0000"/>
                </a:solidFill>
              </a:rPr>
              <a:t>4 </a:t>
            </a:r>
            <a:r>
              <a:rPr lang="en-US" dirty="0">
                <a:solidFill>
                  <a:srgbClr val="00B050"/>
                </a:solidFill>
              </a:rPr>
              <a:t>5 2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 1 3 4 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2 5</a:t>
            </a: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>
                <a:solidFill>
                  <a:srgbClr val="FF0000"/>
                </a:solidFill>
              </a:rPr>
              <a:t> pass  </a:t>
            </a:r>
            <a:r>
              <a:rPr lang="en-US" dirty="0"/>
              <a:t>swaps: (4,2)     		# swaps= 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1 3 </a:t>
            </a:r>
            <a:r>
              <a:rPr lang="en-US" dirty="0">
                <a:solidFill>
                  <a:srgbClr val="00B050"/>
                </a:solidFill>
              </a:rPr>
              <a:t>4 2</a:t>
            </a:r>
            <a:r>
              <a:rPr lang="en-US" dirty="0"/>
              <a:t> 5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1 3 </a:t>
            </a:r>
            <a:r>
              <a:rPr lang="en-US" dirty="0">
                <a:solidFill>
                  <a:srgbClr val="FF0000"/>
                </a:solidFill>
              </a:rPr>
              <a:t>2 4</a:t>
            </a:r>
            <a:r>
              <a:rPr lang="en-US" dirty="0"/>
              <a:t> 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baseline="30000" dirty="0">
                <a:solidFill>
                  <a:srgbClr val="FF0000"/>
                </a:solidFill>
              </a:rPr>
              <a:t>rd</a:t>
            </a:r>
            <a:r>
              <a:rPr lang="en-US" dirty="0">
                <a:solidFill>
                  <a:srgbClr val="FF0000"/>
                </a:solidFill>
              </a:rPr>
              <a:t> pass</a:t>
            </a:r>
            <a:r>
              <a:rPr lang="en-US" dirty="0"/>
              <a:t>: swaps (3,2), 			# swaps = 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1 </a:t>
            </a:r>
            <a:r>
              <a:rPr lang="en-US" dirty="0">
                <a:solidFill>
                  <a:srgbClr val="00B050"/>
                </a:solidFill>
              </a:rPr>
              <a:t>3 2</a:t>
            </a:r>
            <a:r>
              <a:rPr lang="en-US" dirty="0"/>
              <a:t> 4 5 </a:t>
            </a:r>
            <a:r>
              <a:rPr lang="en-US" dirty="0">
                <a:sym typeface="Wingdings"/>
              </a:rPr>
              <a:t> 1 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2 3</a:t>
            </a:r>
            <a:r>
              <a:rPr lang="en-US" dirty="0">
                <a:sym typeface="Wingdings"/>
              </a:rPr>
              <a:t> 4 5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  <a:sym typeface="Wingdings"/>
              </a:rPr>
              <a:t>4</a:t>
            </a:r>
            <a:r>
              <a:rPr lang="en-US" baseline="30000" dirty="0">
                <a:solidFill>
                  <a:srgbClr val="FF0000"/>
                </a:solidFill>
                <a:sym typeface="Wingdings"/>
              </a:rPr>
              <a:t>th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 pass</a:t>
            </a:r>
            <a:r>
              <a:rPr lang="en-US" dirty="0">
                <a:sym typeface="Wingdings"/>
              </a:rPr>
              <a:t>: no swaps			# swaps = 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Wingdings"/>
              </a:rPr>
              <a:t>		 1 2 3 4 5 	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STOP !!!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516027"/>
              </p:ext>
            </p:extLst>
          </p:nvPr>
        </p:nvGraphicFramePr>
        <p:xfrm>
          <a:off x="2019300" y="1354819"/>
          <a:ext cx="51054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0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Process 4"/>
          <p:cNvSpPr/>
          <p:nvPr/>
        </p:nvSpPr>
        <p:spPr>
          <a:xfrm>
            <a:off x="685800" y="3962400"/>
            <a:ext cx="1143000" cy="381000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rocess 5"/>
          <p:cNvSpPr/>
          <p:nvPr/>
        </p:nvSpPr>
        <p:spPr>
          <a:xfrm>
            <a:off x="2667000" y="3962400"/>
            <a:ext cx="1143000" cy="381000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cess 6"/>
          <p:cNvSpPr/>
          <p:nvPr/>
        </p:nvSpPr>
        <p:spPr>
          <a:xfrm>
            <a:off x="712922" y="4906962"/>
            <a:ext cx="887278" cy="381000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cess 7"/>
          <p:cNvSpPr/>
          <p:nvPr/>
        </p:nvSpPr>
        <p:spPr>
          <a:xfrm>
            <a:off x="2667000" y="4899212"/>
            <a:ext cx="914400" cy="388749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cess 8"/>
          <p:cNvSpPr/>
          <p:nvPr/>
        </p:nvSpPr>
        <p:spPr>
          <a:xfrm>
            <a:off x="712922" y="2925739"/>
            <a:ext cx="1496878" cy="381000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cess 9"/>
          <p:cNvSpPr/>
          <p:nvPr/>
        </p:nvSpPr>
        <p:spPr>
          <a:xfrm>
            <a:off x="2713495" y="2925739"/>
            <a:ext cx="1496878" cy="381000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cess 10"/>
          <p:cNvSpPr/>
          <p:nvPr/>
        </p:nvSpPr>
        <p:spPr>
          <a:xfrm>
            <a:off x="4714068" y="2926819"/>
            <a:ext cx="1496878" cy="381000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rocess 11"/>
          <p:cNvSpPr/>
          <p:nvPr/>
        </p:nvSpPr>
        <p:spPr>
          <a:xfrm>
            <a:off x="6714641" y="2958650"/>
            <a:ext cx="1496878" cy="381000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cess 13"/>
          <p:cNvSpPr/>
          <p:nvPr/>
        </p:nvSpPr>
        <p:spPr>
          <a:xfrm>
            <a:off x="2405789" y="5898017"/>
            <a:ext cx="615412" cy="388750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85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536" y="3810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Bubble-sort pseudo-code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36" y="1295400"/>
            <a:ext cx="8382000" cy="5562600"/>
          </a:xfrm>
        </p:spPr>
        <p:txBody>
          <a:bodyPr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Inputs: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array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a,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array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size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size</a:t>
            </a:r>
            <a:endParaRPr lang="de-DE" sz="2200" b="1" dirty="0"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Data:  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nrPasses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= 0;   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  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nrSwaps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= 1;   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 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   WHILE (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nrSwaps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&gt; 0 &amp;&amp;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nrPasses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&lt;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size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);     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nrSwaps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= 0      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	FOR i = 0 TO size-nrPasses-1           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		IF (a[i] &gt; a[i+1])          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	          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nrSwaps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++               			          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swap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a[i] 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with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 a[i+1]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		ENDIF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	     i++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	ENDFOR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de-DE" sz="2200" b="1" dirty="0" err="1">
                <a:latin typeface="Courier" charset="0"/>
                <a:ea typeface="Courier" charset="0"/>
                <a:cs typeface="Courier" charset="0"/>
              </a:rPr>
              <a:t>nrPasses</a:t>
            </a: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++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de-DE" sz="2200" b="1" dirty="0">
                <a:latin typeface="Courier" charset="0"/>
                <a:ea typeface="Courier" charset="0"/>
                <a:cs typeface="Courier" charset="0"/>
              </a:rPr>
              <a:t>	   ENDWHILE</a:t>
            </a:r>
          </a:p>
        </p:txBody>
      </p:sp>
    </p:spTree>
    <p:extLst>
      <p:ext uri="{BB962C8B-B14F-4D97-AF65-F5344CB8AC3E}">
        <p14:creationId xmlns:p14="http://schemas.microsoft.com/office/powerpoint/2010/main" val="175847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F746-2D19-2841-5D15-0ADE609CB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bubble-sort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1D4775-3891-5515-C0C3-69EE32ED4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545310"/>
              </p:ext>
            </p:extLst>
          </p:nvPr>
        </p:nvGraphicFramePr>
        <p:xfrm>
          <a:off x="1143000" y="1752600"/>
          <a:ext cx="4921300" cy="436880"/>
        </p:xfrm>
        <a:graphic>
          <a:graphicData uri="http://schemas.openxmlformats.org/drawingml/2006/table">
            <a:tbl>
              <a:tblPr/>
              <a:tblGrid>
                <a:gridCol w="741578">
                  <a:extLst>
                    <a:ext uri="{9D8B030D-6E8A-4147-A177-3AD203B41FA5}">
                      <a16:colId xmlns:a16="http://schemas.microsoft.com/office/drawing/2014/main" val="1802394186"/>
                    </a:ext>
                  </a:extLst>
                </a:gridCol>
                <a:gridCol w="822046">
                  <a:extLst>
                    <a:ext uri="{9D8B030D-6E8A-4147-A177-3AD203B41FA5}">
                      <a16:colId xmlns:a16="http://schemas.microsoft.com/office/drawing/2014/main" val="1083699207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3144709649"/>
                    </a:ext>
                  </a:extLst>
                </a:gridCol>
                <a:gridCol w="699516">
                  <a:extLst>
                    <a:ext uri="{9D8B030D-6E8A-4147-A177-3AD203B41FA5}">
                      <a16:colId xmlns:a16="http://schemas.microsoft.com/office/drawing/2014/main" val="1308408010"/>
                    </a:ext>
                  </a:extLst>
                </a:gridCol>
                <a:gridCol w="814730">
                  <a:extLst>
                    <a:ext uri="{9D8B030D-6E8A-4147-A177-3AD203B41FA5}">
                      <a16:colId xmlns:a16="http://schemas.microsoft.com/office/drawing/2014/main" val="1564255738"/>
                    </a:ext>
                  </a:extLst>
                </a:gridCol>
                <a:gridCol w="1038758">
                  <a:extLst>
                    <a:ext uri="{9D8B030D-6E8A-4147-A177-3AD203B41FA5}">
                      <a16:colId xmlns:a16="http://schemas.microsoft.com/office/drawing/2014/main" val="926486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Emily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Brittany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385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60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3E1A-E7D3-C297-3709-534B4AFD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bubble-sort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FF076-F48F-2E59-35BB-2D8F8989A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list of N items what is the maximum number of passes? When would that happen?</a:t>
            </a:r>
          </a:p>
          <a:p>
            <a:endParaRPr lang="en-US" dirty="0"/>
          </a:p>
          <a:p>
            <a:r>
              <a:rPr lang="en-US" dirty="0"/>
              <a:t>In a list of N items what is the smallest number of  passes? When would that happen</a:t>
            </a:r>
          </a:p>
        </p:txBody>
      </p:sp>
    </p:spTree>
    <p:extLst>
      <p:ext uri="{BB962C8B-B14F-4D97-AF65-F5344CB8AC3E}">
        <p14:creationId xmlns:p14="http://schemas.microsoft.com/office/powerpoint/2010/main" val="1955416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2FAE-9981-5BA2-9633-326B0D1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bubble-sort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562D8-32DB-5A41-A68C-5B8F291DA6B1}"/>
              </a:ext>
            </a:extLst>
          </p:cNvPr>
          <p:cNvSpPr txBox="1"/>
          <p:nvPr/>
        </p:nvSpPr>
        <p:spPr>
          <a:xfrm>
            <a:off x="228600" y="1395867"/>
            <a:ext cx="8458200" cy="5324535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#implement bubble-sort function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bubble_sort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‘__main__’: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[1,5,4,2,10,7,1]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bubble_sort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print(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</a:p>
        </p:txBody>
      </p:sp>
    </p:spTree>
    <p:extLst>
      <p:ext uri="{BB962C8B-B14F-4D97-AF65-F5344CB8AC3E}">
        <p14:creationId xmlns:p14="http://schemas.microsoft.com/office/powerpoint/2010/main" val="3673478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Bubble sort:</a:t>
            </a:r>
          </a:p>
          <a:p>
            <a:pPr lvl="1"/>
            <a:r>
              <a:rPr lang="en-US" dirty="0"/>
              <a:t>Compares consecutive items swaps them if they are in incorrect order</a:t>
            </a:r>
          </a:p>
          <a:p>
            <a:pPr lvl="1"/>
            <a:r>
              <a:rPr lang="en-US" dirty="0"/>
              <a:t> Repeat until a clean pass: no more swaps are necessary</a:t>
            </a:r>
          </a:p>
          <a:p>
            <a:r>
              <a:rPr lang="en-US" dirty="0">
                <a:solidFill>
                  <a:srgbClr val="FF0000"/>
                </a:solidFill>
              </a:rPr>
              <a:t>Insertion sort: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Insert one item at a time in the right position in a partial sorted array.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Repeat until all items are sorted</a:t>
            </a:r>
          </a:p>
          <a:p>
            <a:r>
              <a:rPr lang="en-US" dirty="0">
                <a:solidFill>
                  <a:srgbClr val="FF0000"/>
                </a:solidFill>
              </a:rPr>
              <a:t>Selection sort: </a:t>
            </a:r>
          </a:p>
          <a:p>
            <a:pPr lvl="1"/>
            <a:r>
              <a:rPr lang="en-US" dirty="0"/>
              <a:t>Find the smallest item and move it in the first position; </a:t>
            </a:r>
          </a:p>
          <a:p>
            <a:pPr lvl="1"/>
            <a:r>
              <a:rPr lang="en-US" dirty="0"/>
              <a:t>Find the second smallest, move it in the second position</a:t>
            </a:r>
          </a:p>
          <a:p>
            <a:pPr lvl="1"/>
            <a:r>
              <a:rPr lang="en-US" dirty="0"/>
              <a:t>Repeat until the end of the array.</a:t>
            </a:r>
          </a:p>
        </p:txBody>
      </p:sp>
    </p:spTree>
    <p:extLst>
      <p:ext uri="{BB962C8B-B14F-4D97-AF65-F5344CB8AC3E}">
        <p14:creationId xmlns:p14="http://schemas.microsoft.com/office/powerpoint/2010/main" val="529700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038600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pass:   </a:t>
            </a:r>
            <a:r>
              <a:rPr lang="en-US" dirty="0">
                <a:solidFill>
                  <a:srgbClr val="FF0000"/>
                </a:solidFill>
              </a:rPr>
              <a:t>key = 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         3  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 5   4  2 </a:t>
            </a:r>
            <a:r>
              <a:rPr lang="en-US" dirty="0">
                <a:sym typeface="Wingdings"/>
              </a:rPr>
              <a:t>   1  3  5  4  2 </a:t>
            </a: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pass :  </a:t>
            </a:r>
            <a:r>
              <a:rPr lang="en-US" dirty="0">
                <a:solidFill>
                  <a:srgbClr val="FF0000"/>
                </a:solidFill>
              </a:rPr>
              <a:t>key = 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         1  3   </a:t>
            </a:r>
            <a:r>
              <a:rPr lang="en-US" dirty="0">
                <a:solidFill>
                  <a:srgbClr val="FF0000"/>
                </a:solidFill>
              </a:rPr>
              <a:t>5 </a:t>
            </a:r>
            <a:r>
              <a:rPr lang="en-US" dirty="0"/>
              <a:t> 4  2 </a:t>
            </a:r>
            <a:r>
              <a:rPr lang="en-US" dirty="0">
                <a:sym typeface="Wingdings"/>
              </a:rPr>
              <a:t>   1  3  5  4  2</a:t>
            </a: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pass:   </a:t>
            </a:r>
            <a:r>
              <a:rPr lang="en-US" dirty="0">
                <a:solidFill>
                  <a:srgbClr val="FF0000"/>
                </a:solidFill>
              </a:rPr>
              <a:t>key = 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         1   3  5 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  2  </a:t>
            </a:r>
            <a:r>
              <a:rPr lang="en-US" dirty="0">
                <a:sym typeface="Wingdings"/>
              </a:rPr>
              <a:t>  1  3  4  5  2</a:t>
            </a: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pass:    </a:t>
            </a:r>
            <a:r>
              <a:rPr lang="en-US" dirty="0">
                <a:solidFill>
                  <a:srgbClr val="FF0000"/>
                </a:solidFill>
              </a:rPr>
              <a:t>key = 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         1   3  4   5 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 </a:t>
            </a:r>
            <a:r>
              <a:rPr lang="en-US" dirty="0">
                <a:sym typeface="Wingdings"/>
              </a:rPr>
              <a:t> 1  2  3  4  5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338139"/>
              </p:ext>
            </p:extLst>
          </p:nvPr>
        </p:nvGraphicFramePr>
        <p:xfrm>
          <a:off x="2057400" y="1452509"/>
          <a:ext cx="4354285" cy="719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83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Process 5"/>
          <p:cNvSpPr/>
          <p:nvPr/>
        </p:nvSpPr>
        <p:spPr>
          <a:xfrm>
            <a:off x="2209800" y="2925738"/>
            <a:ext cx="381000" cy="427061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cess 6"/>
          <p:cNvSpPr/>
          <p:nvPr/>
        </p:nvSpPr>
        <p:spPr>
          <a:xfrm>
            <a:off x="2274376" y="3916338"/>
            <a:ext cx="697424" cy="381023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cess 7"/>
          <p:cNvSpPr/>
          <p:nvPr/>
        </p:nvSpPr>
        <p:spPr>
          <a:xfrm>
            <a:off x="2245962" y="4906937"/>
            <a:ext cx="1183038" cy="427063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cess 8"/>
          <p:cNvSpPr/>
          <p:nvPr/>
        </p:nvSpPr>
        <p:spPr>
          <a:xfrm>
            <a:off x="2245962" y="5851499"/>
            <a:ext cx="1716438" cy="427063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074976" y="2723764"/>
            <a:ext cx="2057400" cy="83099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Blue box  = </a:t>
            </a:r>
          </a:p>
          <a:p>
            <a:r>
              <a:rPr lang="en-US" sz="2400" b="1" dirty="0"/>
              <a:t>Sorted array</a:t>
            </a:r>
          </a:p>
        </p:txBody>
      </p:sp>
      <p:sp>
        <p:nvSpPr>
          <p:cNvPr id="12" name="Process 11"/>
          <p:cNvSpPr/>
          <p:nvPr/>
        </p:nvSpPr>
        <p:spPr>
          <a:xfrm>
            <a:off x="4941376" y="2925727"/>
            <a:ext cx="697424" cy="427072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cess 12"/>
          <p:cNvSpPr/>
          <p:nvPr/>
        </p:nvSpPr>
        <p:spPr>
          <a:xfrm>
            <a:off x="4866468" y="3916326"/>
            <a:ext cx="1183038" cy="427063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cess 13"/>
          <p:cNvSpPr/>
          <p:nvPr/>
        </p:nvSpPr>
        <p:spPr>
          <a:xfrm>
            <a:off x="4866468" y="4906937"/>
            <a:ext cx="1487838" cy="427063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cess 14"/>
          <p:cNvSpPr/>
          <p:nvPr/>
        </p:nvSpPr>
        <p:spPr>
          <a:xfrm>
            <a:off x="4912962" y="5851393"/>
            <a:ext cx="1868838" cy="427169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69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Insertion sort pseudo-code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de-DE" sz="2000" dirty="0">
                <a:latin typeface="Courier" charset="0"/>
                <a:ea typeface="Courier" charset="0"/>
                <a:cs typeface="Courier" charset="0"/>
              </a:rPr>
              <a:t>Inputs: </a:t>
            </a:r>
            <a:r>
              <a:rPr lang="de-DE" sz="2000" dirty="0" err="1">
                <a:latin typeface="Courier" charset="0"/>
                <a:ea typeface="Courier" charset="0"/>
                <a:cs typeface="Courier" charset="0"/>
              </a:rPr>
              <a:t>array</a:t>
            </a:r>
            <a:r>
              <a:rPr lang="de-DE" sz="2000" dirty="0">
                <a:latin typeface="Courier" charset="0"/>
                <a:ea typeface="Courier" charset="0"/>
                <a:cs typeface="Courier" charset="0"/>
              </a:rPr>
              <a:t> A, </a:t>
            </a:r>
            <a:r>
              <a:rPr lang="de-DE" sz="2000" dirty="0" err="1">
                <a:latin typeface="Courier" charset="0"/>
                <a:ea typeface="Courier" charset="0"/>
                <a:cs typeface="Courier" charset="0"/>
              </a:rPr>
              <a:t>array</a:t>
            </a:r>
            <a:r>
              <a:rPr lang="de-DE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de-DE" sz="2000" dirty="0" err="1">
                <a:latin typeface="Courier" charset="0"/>
                <a:ea typeface="Courier" charset="0"/>
                <a:cs typeface="Courier" charset="0"/>
              </a:rPr>
              <a:t>size</a:t>
            </a:r>
            <a:r>
              <a:rPr lang="de-DE" sz="2000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de-DE" sz="2000" dirty="0" err="1">
                <a:latin typeface="Courier" charset="0"/>
                <a:ea typeface="Courier" charset="0"/>
                <a:cs typeface="Courier" charset="0"/>
              </a:rPr>
              <a:t>size</a:t>
            </a:r>
            <a:endParaRPr lang="en-US" sz="2000" dirty="0">
              <a:latin typeface="Courier" charset="0"/>
              <a:ea typeface="Courier" charset="0"/>
              <a:cs typeface="Courier" charset="0"/>
            </a:endParaRP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1.	 FOR 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ind_key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= 1 to size-1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 Add A[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ind_key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] to the sorted sequence 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 A[1, .. ind_key-1]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2.     	key = A[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ind_key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3.     	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ind_key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– 1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4.     	WHILE 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&gt;= 0 and A[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]&gt;key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5.         		A[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+1] = A[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6.         		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-1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7.		ENDWHILE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8.     	A 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+1] = key</a:t>
            </a:r>
          </a:p>
          <a:p>
            <a:pPr marL="0" indent="0"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9.	ENDFOR</a:t>
            </a:r>
          </a:p>
        </p:txBody>
      </p:sp>
    </p:spTree>
    <p:extLst>
      <p:ext uri="{BB962C8B-B14F-4D97-AF65-F5344CB8AC3E}">
        <p14:creationId xmlns:p14="http://schemas.microsoft.com/office/powerpoint/2010/main" val="23053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Bubble sort:</a:t>
            </a:r>
          </a:p>
          <a:p>
            <a:pPr lvl="1"/>
            <a:r>
              <a:rPr lang="en-US" dirty="0"/>
              <a:t>Compares consecutive items swaps them if they are in incorrect order</a:t>
            </a:r>
          </a:p>
          <a:p>
            <a:pPr lvl="1"/>
            <a:r>
              <a:rPr lang="en-US" dirty="0"/>
              <a:t> Repeat until a clean pass: no more swaps are necessary</a:t>
            </a:r>
          </a:p>
          <a:p>
            <a:r>
              <a:rPr lang="en-US" dirty="0">
                <a:solidFill>
                  <a:srgbClr val="FF0000"/>
                </a:solidFill>
              </a:rPr>
              <a:t>Insertion sort: </a:t>
            </a:r>
          </a:p>
          <a:p>
            <a:pPr lvl="1"/>
            <a:r>
              <a:rPr lang="en-US" dirty="0"/>
              <a:t>Insert one item at a time in the right position in a partial sorted array. </a:t>
            </a:r>
          </a:p>
          <a:p>
            <a:pPr lvl="1"/>
            <a:r>
              <a:rPr lang="en-US" dirty="0"/>
              <a:t>Repeat until all items are sorted</a:t>
            </a:r>
          </a:p>
          <a:p>
            <a:r>
              <a:rPr lang="en-US" dirty="0">
                <a:solidFill>
                  <a:srgbClr val="FF0000"/>
                </a:solidFill>
              </a:rPr>
              <a:t>Selection sort: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Find the smallest item and move it in the first position;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Find the second smallest, move it in the second position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Repeat until the end of the array.</a:t>
            </a:r>
          </a:p>
        </p:txBody>
      </p:sp>
    </p:spTree>
    <p:extLst>
      <p:ext uri="{BB962C8B-B14F-4D97-AF65-F5344CB8AC3E}">
        <p14:creationId xmlns:p14="http://schemas.microsoft.com/office/powerpoint/2010/main" val="307471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38400"/>
            <a:ext cx="8229600" cy="4267200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pass:  min(0, size-1) = 1, swap min to A[0]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	1  </a:t>
            </a:r>
            <a:r>
              <a:rPr lang="en-US" dirty="0">
                <a:solidFill>
                  <a:srgbClr val="00B050"/>
                </a:solidFill>
              </a:rPr>
              <a:t>3  5  4  2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pass: min(1,size-1) = 2 swap min to A[1]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	1  2  </a:t>
            </a:r>
            <a:r>
              <a:rPr lang="en-US" dirty="0">
                <a:solidFill>
                  <a:srgbClr val="00B050"/>
                </a:solidFill>
              </a:rPr>
              <a:t> 5  4  3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pass: min(2,size-1)	  = 3  swap min to A[2]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	1  2  3 </a:t>
            </a:r>
            <a:r>
              <a:rPr lang="en-US" dirty="0">
                <a:solidFill>
                  <a:srgbClr val="00B050"/>
                </a:solidFill>
              </a:rPr>
              <a:t> 4  5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pass: min(3,size-1) = 4 swap min to A[3]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	1  2  3  4  </a:t>
            </a:r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862722"/>
              </p:ext>
            </p:extLst>
          </p:nvPr>
        </p:nvGraphicFramePr>
        <p:xfrm>
          <a:off x="2057400" y="1452509"/>
          <a:ext cx="4354285" cy="719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83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150698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</a:t>
            </a:r>
          </a:p>
        </p:txBody>
      </p:sp>
      <p:sp>
        <p:nvSpPr>
          <p:cNvPr id="6" name="Process 5"/>
          <p:cNvSpPr/>
          <p:nvPr/>
        </p:nvSpPr>
        <p:spPr>
          <a:xfrm>
            <a:off x="2476500" y="3017589"/>
            <a:ext cx="381000" cy="427061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ç</a:t>
            </a:r>
            <a:endParaRPr lang="en-US" dirty="0"/>
          </a:p>
        </p:txBody>
      </p:sp>
      <p:sp>
        <p:nvSpPr>
          <p:cNvPr id="7" name="Process 6"/>
          <p:cNvSpPr/>
          <p:nvPr/>
        </p:nvSpPr>
        <p:spPr>
          <a:xfrm>
            <a:off x="2514600" y="4023839"/>
            <a:ext cx="685800" cy="398427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ç</a:t>
            </a:r>
            <a:endParaRPr lang="en-US" dirty="0"/>
          </a:p>
        </p:txBody>
      </p:sp>
      <p:sp>
        <p:nvSpPr>
          <p:cNvPr id="8" name="Process 7"/>
          <p:cNvSpPr/>
          <p:nvPr/>
        </p:nvSpPr>
        <p:spPr>
          <a:xfrm>
            <a:off x="2514600" y="5006459"/>
            <a:ext cx="990600" cy="421458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ç</a:t>
            </a:r>
            <a:endParaRPr lang="en-US" dirty="0"/>
          </a:p>
        </p:txBody>
      </p:sp>
      <p:sp>
        <p:nvSpPr>
          <p:cNvPr id="9" name="Process 8"/>
          <p:cNvSpPr/>
          <p:nvPr/>
        </p:nvSpPr>
        <p:spPr>
          <a:xfrm>
            <a:off x="2514600" y="5855548"/>
            <a:ext cx="1447800" cy="593131"/>
          </a:xfrm>
          <a:prstGeom prst="flowChartProcess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403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Selection sort pseudo-code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e-DE" sz="2000" dirty="0">
                <a:latin typeface="Courier" charset="0"/>
                <a:ea typeface="Courier" charset="0"/>
                <a:cs typeface="Courier" charset="0"/>
              </a:rPr>
              <a:t>Inputs: </a:t>
            </a:r>
            <a:r>
              <a:rPr lang="de-DE" sz="2000" dirty="0" err="1">
                <a:latin typeface="Courier" charset="0"/>
                <a:ea typeface="Courier" charset="0"/>
                <a:cs typeface="Courier" charset="0"/>
              </a:rPr>
              <a:t>array</a:t>
            </a:r>
            <a:r>
              <a:rPr lang="de-DE" sz="2000" dirty="0">
                <a:latin typeface="Courier" charset="0"/>
                <a:ea typeface="Courier" charset="0"/>
                <a:cs typeface="Courier" charset="0"/>
              </a:rPr>
              <a:t> A, </a:t>
            </a:r>
            <a:r>
              <a:rPr lang="de-DE" sz="2000" dirty="0" err="1">
                <a:latin typeface="Courier" charset="0"/>
                <a:ea typeface="Courier" charset="0"/>
                <a:cs typeface="Courier" charset="0"/>
              </a:rPr>
              <a:t>array</a:t>
            </a:r>
            <a:r>
              <a:rPr lang="de-DE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de-DE" sz="2000" dirty="0" err="1">
                <a:latin typeface="Courier" charset="0"/>
                <a:ea typeface="Courier" charset="0"/>
                <a:cs typeface="Courier" charset="0"/>
              </a:rPr>
              <a:t>size</a:t>
            </a:r>
            <a:r>
              <a:rPr lang="de-DE" sz="2000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de-DE" sz="2000" dirty="0" err="1">
                <a:latin typeface="Courier" charset="0"/>
                <a:ea typeface="Courier" charset="0"/>
                <a:cs typeface="Courier" charset="0"/>
              </a:rPr>
              <a:t>size</a:t>
            </a:r>
            <a:endParaRPr lang="en-US" sz="2000" dirty="0"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spcBef>
                <a:spcPts val="0"/>
              </a:spcBef>
              <a:buNone/>
            </a:pPr>
            <a:endParaRPr lang="en-US" sz="2000" dirty="0"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FOR k = 0 TO k = size -1 	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ind_min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= k;	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FOR 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ind_not_sorted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= k+1 TO size-1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    IF (A[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ind_not_sorted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) &lt; A[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ind_min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])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	  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ind_min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ind_not_sorted</a:t>
            </a:r>
            <a:endParaRPr lang="en-US" sz="2000" dirty="0"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    ENDIF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ENDFOR</a:t>
            </a:r>
            <a:br>
              <a:rPr lang="en-US" sz="2000" dirty="0">
                <a:latin typeface="Courier" charset="0"/>
                <a:ea typeface="Courier" charset="0"/>
                <a:cs typeface="Courier" charset="0"/>
              </a:rPr>
            </a:b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	swap A[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ind_min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] with A[k]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	ENDFOR</a:t>
            </a:r>
          </a:p>
        </p:txBody>
      </p:sp>
    </p:spTree>
    <p:extLst>
      <p:ext uri="{BB962C8B-B14F-4D97-AF65-F5344CB8AC3E}">
        <p14:creationId xmlns:p14="http://schemas.microsoft.com/office/powerpoint/2010/main" val="1702428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happens after the first pass of the bubble-sort? What about after the second pass?</a:t>
            </a:r>
          </a:p>
          <a:p>
            <a:r>
              <a:rPr lang="en-US" dirty="0"/>
              <a:t>Do you need to check  the whole array in each pass of the bubble sort?</a:t>
            </a:r>
          </a:p>
          <a:p>
            <a:r>
              <a:rPr lang="en-US" dirty="0"/>
              <a:t>What is the minimum number of passes for an array of size N in case of:</a:t>
            </a:r>
          </a:p>
          <a:p>
            <a:pPr lvl="1"/>
            <a:r>
              <a:rPr lang="en-US" dirty="0"/>
              <a:t>Bubble-sort</a:t>
            </a:r>
          </a:p>
          <a:p>
            <a:pPr lvl="1"/>
            <a:r>
              <a:rPr lang="en-US" dirty="0"/>
              <a:t>Insertion-sort</a:t>
            </a:r>
          </a:p>
          <a:p>
            <a:pPr lvl="1"/>
            <a:r>
              <a:rPr lang="en-US" dirty="0"/>
              <a:t>Selection-sort</a:t>
            </a:r>
          </a:p>
        </p:txBody>
      </p:sp>
    </p:spTree>
    <p:extLst>
      <p:ext uri="{BB962C8B-B14F-4D97-AF65-F5344CB8AC3E}">
        <p14:creationId xmlns:p14="http://schemas.microsoft.com/office/powerpoint/2010/main" val="125837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sorting algorithm you think is better among the three discussed here?</a:t>
            </a:r>
          </a:p>
          <a:p>
            <a:r>
              <a:rPr lang="en-US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725285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10507</TotalTime>
  <Words>1576</Words>
  <Application>Microsoft Macintosh PowerPoint</Application>
  <PresentationFormat>On-screen Show (4:3)</PresentationFormat>
  <Paragraphs>245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</vt:lpstr>
      <vt:lpstr>Courier New</vt:lpstr>
      <vt:lpstr>Wingdings</vt:lpstr>
      <vt:lpstr>Office Theme</vt:lpstr>
      <vt:lpstr>Basic sorting algorithms</vt:lpstr>
      <vt:lpstr>What is sorting?</vt:lpstr>
      <vt:lpstr>Sorting functions in Python library</vt:lpstr>
      <vt:lpstr>Why we learn sorting algorithms?</vt:lpstr>
      <vt:lpstr>Sorting in CSC 15</vt:lpstr>
      <vt:lpstr>Basic sorting algorithms</vt:lpstr>
      <vt:lpstr>Terminology</vt:lpstr>
      <vt:lpstr>Basic sorting algorithms</vt:lpstr>
      <vt:lpstr>Bubble-sort example</vt:lpstr>
      <vt:lpstr>Bubble-sort pseudo-code</vt:lpstr>
      <vt:lpstr>Apply bubble-sort</vt:lpstr>
      <vt:lpstr>Questions bubble-sort</vt:lpstr>
      <vt:lpstr>Implement bubble-sort</vt:lpstr>
      <vt:lpstr>Basic sorting algorithms</vt:lpstr>
      <vt:lpstr>Insertion sort example</vt:lpstr>
      <vt:lpstr>Insertion sort pseudo-code </vt:lpstr>
      <vt:lpstr>Basic sorting algorithms</vt:lpstr>
      <vt:lpstr>Selection sort example</vt:lpstr>
      <vt:lpstr>Selection sort pseudo-code </vt:lpstr>
      <vt:lpstr>Questions</vt:lpstr>
      <vt:lpstr>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</dc:title>
  <dc:creator>simona</dc:creator>
  <cp:lastModifiedBy>Simona Doboli</cp:lastModifiedBy>
  <cp:revision>23</cp:revision>
  <cp:lastPrinted>2017-02-27T15:11:55Z</cp:lastPrinted>
  <dcterms:created xsi:type="dcterms:W3CDTF">2014-10-03T14:59:14Z</dcterms:created>
  <dcterms:modified xsi:type="dcterms:W3CDTF">2025-11-03T19:31:08Z</dcterms:modified>
</cp:coreProperties>
</file>