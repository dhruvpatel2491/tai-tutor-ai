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6" r:id="rId1"/>
  </p:sldMasterIdLst>
  <p:notesMasterIdLst>
    <p:notesMasterId r:id="rId17"/>
  </p:notesMasterIdLst>
  <p:sldIdLst>
    <p:sldId id="256" r:id="rId2"/>
    <p:sldId id="257" r:id="rId3"/>
    <p:sldId id="332" r:id="rId4"/>
    <p:sldId id="267" r:id="rId5"/>
    <p:sldId id="320" r:id="rId6"/>
    <p:sldId id="268" r:id="rId7"/>
    <p:sldId id="329" r:id="rId8"/>
    <p:sldId id="271" r:id="rId9"/>
    <p:sldId id="272" r:id="rId10"/>
    <p:sldId id="269" r:id="rId11"/>
    <p:sldId id="333" r:id="rId12"/>
    <p:sldId id="325" r:id="rId13"/>
    <p:sldId id="324" r:id="rId14"/>
    <p:sldId id="326" r:id="rId15"/>
    <p:sldId id="33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A2604-3FBA-4942-B07D-A7C026FBD4E3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9B95F-E93E-074F-975E-6D2830002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7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B886-2B46-434E-9DBD-469A9D80FB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2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9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63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6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2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33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2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8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4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1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6164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81458-1B02-AA4B-FDA2-661BEDA2F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1143" y="1005839"/>
            <a:ext cx="6939304" cy="4805025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Data and variables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C871D-6B0E-51EC-D0D3-79B6975CE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267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altLang="en-US" sz="5400"/>
              <a:t>Data and variables</a:t>
            </a:r>
            <a:endParaRPr lang="he-IL" altLang="en-US" sz="540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85567"/>
            <a:ext cx="10143668" cy="448550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is a program?</a:t>
            </a:r>
          </a:p>
          <a:p>
            <a:pPr eaLnBrk="1" hangingPunct="1"/>
            <a:r>
              <a:rPr lang="en-US" altLang="en-US" sz="2600" dirty="0"/>
              <a:t>What is a variable?</a:t>
            </a:r>
          </a:p>
          <a:p>
            <a:pPr eaLnBrk="1" hangingPunct="1"/>
            <a:r>
              <a:rPr lang="en-US" altLang="en-US" sz="2600" dirty="0"/>
              <a:t>What is an assignment statement?</a:t>
            </a:r>
          </a:p>
          <a:p>
            <a:pPr eaLnBrk="1" hangingPunct="1"/>
            <a:r>
              <a:rPr lang="en-US" altLang="en-US" sz="2600" dirty="0"/>
              <a:t>What is a data type?</a:t>
            </a:r>
          </a:p>
          <a:p>
            <a:pPr eaLnBrk="1" hangingPunct="1"/>
            <a:r>
              <a:rPr lang="en-US" altLang="en-US" sz="2600" dirty="0"/>
              <a:t>How to name a variable?</a:t>
            </a:r>
          </a:p>
          <a:p>
            <a:pPr eaLnBrk="1" hangingPunct="1"/>
            <a:r>
              <a:rPr lang="en-US" altLang="en-US" sz="2600" dirty="0"/>
              <a:t>How to choose the name of a variable</a:t>
            </a:r>
            <a:r>
              <a:rPr lang="en-US" altLang="en-US" sz="2400" dirty="0"/>
              <a:t>?</a:t>
            </a:r>
          </a:p>
          <a:p>
            <a:pPr eaLnBrk="1" hangingPunct="1"/>
            <a:r>
              <a:rPr lang="en-US" altLang="en-US" sz="2400" dirty="0"/>
              <a:t>What is binary?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BF9F-DE49-C59F-F9BA-EC8BB1C4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What is a 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C71A-57EA-C48C-9ED3-AF69D5286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06" y="2039584"/>
            <a:ext cx="10143668" cy="4431486"/>
          </a:xfrm>
        </p:spPr>
        <p:txBody>
          <a:bodyPr anchor="ctr"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Data</a:t>
            </a:r>
          </a:p>
          <a:p>
            <a:pPr lvl="1"/>
            <a:r>
              <a:rPr lang="en-US" sz="2400" dirty="0"/>
              <a:t>Numeric</a:t>
            </a:r>
          </a:p>
          <a:p>
            <a:pPr lvl="1"/>
            <a:r>
              <a:rPr lang="en-US" sz="2400" dirty="0"/>
              <a:t>Text</a:t>
            </a:r>
          </a:p>
          <a:p>
            <a:pPr lvl="1"/>
            <a:r>
              <a:rPr lang="en-US" sz="2400" dirty="0"/>
              <a:t>Image</a:t>
            </a:r>
          </a:p>
          <a:p>
            <a:pPr lvl="1"/>
            <a:r>
              <a:rPr lang="en-US" sz="2400" dirty="0"/>
              <a:t>User defined data: Student object</a:t>
            </a:r>
          </a:p>
          <a:p>
            <a:pPr lvl="1"/>
            <a:r>
              <a:rPr lang="en-US" sz="2400" dirty="0"/>
              <a:t>One value, a set of values</a:t>
            </a:r>
          </a:p>
          <a:p>
            <a:r>
              <a:rPr lang="en-US" sz="2400" dirty="0">
                <a:solidFill>
                  <a:srgbClr val="FF0000"/>
                </a:solidFill>
              </a:rPr>
              <a:t>Instructions</a:t>
            </a:r>
          </a:p>
          <a:p>
            <a:pPr lvl="1"/>
            <a:r>
              <a:rPr lang="en-US" sz="2400" dirty="0"/>
              <a:t>Ifs: Questions with true or false answer</a:t>
            </a:r>
          </a:p>
          <a:p>
            <a:pPr lvl="1"/>
            <a:r>
              <a:rPr lang="en-US" sz="2400" dirty="0"/>
              <a:t>Loops: Repeat code a number of times or until a condition is met.</a:t>
            </a:r>
          </a:p>
        </p:txBody>
      </p:sp>
    </p:spTree>
    <p:extLst>
      <p:ext uri="{BB962C8B-B14F-4D97-AF65-F5344CB8AC3E}">
        <p14:creationId xmlns:p14="http://schemas.microsoft.com/office/powerpoint/2010/main" val="112095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8" y="394531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What is a variable?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779270" y="1717125"/>
            <a:ext cx="10329454" cy="4214117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3000" u="sng" dirty="0">
                <a:solidFill>
                  <a:srgbClr val="FF0000"/>
                </a:solidFill>
              </a:rPr>
              <a:t>Variable</a:t>
            </a:r>
            <a:r>
              <a:rPr lang="en-US" altLang="en-US" sz="3000" dirty="0"/>
              <a:t>: named data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3000" dirty="0"/>
              <a:t>Used to access and change a value stored in computer’s memory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164638" y="4823756"/>
            <a:ext cx="1143000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   32.5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010" y="4287795"/>
            <a:ext cx="5046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 32.5 stored in program’s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6381" y="4803487"/>
            <a:ext cx="1831207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temperature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753" y="4252025"/>
            <a:ext cx="2014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Variable Name</a:t>
            </a:r>
          </a:p>
        </p:txBody>
      </p:sp>
      <p:sp>
        <p:nvSpPr>
          <p:cNvPr id="6" name="Right Arrow 5"/>
          <p:cNvSpPr/>
          <p:nvPr/>
        </p:nvSpPr>
        <p:spPr bwMode="auto">
          <a:xfrm>
            <a:off x="4647588" y="4921923"/>
            <a:ext cx="495622" cy="184666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808637" y="386930"/>
            <a:ext cx="11029135" cy="1188950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000" dirty="0"/>
              <a:t>What is an assignment statement?</a:t>
            </a:r>
            <a:endParaRPr lang="he-IL" altLang="en-US" sz="50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08637" y="1989439"/>
            <a:ext cx="10143668" cy="4086216"/>
          </a:xfrm>
        </p:spPr>
        <p:txBody>
          <a:bodyPr anchor="ctr">
            <a:noAutofit/>
          </a:bodyPr>
          <a:lstStyle/>
          <a:p>
            <a:pPr eaLnBrk="1" hangingPunct="1">
              <a:buFont typeface="Arial" charset="0"/>
              <a:buChar char="•"/>
            </a:pPr>
            <a:r>
              <a:rPr lang="en-US" altLang="en-US" sz="3000" b="1" u="sng" dirty="0">
                <a:solidFill>
                  <a:srgbClr val="FF0000"/>
                </a:solidFill>
              </a:rPr>
              <a:t>Assignment statement</a:t>
            </a:r>
            <a:r>
              <a:rPr lang="en-US" altLang="en-US" sz="3000" b="1" dirty="0">
                <a:solidFill>
                  <a:srgbClr val="FF0000"/>
                </a:solidFill>
              </a:rPr>
              <a:t>: </a:t>
            </a:r>
            <a:r>
              <a:rPr lang="en-US" altLang="en-US" sz="3000" dirty="0"/>
              <a:t>used to assign a variable a value</a:t>
            </a:r>
          </a:p>
          <a:p>
            <a:pPr eaLnBrk="1" hangingPunct="1">
              <a:buFont typeface="Arial" charset="0"/>
              <a:buChar char="•"/>
            </a:pPr>
            <a:endParaRPr lang="en-US" altLang="en-US" sz="3000" dirty="0"/>
          </a:p>
          <a:p>
            <a:pPr marL="324000" lvl="1" indent="0" eaLnBrk="1" hangingPunct="1">
              <a:buNone/>
            </a:pPr>
            <a:r>
              <a:rPr lang="en-US" altLang="en-US" sz="3000" b="1" dirty="0">
                <a:solidFill>
                  <a:srgbClr val="FF0000"/>
                </a:solidFill>
              </a:rPr>
              <a:t>General format</a:t>
            </a:r>
            <a:r>
              <a:rPr lang="en-US" altLang="en-US" sz="3000" dirty="0">
                <a:solidFill>
                  <a:srgbClr val="FF0000"/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en-US" altLang="en-US" sz="3000" dirty="0">
                <a:solidFill>
                  <a:srgbClr val="FF0000"/>
                </a:solidFill>
              </a:rPr>
              <a:t>		 </a:t>
            </a:r>
            <a:r>
              <a:rPr lang="en-US" altLang="en-US" sz="3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variable = expression</a:t>
            </a:r>
            <a:endParaRPr lang="en-US" altLang="en-US" sz="3000" dirty="0"/>
          </a:p>
          <a:p>
            <a:pPr lvl="1" eaLnBrk="1" hangingPunct="1">
              <a:buFont typeface="Arial" charset="0"/>
              <a:buChar char="•"/>
            </a:pPr>
            <a:r>
              <a:rPr lang="en-US" altLang="en-US" sz="3000" dirty="0"/>
              <a:t>Example: </a:t>
            </a:r>
            <a:r>
              <a:rPr lang="en-US" altLang="en-US" sz="3000" b="1" dirty="0">
                <a:latin typeface="Courier New" charset="0"/>
                <a:ea typeface="Courier New" charset="0"/>
                <a:cs typeface="Courier New" charset="0"/>
              </a:rPr>
              <a:t>age = 29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sz="3000" b="1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buFont typeface="Arial" charset="0"/>
              <a:buChar char="•"/>
            </a:pPr>
            <a:r>
              <a:rPr lang="en-US" altLang="en-US" sz="3000" b="1" u="sng" dirty="0">
                <a:solidFill>
                  <a:srgbClr val="FF0000"/>
                </a:solidFill>
                <a:ea typeface="Courier New" charset="0"/>
                <a:cs typeface="Courier New" charset="0"/>
              </a:rPr>
              <a:t>Assignment operator</a:t>
            </a:r>
            <a:r>
              <a:rPr lang="en-US" altLang="en-US" sz="3000" dirty="0">
                <a:ea typeface="Courier New" charset="0"/>
                <a:cs typeface="Courier New" charset="0"/>
              </a:rPr>
              <a:t>: the equal sign (=)</a:t>
            </a:r>
            <a:endParaRPr lang="he-IL" altLang="en-US" sz="3000" dirty="0"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5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512570" y="380990"/>
            <a:ext cx="8610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500" dirty="0"/>
              <a:t>Variables must have a value</a:t>
            </a:r>
            <a:endParaRPr lang="he-IL" altLang="en-US" sz="4500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703070" y="2113684"/>
            <a:ext cx="11048206" cy="1905000"/>
          </a:xfrm>
        </p:spPr>
        <p:txBody>
          <a:bodyPr/>
          <a:lstStyle/>
          <a:p>
            <a:pPr lvl="5">
              <a:buFont typeface="Arial" charset="0"/>
              <a:buChar char="•"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sz="3000" dirty="0"/>
              <a:t>You can only use a variable if  it has a value assigned to it (</a:t>
            </a:r>
            <a:r>
              <a:rPr lang="en-US" altLang="en-US" sz="3000" dirty="0">
                <a:solidFill>
                  <a:srgbClr val="FF0000"/>
                </a:solidFill>
              </a:rPr>
              <a:t>Error otherwise)</a:t>
            </a:r>
            <a:endParaRPr lang="en-US" altLang="en-US" sz="3000" dirty="0"/>
          </a:p>
          <a:p>
            <a:pPr eaLnBrk="1" hangingPunct="1">
              <a:buFont typeface="Arial" charset="0"/>
              <a:buChar char="•"/>
            </a:pPr>
            <a:endParaRPr lang="he-IL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79033" y="4113018"/>
            <a:ext cx="1143000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  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47231" y="3594473"/>
            <a:ext cx="3744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No value stored in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762" y="4132444"/>
            <a:ext cx="1831207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temperature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271" y="3610731"/>
            <a:ext cx="2014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Variable Name</a:t>
            </a:r>
          </a:p>
        </p:txBody>
      </p:sp>
      <p:sp>
        <p:nvSpPr>
          <p:cNvPr id="8" name="Right Arrow 7"/>
          <p:cNvSpPr/>
          <p:nvPr/>
        </p:nvSpPr>
        <p:spPr bwMode="auto">
          <a:xfrm>
            <a:off x="5069969" y="4132444"/>
            <a:ext cx="909064" cy="461665"/>
          </a:xfrm>
          <a:prstGeom prst="rightArrow">
            <a:avLst>
              <a:gd name="adj1" fmla="val 19410"/>
              <a:gd name="adj2" fmla="val 500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59577" y="393443"/>
            <a:ext cx="9525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Variables can change values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71284" y="2621003"/>
            <a:ext cx="8382000" cy="1295400"/>
          </a:xfrm>
        </p:spPr>
        <p:txBody>
          <a:bodyPr/>
          <a:lstStyle/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68059" y="4205269"/>
            <a:ext cx="1242342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   32.5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22077" y="3508580"/>
            <a:ext cx="4329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Value 32.5 is no longer accessible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5092" y="4191000"/>
            <a:ext cx="1831207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temperature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0" y="3642191"/>
            <a:ext cx="1172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Variable</a:t>
            </a:r>
            <a:endParaRPr lang="en-US" sz="2400" dirty="0"/>
          </a:p>
        </p:txBody>
      </p:sp>
      <p:sp>
        <p:nvSpPr>
          <p:cNvPr id="6" name="Right Arrow 5"/>
          <p:cNvSpPr/>
          <p:nvPr/>
        </p:nvSpPr>
        <p:spPr bwMode="auto">
          <a:xfrm rot="1341110">
            <a:off x="4887289" y="4724712"/>
            <a:ext cx="877015" cy="329479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79630" y="4845328"/>
            <a:ext cx="1230771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/>
              <a:t>       70</a:t>
            </a:r>
            <a:endParaRPr lang="en-US" sz="2400" dirty="0"/>
          </a:p>
        </p:txBody>
      </p:sp>
      <p:cxnSp>
        <p:nvCxnSpPr>
          <p:cNvPr id="7" name="Straight Connector 6"/>
          <p:cNvCxnSpPr/>
          <p:nvPr/>
        </p:nvCxnSpPr>
        <p:spPr bwMode="auto">
          <a:xfrm flipV="1">
            <a:off x="5921375" y="4080081"/>
            <a:ext cx="838200" cy="56307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 flipH="1" flipV="1">
            <a:off x="6079463" y="4028766"/>
            <a:ext cx="651698" cy="71547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E34736-DC74-9D15-B720-A16462B78D62}"/>
              </a:ext>
            </a:extLst>
          </p:cNvPr>
          <p:cNvSpPr txBox="1"/>
          <p:nvPr/>
        </p:nvSpPr>
        <p:spPr>
          <a:xfrm>
            <a:off x="1432420" y="2354498"/>
            <a:ext cx="65006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000" dirty="0"/>
              <a:t> The value of a variable can be changed. </a:t>
            </a:r>
          </a:p>
        </p:txBody>
      </p:sp>
    </p:spTree>
    <p:extLst>
      <p:ext uri="{BB962C8B-B14F-4D97-AF65-F5344CB8AC3E}">
        <p14:creationId xmlns:p14="http://schemas.microsoft.com/office/powerpoint/2010/main" val="1351985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83741" y="42761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Variables can change type</a:t>
            </a:r>
            <a:endParaRPr lang="he-IL" altLang="en-US" sz="4400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108360" y="1599863"/>
            <a:ext cx="82296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3000" dirty="0"/>
              <a:t>Variables can change the type of data they refer to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eaLnBrk="1" hangingPunct="1">
              <a:buFont typeface="Arial" charset="0"/>
              <a:buChar char="•"/>
            </a:pPr>
            <a:endParaRPr lang="en-US" altLang="en-US" sz="2400" u="sng" dirty="0"/>
          </a:p>
          <a:p>
            <a:pPr eaLnBrk="1" hangingPunct="1">
              <a:buFont typeface="Arial" charset="0"/>
              <a:buChar char="•"/>
            </a:pPr>
            <a:endParaRPr lang="en-US" altLang="en-US" sz="2400" u="sng" dirty="0"/>
          </a:p>
          <a:p>
            <a:pPr marL="457200" lvl="1" indent="0">
              <a:buNone/>
            </a:pPr>
            <a:endParaRPr lang="he-IL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04005" y="3097786"/>
            <a:ext cx="6631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value changed</a:t>
            </a:r>
          </a:p>
          <a:p>
            <a:r>
              <a:rPr lang="en-US" sz="2400" dirty="0"/>
              <a:t>from integer value 70 to string </a:t>
            </a:r>
            <a:r>
              <a:rPr lang="mr-IN" sz="2400" dirty="0"/>
              <a:t>’</a:t>
            </a:r>
            <a:r>
              <a:rPr lang="en-US" sz="2400" dirty="0"/>
              <a:t>70 degrees F’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0075" y="4061023"/>
            <a:ext cx="2281006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temperature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4040" y="3339548"/>
            <a:ext cx="1460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Variable</a:t>
            </a:r>
          </a:p>
        </p:txBody>
      </p:sp>
      <p:sp>
        <p:nvSpPr>
          <p:cNvPr id="8" name="Right Arrow 7"/>
          <p:cNvSpPr/>
          <p:nvPr/>
        </p:nvSpPr>
        <p:spPr bwMode="auto">
          <a:xfrm rot="2064351">
            <a:off x="3948294" y="4739183"/>
            <a:ext cx="957629" cy="256896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26378" y="4031771"/>
            <a:ext cx="1228790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   70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2405" y="4783306"/>
            <a:ext cx="2645339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   </a:t>
            </a:r>
            <a:r>
              <a:rPr lang="mr-IN" sz="2400" dirty="0"/>
              <a:t>’</a:t>
            </a:r>
            <a:r>
              <a:rPr lang="en-US" sz="2400" dirty="0"/>
              <a:t>70 degrees F’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 bwMode="auto">
          <a:xfrm flipV="1">
            <a:off x="5599874" y="4034989"/>
            <a:ext cx="762000" cy="48769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09600" y="46416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400" dirty="0"/>
              <a:t>What is a data type ?</a:t>
            </a:r>
            <a:endParaRPr lang="he-IL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36605" y="2211860"/>
            <a:ext cx="5161006" cy="4004619"/>
          </a:xfrm>
        </p:spPr>
        <p:txBody>
          <a:bodyPr>
            <a:normAutofit/>
          </a:bodyPr>
          <a:lstStyle/>
          <a:p>
            <a:pPr lvl="1" eaLnBrk="1" hangingPunct="1">
              <a:buFont typeface="Arial" charset="0"/>
              <a:buChar char="•"/>
            </a:pPr>
            <a:r>
              <a:rPr lang="en-US" altLang="en-US" sz="2600" dirty="0">
                <a:solidFill>
                  <a:srgbClr val="FF0000"/>
                </a:solidFill>
              </a:rPr>
              <a:t>Integer</a:t>
            </a:r>
            <a:r>
              <a:rPr lang="en-US" altLang="en-US" sz="2600" dirty="0"/>
              <a:t>:  -3,4,6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>
                <a:solidFill>
                  <a:srgbClr val="FF0000"/>
                </a:solidFill>
              </a:rPr>
              <a:t>Float</a:t>
            </a:r>
            <a:r>
              <a:rPr lang="en-US" altLang="en-US" sz="2600" dirty="0"/>
              <a:t>:  4.35, 0.1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>
                <a:solidFill>
                  <a:srgbClr val="FF0000"/>
                </a:solidFill>
              </a:rPr>
              <a:t>String</a:t>
            </a:r>
            <a:r>
              <a:rPr lang="en-US" altLang="en-US" sz="2600" dirty="0"/>
              <a:t>  ‘c’, ‘0’, ‘‘-’’, ‘‘</a:t>
            </a:r>
            <a:r>
              <a:rPr lang="en-US" altLang="en-US" sz="2600" dirty="0" err="1"/>
              <a:t>abscd</a:t>
            </a:r>
            <a:r>
              <a:rPr lang="en-US" altLang="en-US" sz="2600" dirty="0"/>
              <a:t>’’ (either single, double or triple quotes)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>
                <a:solidFill>
                  <a:srgbClr val="FF0000"/>
                </a:solidFill>
              </a:rPr>
              <a:t>Boolean</a:t>
            </a:r>
            <a:r>
              <a:rPr lang="en-US" altLang="en-US" sz="2600" dirty="0"/>
              <a:t>: True, False</a:t>
            </a:r>
          </a:p>
          <a:p>
            <a:pPr lvl="2" eaLnBrk="1" hangingPunct="1">
              <a:buFont typeface="Arial" charset="0"/>
              <a:buChar char="•"/>
            </a:pP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  <a:p>
            <a:pPr eaLnBrk="1" hangingPunct="1">
              <a:buFont typeface="Arial" charset="0"/>
              <a:buChar char="•"/>
            </a:pPr>
            <a:endParaRPr lang="en-US" alt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441990" y="2352719"/>
            <a:ext cx="4308389" cy="2800767"/>
          </a:xfrm>
          <a:prstGeom prst="rect">
            <a:avLst/>
          </a:prstGeom>
          <a:ln w="3492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mr-IN" sz="2200" b="1" dirty="0" err="1">
                <a:latin typeface="AndaleMono" charset="0"/>
              </a:rPr>
              <a:t>In</a:t>
            </a:r>
            <a:r>
              <a:rPr lang="mr-IN" sz="2200" b="1" dirty="0">
                <a:latin typeface="AndaleMono" charset="0"/>
              </a:rPr>
              <a:t> [63]: </a:t>
            </a:r>
            <a:r>
              <a:rPr lang="mr-IN" sz="2200" b="1" dirty="0" err="1">
                <a:solidFill>
                  <a:srgbClr val="FF0000"/>
                </a:solidFill>
                <a:latin typeface="AndaleMono" charset="0"/>
              </a:rPr>
              <a:t>type</a:t>
            </a:r>
            <a:r>
              <a:rPr lang="mr-IN" sz="2200" b="1" dirty="0">
                <a:solidFill>
                  <a:srgbClr val="FF0000"/>
                </a:solidFill>
                <a:latin typeface="AndaleMono" charset="0"/>
              </a:rPr>
              <a:t>(6)</a:t>
            </a:r>
          </a:p>
          <a:p>
            <a:r>
              <a:rPr lang="pt-BR" sz="2200" b="1" dirty="0">
                <a:latin typeface="AndaleMono" charset="0"/>
              </a:rPr>
              <a:t>Out[63]: </a:t>
            </a:r>
            <a:r>
              <a:rPr lang="pt-BR" sz="2200" b="1" dirty="0" err="1">
                <a:latin typeface="AndaleMono" charset="0"/>
              </a:rPr>
              <a:t>int</a:t>
            </a:r>
            <a:endParaRPr lang="pt-BR" sz="2200" b="1" dirty="0">
              <a:latin typeface="AndaleMono" charset="0"/>
            </a:endParaRPr>
          </a:p>
          <a:p>
            <a:endParaRPr lang="pt-BR" sz="2200" b="1" dirty="0">
              <a:latin typeface="AndaleMono" charset="0"/>
            </a:endParaRPr>
          </a:p>
          <a:p>
            <a:r>
              <a:rPr lang="mr-IN" sz="2200" b="1" dirty="0" err="1">
                <a:latin typeface="AndaleMono" charset="0"/>
              </a:rPr>
              <a:t>In</a:t>
            </a:r>
            <a:r>
              <a:rPr lang="mr-IN" sz="2200" b="1" dirty="0">
                <a:latin typeface="AndaleMono" charset="0"/>
              </a:rPr>
              <a:t> [64]: </a:t>
            </a:r>
            <a:r>
              <a:rPr lang="mr-IN" sz="2200" b="1" dirty="0" err="1">
                <a:solidFill>
                  <a:srgbClr val="FF0000"/>
                </a:solidFill>
                <a:latin typeface="AndaleMono" charset="0"/>
              </a:rPr>
              <a:t>type</a:t>
            </a:r>
            <a:r>
              <a:rPr lang="mr-IN" sz="2200" b="1" dirty="0">
                <a:solidFill>
                  <a:srgbClr val="FF0000"/>
                </a:solidFill>
                <a:latin typeface="AndaleMono" charset="0"/>
              </a:rPr>
              <a:t>(</a:t>
            </a:r>
            <a:r>
              <a:rPr lang="en-US" sz="2200" b="1" dirty="0">
                <a:solidFill>
                  <a:srgbClr val="FF0000"/>
                </a:solidFill>
                <a:latin typeface="AndaleMono" charset="0"/>
              </a:rPr>
              <a:t>temperature</a:t>
            </a:r>
            <a:r>
              <a:rPr lang="mr-IN" sz="2200" b="1" dirty="0">
                <a:solidFill>
                  <a:srgbClr val="FF0000"/>
                </a:solidFill>
                <a:latin typeface="AndaleMono" charset="0"/>
              </a:rPr>
              <a:t>)</a:t>
            </a:r>
          </a:p>
          <a:p>
            <a:r>
              <a:rPr lang="en-US" sz="2200" b="1" dirty="0">
                <a:latin typeface="AndaleMono" charset="0"/>
              </a:rPr>
              <a:t>Out[64]: float</a:t>
            </a:r>
          </a:p>
          <a:p>
            <a:endParaRPr lang="en-US" sz="2200" b="1" dirty="0">
              <a:latin typeface="AndaleMono" charset="0"/>
            </a:endParaRPr>
          </a:p>
          <a:p>
            <a:r>
              <a:rPr lang="en-US" sz="2200" b="1" dirty="0">
                <a:latin typeface="AndaleMono" charset="0"/>
              </a:rPr>
              <a:t>In [94]:</a:t>
            </a:r>
            <a:r>
              <a:rPr lang="en-US" sz="2200" b="1" dirty="0">
                <a:solidFill>
                  <a:srgbClr val="FF0000"/>
                </a:solidFill>
                <a:latin typeface="AndaleMono" charset="0"/>
              </a:rPr>
              <a:t>type(True)</a:t>
            </a:r>
          </a:p>
          <a:p>
            <a:r>
              <a:rPr lang="mr-IN" sz="2200" b="1" dirty="0" err="1">
                <a:latin typeface="AndaleMono" charset="0"/>
              </a:rPr>
              <a:t>Out</a:t>
            </a:r>
            <a:r>
              <a:rPr lang="mr-IN" sz="2200" b="1" dirty="0">
                <a:latin typeface="AndaleMono" charset="0"/>
              </a:rPr>
              <a:t>[94]: </a:t>
            </a:r>
            <a:r>
              <a:rPr lang="en-US" sz="2200" b="1" dirty="0">
                <a:latin typeface="AndaleMono" charset="0"/>
              </a:rPr>
              <a:t> </a:t>
            </a:r>
            <a:r>
              <a:rPr lang="mr-IN" sz="2200" b="1" dirty="0" err="1">
                <a:latin typeface="AndaleMono" charset="0"/>
              </a:rPr>
              <a:t>bool</a:t>
            </a:r>
            <a:endParaRPr lang="en-US" sz="2200" b="1" dirty="0"/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9057502" y="5769817"/>
            <a:ext cx="2895600" cy="648206"/>
          </a:xfrm>
          <a:prstGeom prst="wedgeRoundRectCallout">
            <a:avLst>
              <a:gd name="adj1" fmla="val -61671"/>
              <a:gd name="adj2" fmla="val -20524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itchFamily="34" charset="0"/>
                <a:cs typeface="Arial" pitchFamily="34" charset="0"/>
              </a:rPr>
              <a:t>type function returns the type of a data or variable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147119" y="486407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How to name a variable</a:t>
            </a:r>
            <a:endParaRPr lang="he-IL" altLang="en-US" sz="4400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708453" y="1824681"/>
            <a:ext cx="11174627" cy="5465806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•"/>
            </a:pPr>
            <a:r>
              <a:rPr lang="en-US" altLang="en-US" sz="2600" b="1" dirty="0">
                <a:solidFill>
                  <a:srgbClr val="FF0000"/>
                </a:solidFill>
              </a:rPr>
              <a:t>Rules: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b="1" dirty="0"/>
              <a:t>First character must be a letter or an underscore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/>
              <a:t>After first character may use letters, digits, or underscores</a:t>
            </a:r>
            <a:endParaRPr lang="en-US" altLang="en-US" sz="2600" b="1" dirty="0"/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b="1" dirty="0"/>
              <a:t>No spaces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b="1" dirty="0"/>
              <a:t>Variable names are case sensitive (start with lower case letters)</a:t>
            </a:r>
            <a:endParaRPr lang="en-US" altLang="en-US" sz="2600" dirty="0"/>
          </a:p>
          <a:p>
            <a:pPr lvl="1" eaLnBrk="1" hangingPunct="1">
              <a:buFont typeface="Arial" charset="0"/>
              <a:buChar char="•"/>
            </a:pPr>
            <a:r>
              <a:rPr lang="en-US" altLang="en-US" sz="2600" dirty="0"/>
              <a:t>Not a Python keyword (word in Python language)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sz="2600" dirty="0"/>
          </a:p>
          <a:p>
            <a:pPr eaLnBrk="1" hangingPunct="1">
              <a:buFont typeface="Arial" charset="0"/>
              <a:buChar char="•"/>
            </a:pPr>
            <a:r>
              <a:rPr lang="en-US" altLang="en-US" sz="2600" b="1" dirty="0">
                <a:solidFill>
                  <a:srgbClr val="FF0000"/>
                </a:solidFill>
              </a:rPr>
              <a:t>Correct variable names: </a:t>
            </a:r>
            <a:r>
              <a:rPr lang="en-US" altLang="en-US" sz="2600" dirty="0"/>
              <a:t>amount, _size, </a:t>
            </a:r>
            <a:r>
              <a:rPr lang="en-US" altLang="en-US" sz="2600" dirty="0" err="1"/>
              <a:t>num_values</a:t>
            </a:r>
            <a:endParaRPr lang="en-US" altLang="en-US" sz="2600" dirty="0"/>
          </a:p>
          <a:p>
            <a:pPr eaLnBrk="1" hangingPunct="1">
              <a:buFont typeface="Arial" charset="0"/>
              <a:buChar char="•"/>
            </a:pPr>
            <a:r>
              <a:rPr lang="en-US" altLang="en-US" sz="2600" b="1" dirty="0">
                <a:solidFill>
                  <a:srgbClr val="FF0000"/>
                </a:solidFill>
              </a:rPr>
              <a:t>Incorrect variable names: </a:t>
            </a:r>
            <a:r>
              <a:rPr lang="en-US" altLang="en-US" sz="2600" dirty="0"/>
              <a:t>amount of water, size, amount$</a:t>
            </a:r>
          </a:p>
          <a:p>
            <a:pPr lvl="1" eaLnBrk="1" hangingPunct="1">
              <a:buFont typeface="Arial" charset="0"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531342" y="799071"/>
            <a:ext cx="11442356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400" dirty="0"/>
              <a:t>How to choose the name of a variable</a:t>
            </a:r>
            <a:endParaRPr lang="he-IL" altLang="en-US" sz="4400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24249" y="1942071"/>
            <a:ext cx="8229600" cy="1648596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Variable name =  purpose of its data: 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400" dirty="0"/>
              <a:t>Avoid </a:t>
            </a:r>
            <a:r>
              <a:rPr lang="en-US" altLang="en-US" sz="2400" dirty="0" err="1"/>
              <a:t>x,y,z</a:t>
            </a:r>
            <a:r>
              <a:rPr lang="en-US" altLang="en-US" sz="2400" dirty="0"/>
              <a:t> , use </a:t>
            </a:r>
            <a:r>
              <a:rPr lang="en-US" altLang="en-US" sz="2400" dirty="0" err="1"/>
              <a:t>nr_vowels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temp_Celsius</a:t>
            </a:r>
            <a:endParaRPr lang="en-US" altLang="en-US" sz="2400" dirty="0"/>
          </a:p>
          <a:p>
            <a:pPr lvl="5">
              <a:buFont typeface="Arial" charset="0"/>
              <a:buChar char="•"/>
            </a:pPr>
            <a:endParaRPr lang="en-US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C61F0-2E28-0D7E-A761-FA7D0D7920E4}"/>
              </a:ext>
            </a:extLst>
          </p:cNvPr>
          <p:cNvSpPr txBox="1"/>
          <p:nvPr/>
        </p:nvSpPr>
        <p:spPr>
          <a:xfrm>
            <a:off x="1040541" y="3429000"/>
            <a:ext cx="940091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itchFamily="2" charset="2"/>
              <a:buChar char="§"/>
            </a:pPr>
            <a:r>
              <a:rPr lang="en-US" altLang="en-US" sz="2400" b="1" dirty="0"/>
              <a:t>Data</a:t>
            </a:r>
            <a:r>
              <a:rPr lang="en-US" altLang="en-US" sz="2400" dirty="0"/>
              <a:t>: number of times a vowel appears in a text</a:t>
            </a:r>
          </a:p>
          <a:p>
            <a:pPr marL="342900" indent="-342900" eaLnBrk="1" hangingPunct="1">
              <a:buFont typeface="Wingdings" pitchFamily="2" charset="2"/>
              <a:buChar char="§"/>
            </a:pPr>
            <a:r>
              <a:rPr lang="en-US" altLang="en-US" sz="2400" b="1" dirty="0"/>
              <a:t>Good</a:t>
            </a:r>
            <a:r>
              <a:rPr lang="en-US" altLang="en-US" sz="2400" dirty="0"/>
              <a:t> variable names:</a:t>
            </a:r>
          </a:p>
          <a:p>
            <a:pPr marL="2628900" lvl="5" indent="-342900">
              <a:buFont typeface="Wingdings" pitchFamily="2" charset="2"/>
              <a:buChar char="§"/>
            </a:pPr>
            <a:endParaRPr lang="en-US" altLang="en-US" sz="2000" dirty="0"/>
          </a:p>
          <a:p>
            <a:pPr marL="342900" indent="-342900">
              <a:buFont typeface="Wingdings" pitchFamily="2" charset="2"/>
              <a:buChar char="§"/>
            </a:pPr>
            <a:r>
              <a:rPr lang="en-US" altLang="en-US" sz="2400" b="1" dirty="0"/>
              <a:t>Data</a:t>
            </a:r>
            <a:r>
              <a:rPr lang="en-US" altLang="en-US" sz="2400" dirty="0"/>
              <a:t>: is the input value valid.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en-US" sz="2400" b="1" dirty="0"/>
              <a:t>Good</a:t>
            </a:r>
            <a:r>
              <a:rPr lang="en-US" altLang="en-US" sz="2400" dirty="0"/>
              <a:t> variable names:</a:t>
            </a:r>
          </a:p>
          <a:p>
            <a:pPr marL="2571750" lvl="5" indent="-285750">
              <a:buFont typeface="Wingdings" pitchFamily="2" charset="2"/>
              <a:buChar char="§"/>
            </a:pPr>
            <a:endParaRPr lang="en-US" altLang="en-US" sz="1800" dirty="0"/>
          </a:p>
          <a:p>
            <a:pPr marL="342900" indent="-342900">
              <a:buFont typeface="Wingdings" pitchFamily="2" charset="2"/>
              <a:buChar char="§"/>
            </a:pPr>
            <a:r>
              <a:rPr lang="en-US" altLang="en-US" sz="2400" b="1" dirty="0"/>
              <a:t>Data</a:t>
            </a:r>
            <a:r>
              <a:rPr lang="en-US" altLang="en-US" sz="2400" dirty="0"/>
              <a:t>: someone’s minimum age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altLang="en-US" sz="2400" b="1" dirty="0"/>
              <a:t>Good</a:t>
            </a:r>
            <a:r>
              <a:rPr lang="en-US" altLang="en-US" sz="2400" dirty="0"/>
              <a:t> variable names:</a:t>
            </a:r>
          </a:p>
        </p:txBody>
      </p:sp>
    </p:spTree>
    <p:extLst>
      <p:ext uri="{BB962C8B-B14F-4D97-AF65-F5344CB8AC3E}">
        <p14:creationId xmlns:p14="http://schemas.microsoft.com/office/powerpoint/2010/main" val="23805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568" y="447932"/>
            <a:ext cx="8686800" cy="1143000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What is binary?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22573" y="3062416"/>
            <a:ext cx="228600" cy="369332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51173" y="3062416"/>
            <a:ext cx="2286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679773" y="3062416"/>
            <a:ext cx="2286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908373" y="3062416"/>
            <a:ext cx="2286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136973" y="3062416"/>
            <a:ext cx="2286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900" y="3062416"/>
            <a:ext cx="2286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601381" y="3062416"/>
            <a:ext cx="2286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825862" y="3062416"/>
            <a:ext cx="2286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414584" y="2831584"/>
            <a:ext cx="22461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Byte  = 8 bits</a:t>
            </a:r>
          </a:p>
          <a:p>
            <a:r>
              <a:rPr lang="en-US" sz="2400" dirty="0"/>
              <a:t>    (B)          (b) </a:t>
            </a:r>
          </a:p>
        </p:txBody>
      </p:sp>
      <p:sp>
        <p:nvSpPr>
          <p:cNvPr id="15" name="Oval Callout 14"/>
          <p:cNvSpPr/>
          <p:nvPr/>
        </p:nvSpPr>
        <p:spPr bwMode="auto">
          <a:xfrm>
            <a:off x="6348200" y="1919416"/>
            <a:ext cx="2057400" cy="990600"/>
          </a:xfrm>
          <a:prstGeom prst="wedgeEllipseCallout">
            <a:avLst>
              <a:gd name="adj1" fmla="val -52493"/>
              <a:gd name="adj2" fmla="val 625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 bit = either 0 or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3261" y="4381500"/>
            <a:ext cx="79186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 KB  = 1 Kilo Byte     = 2</a:t>
            </a:r>
            <a:r>
              <a:rPr lang="en-US" sz="2400" baseline="30000" dirty="0"/>
              <a:t>10</a:t>
            </a:r>
            <a:r>
              <a:rPr lang="en-US" sz="2400" dirty="0"/>
              <a:t> Bytes  = 1024 bytes</a:t>
            </a:r>
          </a:p>
          <a:p>
            <a:r>
              <a:rPr lang="en-US" sz="2400" dirty="0"/>
              <a:t>1 MB =  1 Mega Byte = 2</a:t>
            </a:r>
            <a:r>
              <a:rPr lang="en-US" sz="2400" baseline="30000" dirty="0"/>
              <a:t>20</a:t>
            </a:r>
            <a:r>
              <a:rPr lang="en-US" sz="2400" dirty="0"/>
              <a:t> Bytes  =  1024 kilo bytes</a:t>
            </a:r>
          </a:p>
          <a:p>
            <a:r>
              <a:rPr lang="en-US" sz="2400" dirty="0"/>
              <a:t>1 GB  = 1 Giga Byte   = 2</a:t>
            </a:r>
            <a:r>
              <a:rPr lang="en-US" sz="2400" baseline="30000" dirty="0"/>
              <a:t>30</a:t>
            </a:r>
            <a:r>
              <a:rPr lang="en-US" sz="2400" dirty="0"/>
              <a:t> Bytes  =  1,024 mega bytes</a:t>
            </a:r>
          </a:p>
          <a:p>
            <a:r>
              <a:rPr lang="en-US" sz="2400" dirty="0"/>
              <a:t>1 TB   = 1 Tera Byte   = 2</a:t>
            </a:r>
            <a:r>
              <a:rPr lang="en-US" sz="2400" baseline="30000" dirty="0"/>
              <a:t>40</a:t>
            </a:r>
            <a:r>
              <a:rPr lang="en-US" sz="2400" dirty="0"/>
              <a:t> Bytes   =  1,024 </a:t>
            </a:r>
            <a:r>
              <a:rPr lang="en-US" sz="2400" dirty="0" err="1"/>
              <a:t>giga</a:t>
            </a:r>
            <a:r>
              <a:rPr lang="en-US" sz="2400" dirty="0"/>
              <a:t> bytes</a:t>
            </a:r>
          </a:p>
          <a:p>
            <a:r>
              <a:rPr lang="en-US" sz="2400" dirty="0"/>
              <a:t>1 PB   = 1 Peta Byte   = 2</a:t>
            </a:r>
            <a:r>
              <a:rPr lang="en-US" sz="2400" baseline="30000" dirty="0"/>
              <a:t>50</a:t>
            </a:r>
            <a:r>
              <a:rPr lang="en-US" sz="2400" dirty="0"/>
              <a:t> Bytes   = 1,024 </a:t>
            </a:r>
            <a:r>
              <a:rPr lang="en-US" sz="2400" dirty="0" err="1"/>
              <a:t>tera</a:t>
            </a:r>
            <a:r>
              <a:rPr lang="en-US" sz="2400" dirty="0"/>
              <a:t> bytes</a:t>
            </a:r>
          </a:p>
        </p:txBody>
      </p:sp>
    </p:spTree>
    <p:extLst>
      <p:ext uri="{BB962C8B-B14F-4D97-AF65-F5344CB8AC3E}">
        <p14:creationId xmlns:p14="http://schemas.microsoft.com/office/powerpoint/2010/main" val="170739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494" y="553771"/>
            <a:ext cx="8686800" cy="1143000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All Data is stored in binary </a:t>
            </a:r>
          </a:p>
        </p:txBody>
      </p:sp>
      <p:sp>
        <p:nvSpPr>
          <p:cNvPr id="4" name="Rectangle 3"/>
          <p:cNvSpPr/>
          <p:nvPr/>
        </p:nvSpPr>
        <p:spPr>
          <a:xfrm>
            <a:off x="937052" y="2289893"/>
            <a:ext cx="10628871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000" b="1" dirty="0" err="1">
                <a:latin typeface="Courier New" charset="0"/>
                <a:ea typeface="Courier New" charset="0"/>
                <a:cs typeface="Courier New" charset="0"/>
              </a:rPr>
              <a:t>Integer</a:t>
            </a:r>
            <a:r>
              <a:rPr lang="pt-BR" sz="3000" b="1" dirty="0">
                <a:latin typeface="Courier New" charset="0"/>
                <a:ea typeface="Courier New" charset="0"/>
                <a:cs typeface="Courier New" charset="0"/>
              </a:rPr>
              <a:t> 6:   0000000000000000000000000000</a:t>
            </a:r>
            <a:r>
              <a:rPr lang="pt-BR" sz="3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0110</a:t>
            </a:r>
          </a:p>
          <a:p>
            <a:endParaRPr lang="pt-BR" sz="3000" b="1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s-IS" sz="3000" b="1" dirty="0">
                <a:latin typeface="Courier New" charset="0"/>
                <a:ea typeface="Courier New" charset="0"/>
                <a:cs typeface="Courier New" charset="0"/>
              </a:rPr>
              <a:t>Float   6.0: </a:t>
            </a:r>
            <a:r>
              <a:rPr lang="is-IS" sz="3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01000000110</a:t>
            </a:r>
            <a:r>
              <a:rPr lang="is-IS" sz="3000" b="1" dirty="0">
                <a:latin typeface="Courier New" charset="0"/>
                <a:ea typeface="Courier New" charset="0"/>
                <a:cs typeface="Courier New" charset="0"/>
              </a:rPr>
              <a:t>000000000000000000000</a:t>
            </a:r>
          </a:p>
          <a:p>
            <a:endParaRPr lang="is-IS" sz="3000" b="1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3000" b="1" dirty="0">
                <a:latin typeface="Courier New" charset="0"/>
                <a:ea typeface="Courier New" charset="0"/>
                <a:cs typeface="Courier New" charset="0"/>
              </a:rPr>
              <a:t>Boolean True:  </a:t>
            </a:r>
            <a:r>
              <a:rPr lang="mr-IN" sz="3000" b="1" dirty="0">
                <a:latin typeface="Courier New" charset="0"/>
                <a:ea typeface="Courier New" charset="0"/>
                <a:cs typeface="Courier New" charset="0"/>
              </a:rPr>
              <a:t>'00000001’</a:t>
            </a:r>
            <a:endParaRPr lang="en-US" sz="3000" b="1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3000" b="1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3000" b="1" dirty="0">
                <a:latin typeface="Courier New" charset="0"/>
                <a:ea typeface="Courier New" charset="0"/>
                <a:cs typeface="Courier New" charset="0"/>
              </a:rPr>
              <a:t>Boolean False: ’00000000’</a:t>
            </a:r>
            <a:endParaRPr lang="is-IS" sz="3000" b="1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is-IS" sz="2200" b="1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914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54" y="58900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54" y="1743032"/>
            <a:ext cx="92202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Strings contain characters.</a:t>
            </a:r>
          </a:p>
          <a:p>
            <a:r>
              <a:rPr lang="en-US" sz="2400" dirty="0"/>
              <a:t>Characters are represented as a binary code (or number) </a:t>
            </a:r>
          </a:p>
          <a:p>
            <a:endParaRPr lang="en-US" sz="2400" dirty="0"/>
          </a:p>
          <a:p>
            <a:r>
              <a:rPr lang="en-US" sz="2400" dirty="0"/>
              <a:t> Types of character encodings:</a:t>
            </a:r>
          </a:p>
          <a:p>
            <a:pPr lvl="1"/>
            <a:r>
              <a:rPr lang="en-US" sz="2400" b="1" dirty="0"/>
              <a:t>ASCII</a:t>
            </a:r>
            <a:r>
              <a:rPr lang="en-US" sz="2400" dirty="0"/>
              <a:t>		8 bits per character  </a:t>
            </a:r>
          </a:p>
          <a:p>
            <a:pPr lvl="1"/>
            <a:r>
              <a:rPr lang="en-US" sz="2400" b="1" dirty="0"/>
              <a:t>UNICODE</a:t>
            </a:r>
            <a:r>
              <a:rPr lang="en-US" sz="2400" dirty="0"/>
              <a:t>    initially 16 bits per character, now  24 bits</a:t>
            </a:r>
          </a:p>
          <a:p>
            <a:pPr lvl="1"/>
            <a:r>
              <a:rPr lang="en-US" sz="2400" b="1" dirty="0"/>
              <a:t>UTF</a:t>
            </a:r>
            <a:r>
              <a:rPr lang="en-US" sz="2400" dirty="0"/>
              <a:t>           =  Unicode Transformation Format, variable size</a:t>
            </a:r>
          </a:p>
        </p:txBody>
      </p:sp>
    </p:spTree>
    <p:extLst>
      <p:ext uri="{BB962C8B-B14F-4D97-AF65-F5344CB8AC3E}">
        <p14:creationId xmlns:p14="http://schemas.microsoft.com/office/powerpoint/2010/main" val="1605482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altLang="en-US" sz="5400"/>
              <a:t>Data and variables</a:t>
            </a:r>
            <a:endParaRPr lang="he-IL" altLang="en-US" sz="540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85567"/>
            <a:ext cx="10143668" cy="448550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is a program?</a:t>
            </a:r>
          </a:p>
          <a:p>
            <a:pPr eaLnBrk="1" hangingPunct="1"/>
            <a:r>
              <a:rPr lang="en-US" altLang="en-US" sz="2600" dirty="0"/>
              <a:t>What is a variable?</a:t>
            </a:r>
          </a:p>
          <a:p>
            <a:pPr eaLnBrk="1" hangingPunct="1"/>
            <a:r>
              <a:rPr lang="en-US" altLang="en-US" sz="2600" dirty="0"/>
              <a:t>What is an assignment statement?</a:t>
            </a:r>
          </a:p>
          <a:p>
            <a:pPr eaLnBrk="1" hangingPunct="1"/>
            <a:r>
              <a:rPr lang="en-US" altLang="en-US" sz="2600" dirty="0"/>
              <a:t>What is a data type?</a:t>
            </a:r>
          </a:p>
          <a:p>
            <a:pPr eaLnBrk="1" hangingPunct="1"/>
            <a:r>
              <a:rPr lang="en-US" altLang="en-US" sz="2600" dirty="0"/>
              <a:t>How to name a variable?</a:t>
            </a:r>
          </a:p>
          <a:p>
            <a:pPr eaLnBrk="1" hangingPunct="1"/>
            <a:r>
              <a:rPr lang="en-US" altLang="en-US" sz="2600" dirty="0"/>
              <a:t>How to choose the name of a variable</a:t>
            </a:r>
            <a:r>
              <a:rPr lang="en-US" altLang="en-US" sz="2400" dirty="0"/>
              <a:t>?</a:t>
            </a:r>
          </a:p>
          <a:p>
            <a:pPr eaLnBrk="1" hangingPunct="1"/>
            <a:r>
              <a:rPr lang="en-US" altLang="en-US" sz="2400" dirty="0"/>
              <a:t>What is binary? </a:t>
            </a:r>
          </a:p>
        </p:txBody>
      </p:sp>
    </p:spTree>
    <p:extLst>
      <p:ext uri="{BB962C8B-B14F-4D97-AF65-F5344CB8AC3E}">
        <p14:creationId xmlns:p14="http://schemas.microsoft.com/office/powerpoint/2010/main" val="233521100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57</TotalTime>
  <Words>693</Words>
  <Application>Microsoft Macintosh PowerPoint</Application>
  <PresentationFormat>Widescreen</PresentationFormat>
  <Paragraphs>134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AndaleMono</vt:lpstr>
      <vt:lpstr>Aptos</vt:lpstr>
      <vt:lpstr>Arial</vt:lpstr>
      <vt:lpstr>Courier New</vt:lpstr>
      <vt:lpstr>Gill Sans MT</vt:lpstr>
      <vt:lpstr>Wingdings</vt:lpstr>
      <vt:lpstr>Wingdings 2</vt:lpstr>
      <vt:lpstr>Dividend</vt:lpstr>
      <vt:lpstr>Data and variables</vt:lpstr>
      <vt:lpstr>Data and variables</vt:lpstr>
      <vt:lpstr>What is a program?</vt:lpstr>
      <vt:lpstr>What is a variable?</vt:lpstr>
      <vt:lpstr>What is an assignment statement?</vt:lpstr>
      <vt:lpstr>Variables must have a value</vt:lpstr>
      <vt:lpstr>Variables can change values</vt:lpstr>
      <vt:lpstr>Variables can change type</vt:lpstr>
      <vt:lpstr>What is a data type ?</vt:lpstr>
      <vt:lpstr>How to name a variable</vt:lpstr>
      <vt:lpstr>How to choose the name of a variable</vt:lpstr>
      <vt:lpstr>What is binary?</vt:lpstr>
      <vt:lpstr>All Data is stored in binary </vt:lpstr>
      <vt:lpstr>Strings</vt:lpstr>
      <vt:lpstr>Data and variables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 Doboli</dc:creator>
  <cp:lastModifiedBy>Simona Doboli</cp:lastModifiedBy>
  <cp:revision>5</cp:revision>
  <dcterms:created xsi:type="dcterms:W3CDTF">2025-08-27T16:38:40Z</dcterms:created>
  <dcterms:modified xsi:type="dcterms:W3CDTF">2025-09-02T15:56:06Z</dcterms:modified>
</cp:coreProperties>
</file>